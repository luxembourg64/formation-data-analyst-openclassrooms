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43702F-11B4-43C0-B4B7-64153A863485}" v="254" dt="2025-04-16T13:48:37.970"/>
  </p1510:revLst>
</p1510:revInfo>
</file>

<file path=ppt/tableStyles.xml><?xml version="1.0" encoding="utf-8"?>
<a:tblStyleLst xmlns:a="http://schemas.openxmlformats.org/drawingml/2006/main" def="{5C22544A-7EE6-4342-B048-85BDC9FD1C3A}">
  <a:tblStyle styleId="{C083E6E3-FA7D-4D7B-A595-EF9225AFEA82}" styleName="Style léger 1 - Accentuation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68D230F3-CF80-4859-8CE7-A43EE81993B5}" styleName="Style léger 1 - Accentuation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60" autoAdjust="0"/>
    <p:restoredTop sz="93034" autoAdjust="0"/>
  </p:normalViewPr>
  <p:slideViewPr>
    <p:cSldViewPr snapToGrid="0" snapToObjects="1">
      <p:cViewPr varScale="1">
        <p:scale>
          <a:sx n="69" d="100"/>
          <a:sy n="69" d="100"/>
        </p:scale>
        <p:origin x="1752" y="28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urent Maganto" userId="5985c0986e4239b5" providerId="LiveId" clId="{3E43702F-11B4-43C0-B4B7-64153A863485}"/>
    <pc:docChg chg="undo custSel addSld delSld modSld">
      <pc:chgData name="Laurent Maganto" userId="5985c0986e4239b5" providerId="LiveId" clId="{3E43702F-11B4-43C0-B4B7-64153A863485}" dt="2025-04-17T07:10:06.228" v="2013" actId="20577"/>
      <pc:docMkLst>
        <pc:docMk/>
      </pc:docMkLst>
      <pc:sldChg chg="addSp delSp modSp mod modNotesTx">
        <pc:chgData name="Laurent Maganto" userId="5985c0986e4239b5" providerId="LiveId" clId="{3E43702F-11B4-43C0-B4B7-64153A863485}" dt="2025-04-17T07:10:06.228" v="2013" actId="20577"/>
        <pc:sldMkLst>
          <pc:docMk/>
          <pc:sldMk cId="0" sldId="256"/>
        </pc:sldMkLst>
        <pc:spChg chg="mod">
          <ac:chgData name="Laurent Maganto" userId="5985c0986e4239b5" providerId="LiveId" clId="{3E43702F-11B4-43C0-B4B7-64153A863485}" dt="2025-04-11T10:17:17.763" v="88" actId="12789"/>
          <ac:spMkLst>
            <pc:docMk/>
            <pc:sldMk cId="0" sldId="256"/>
            <ac:spMk id="2" creationId="{00000000-0000-0000-0000-000000000000}"/>
          </ac:spMkLst>
        </pc:spChg>
        <pc:spChg chg="mod">
          <ac:chgData name="Laurent Maganto" userId="5985c0986e4239b5" providerId="LiveId" clId="{3E43702F-11B4-43C0-B4B7-64153A863485}" dt="2025-04-11T14:29:32.357" v="1663" actId="255"/>
          <ac:spMkLst>
            <pc:docMk/>
            <pc:sldMk cId="0" sldId="256"/>
            <ac:spMk id="4" creationId="{00000000-0000-0000-0000-000000000000}"/>
          </ac:spMkLst>
        </pc:spChg>
        <pc:spChg chg="mod">
          <ac:chgData name="Laurent Maganto" userId="5985c0986e4239b5" providerId="LiveId" clId="{3E43702F-11B4-43C0-B4B7-64153A863485}" dt="2025-04-17T07:10:06.228" v="2013" actId="20577"/>
          <ac:spMkLst>
            <pc:docMk/>
            <pc:sldMk cId="0" sldId="256"/>
            <ac:spMk id="5" creationId="{00000000-0000-0000-0000-000000000000}"/>
          </ac:spMkLst>
        </pc:spChg>
        <pc:spChg chg="add mod">
          <ac:chgData name="Laurent Maganto" userId="5985c0986e4239b5" providerId="LiveId" clId="{3E43702F-11B4-43C0-B4B7-64153A863485}" dt="2025-04-11T10:18:24.109" v="132" actId="1036"/>
          <ac:spMkLst>
            <pc:docMk/>
            <pc:sldMk cId="0" sldId="256"/>
            <ac:spMk id="8" creationId="{2248044C-7072-6602-C4D7-9F6228AAA020}"/>
          </ac:spMkLst>
        </pc:spChg>
        <pc:picChg chg="mod ord">
          <ac:chgData name="Laurent Maganto" userId="5985c0986e4239b5" providerId="LiveId" clId="{3E43702F-11B4-43C0-B4B7-64153A863485}" dt="2025-04-11T10:11:29.330" v="56" actId="167"/>
          <ac:picMkLst>
            <pc:docMk/>
            <pc:sldMk cId="0" sldId="256"/>
            <ac:picMk id="6" creationId="{00000000-0000-0000-0000-000000000000}"/>
          </ac:picMkLst>
        </pc:picChg>
      </pc:sldChg>
      <pc:sldChg chg="addSp delSp modSp mod modNotesTx">
        <pc:chgData name="Laurent Maganto" userId="5985c0986e4239b5" providerId="LiveId" clId="{3E43702F-11B4-43C0-B4B7-64153A863485}" dt="2025-04-16T13:25:21.214" v="1999" actId="179"/>
        <pc:sldMkLst>
          <pc:docMk/>
          <pc:sldMk cId="0" sldId="257"/>
        </pc:sldMkLst>
        <pc:spChg chg="add mod">
          <ac:chgData name="Laurent Maganto" userId="5985c0986e4239b5" providerId="LiveId" clId="{3E43702F-11B4-43C0-B4B7-64153A863485}" dt="2025-04-16T13:25:21.214" v="1999" actId="179"/>
          <ac:spMkLst>
            <pc:docMk/>
            <pc:sldMk cId="0" sldId="257"/>
            <ac:spMk id="6" creationId="{B9B71503-FF50-3AC1-86BA-DEB35262683A}"/>
          </ac:spMkLst>
        </pc:spChg>
        <pc:picChg chg="add mod">
          <ac:chgData name="Laurent Maganto" userId="5985c0986e4239b5" providerId="LiveId" clId="{3E43702F-11B4-43C0-B4B7-64153A863485}" dt="2025-04-11T10:40:51.345" v="365" actId="1076"/>
          <ac:picMkLst>
            <pc:docMk/>
            <pc:sldMk cId="0" sldId="257"/>
            <ac:picMk id="9" creationId="{3EB872D6-ECB2-F8E4-1092-EAA453D0C624}"/>
          </ac:picMkLst>
        </pc:picChg>
      </pc:sldChg>
      <pc:sldChg chg="addSp delSp modSp mod modNotesTx">
        <pc:chgData name="Laurent Maganto" userId="5985c0986e4239b5" providerId="LiveId" clId="{3E43702F-11B4-43C0-B4B7-64153A863485}" dt="2025-04-11T14:30:30.053" v="1701" actId="1036"/>
        <pc:sldMkLst>
          <pc:docMk/>
          <pc:sldMk cId="0" sldId="258"/>
        </pc:sldMkLst>
        <pc:spChg chg="mod">
          <ac:chgData name="Laurent Maganto" userId="5985c0986e4239b5" providerId="LiveId" clId="{3E43702F-11B4-43C0-B4B7-64153A863485}" dt="2025-04-11T10:45:21.415" v="431" actId="20577"/>
          <ac:spMkLst>
            <pc:docMk/>
            <pc:sldMk cId="0" sldId="258"/>
            <ac:spMk id="2" creationId="{00000000-0000-0000-0000-000000000000}"/>
          </ac:spMkLst>
        </pc:spChg>
        <pc:spChg chg="add mod">
          <ac:chgData name="Laurent Maganto" userId="5985c0986e4239b5" providerId="LiveId" clId="{3E43702F-11B4-43C0-B4B7-64153A863485}" dt="2025-04-11T14:30:27.510" v="1698" actId="1035"/>
          <ac:spMkLst>
            <pc:docMk/>
            <pc:sldMk cId="0" sldId="258"/>
            <ac:spMk id="9" creationId="{7C50EDBB-DFB6-FE97-3538-6F8C8C0C327B}"/>
          </ac:spMkLst>
        </pc:spChg>
        <pc:spChg chg="add mod">
          <ac:chgData name="Laurent Maganto" userId="5985c0986e4239b5" providerId="LiveId" clId="{3E43702F-11B4-43C0-B4B7-64153A863485}" dt="2025-04-11T14:30:30.053" v="1701" actId="1036"/>
          <ac:spMkLst>
            <pc:docMk/>
            <pc:sldMk cId="0" sldId="258"/>
            <ac:spMk id="10" creationId="{BE7660F9-BEA9-B052-F7A6-F7222175CC16}"/>
          </ac:spMkLst>
        </pc:spChg>
        <pc:graphicFrameChg chg="add mod modGraphic">
          <ac:chgData name="Laurent Maganto" userId="5985c0986e4239b5" providerId="LiveId" clId="{3E43702F-11B4-43C0-B4B7-64153A863485}" dt="2025-04-11T10:55:15.994" v="538" actId="12385"/>
          <ac:graphicFrameMkLst>
            <pc:docMk/>
            <pc:sldMk cId="0" sldId="258"/>
            <ac:graphicFrameMk id="5" creationId="{5078F76D-7655-2216-8211-822D083A398E}"/>
          </ac:graphicFrameMkLst>
        </pc:graphicFrameChg>
        <pc:graphicFrameChg chg="add mod modGraphic">
          <ac:chgData name="Laurent Maganto" userId="5985c0986e4239b5" providerId="LiveId" clId="{3E43702F-11B4-43C0-B4B7-64153A863485}" dt="2025-04-11T14:30:20.966" v="1680" actId="1036"/>
          <ac:graphicFrameMkLst>
            <pc:docMk/>
            <pc:sldMk cId="0" sldId="258"/>
            <ac:graphicFrameMk id="13" creationId="{CB2D2E11-FCD4-D3F9-DD6B-12E2841C98B6}"/>
          </ac:graphicFrameMkLst>
        </pc:graphicFrameChg>
      </pc:sldChg>
      <pc:sldChg chg="addSp delSp modSp mod modNotesTx">
        <pc:chgData name="Laurent Maganto" userId="5985c0986e4239b5" providerId="LiveId" clId="{3E43702F-11B4-43C0-B4B7-64153A863485}" dt="2025-04-11T12:24:01.796" v="592" actId="478"/>
        <pc:sldMkLst>
          <pc:docMk/>
          <pc:sldMk cId="0" sldId="259"/>
        </pc:sldMkLst>
        <pc:spChg chg="add mod">
          <ac:chgData name="Laurent Maganto" userId="5985c0986e4239b5" providerId="LiveId" clId="{3E43702F-11B4-43C0-B4B7-64153A863485}" dt="2025-04-11T12:23:57.388" v="591" actId="179"/>
          <ac:spMkLst>
            <pc:docMk/>
            <pc:sldMk cId="0" sldId="259"/>
            <ac:spMk id="5" creationId="{83F75F76-49B5-352C-8D02-15D11485A41D}"/>
          </ac:spMkLst>
        </pc:spChg>
        <pc:spChg chg="add mod">
          <ac:chgData name="Laurent Maganto" userId="5985c0986e4239b5" providerId="LiveId" clId="{3E43702F-11B4-43C0-B4B7-64153A863485}" dt="2025-04-11T12:23:40.097" v="583" actId="255"/>
          <ac:spMkLst>
            <pc:docMk/>
            <pc:sldMk cId="0" sldId="259"/>
            <ac:spMk id="7" creationId="{F587F07E-3BFB-9833-2E3E-32118EA2AB05}"/>
          </ac:spMkLst>
        </pc:spChg>
      </pc:sldChg>
      <pc:sldChg chg="addSp delSp modSp mod modNotesTx">
        <pc:chgData name="Laurent Maganto" userId="5985c0986e4239b5" providerId="LiveId" clId="{3E43702F-11B4-43C0-B4B7-64153A863485}" dt="2025-04-11T13:20:08.035" v="867" actId="20577"/>
        <pc:sldMkLst>
          <pc:docMk/>
          <pc:sldMk cId="0" sldId="260"/>
        </pc:sldMkLst>
        <pc:spChg chg="add mod">
          <ac:chgData name="Laurent Maganto" userId="5985c0986e4239b5" providerId="LiveId" clId="{3E43702F-11B4-43C0-B4B7-64153A863485}" dt="2025-04-11T12:53:50.792" v="647" actId="14100"/>
          <ac:spMkLst>
            <pc:docMk/>
            <pc:sldMk cId="0" sldId="260"/>
            <ac:spMk id="5" creationId="{2D92A5F3-5994-CE31-38DE-5923A583955A}"/>
          </ac:spMkLst>
        </pc:spChg>
        <pc:spChg chg="add mod">
          <ac:chgData name="Laurent Maganto" userId="5985c0986e4239b5" providerId="LiveId" clId="{3E43702F-11B4-43C0-B4B7-64153A863485}" dt="2025-04-11T13:18:12.903" v="801" actId="6549"/>
          <ac:spMkLst>
            <pc:docMk/>
            <pc:sldMk cId="0" sldId="260"/>
            <ac:spMk id="11" creationId="{D4271F1C-CF42-A92E-8CB0-4F8309612038}"/>
          </ac:spMkLst>
        </pc:spChg>
        <pc:picChg chg="add mod">
          <ac:chgData name="Laurent Maganto" userId="5985c0986e4239b5" providerId="LiveId" clId="{3E43702F-11B4-43C0-B4B7-64153A863485}" dt="2025-04-11T13:09:32.246" v="740" actId="1076"/>
          <ac:picMkLst>
            <pc:docMk/>
            <pc:sldMk cId="0" sldId="260"/>
            <ac:picMk id="8" creationId="{5316DF17-E04A-BB86-3B2D-772EEF448129}"/>
          </ac:picMkLst>
        </pc:picChg>
      </pc:sldChg>
      <pc:sldChg chg="addSp delSp modSp mod modNotesTx">
        <pc:chgData name="Laurent Maganto" userId="5985c0986e4239b5" providerId="LiveId" clId="{3E43702F-11B4-43C0-B4B7-64153A863485}" dt="2025-04-15T12:40:37.323" v="1895" actId="1076"/>
        <pc:sldMkLst>
          <pc:docMk/>
          <pc:sldMk cId="0" sldId="261"/>
        </pc:sldMkLst>
        <pc:spChg chg="mod">
          <ac:chgData name="Laurent Maganto" userId="5985c0986e4239b5" providerId="LiveId" clId="{3E43702F-11B4-43C0-B4B7-64153A863485}" dt="2025-04-11T12:35:26.035" v="603" actId="20577"/>
          <ac:spMkLst>
            <pc:docMk/>
            <pc:sldMk cId="0" sldId="261"/>
            <ac:spMk id="2" creationId="{00000000-0000-0000-0000-000000000000}"/>
          </ac:spMkLst>
        </pc:spChg>
        <pc:spChg chg="add mod">
          <ac:chgData name="Laurent Maganto" userId="5985c0986e4239b5" providerId="LiveId" clId="{3E43702F-11B4-43C0-B4B7-64153A863485}" dt="2025-04-15T12:40:37.323" v="1895" actId="1076"/>
          <ac:spMkLst>
            <pc:docMk/>
            <pc:sldMk cId="0" sldId="261"/>
            <ac:spMk id="5" creationId="{3FD4B441-CC7A-AA69-9774-D639A36D149A}"/>
          </ac:spMkLst>
        </pc:spChg>
        <pc:spChg chg="add mod">
          <ac:chgData name="Laurent Maganto" userId="5985c0986e4239b5" providerId="LiveId" clId="{3E43702F-11B4-43C0-B4B7-64153A863485}" dt="2025-04-15T12:39:48.335" v="1882" actId="20577"/>
          <ac:spMkLst>
            <pc:docMk/>
            <pc:sldMk cId="0" sldId="261"/>
            <ac:spMk id="6" creationId="{C5532D1F-91B7-37CA-60DA-7861EFDA3DE7}"/>
          </ac:spMkLst>
        </pc:spChg>
        <pc:picChg chg="add mod">
          <ac:chgData name="Laurent Maganto" userId="5985c0986e4239b5" providerId="LiveId" clId="{3E43702F-11B4-43C0-B4B7-64153A863485}" dt="2025-04-11T13:13:33.655" v="747" actId="1076"/>
          <ac:picMkLst>
            <pc:docMk/>
            <pc:sldMk cId="0" sldId="261"/>
            <ac:picMk id="10" creationId="{AE925EA7-FAAD-EBCF-CCB9-A0C1B12B91C1}"/>
          </ac:picMkLst>
        </pc:picChg>
      </pc:sldChg>
      <pc:sldChg chg="addSp delSp modSp mod">
        <pc:chgData name="Laurent Maganto" userId="5985c0986e4239b5" providerId="LiveId" clId="{3E43702F-11B4-43C0-B4B7-64153A863485}" dt="2025-04-16T13:15:18.985" v="1984" actId="115"/>
        <pc:sldMkLst>
          <pc:docMk/>
          <pc:sldMk cId="0" sldId="262"/>
        </pc:sldMkLst>
        <pc:spChg chg="mod">
          <ac:chgData name="Laurent Maganto" userId="5985c0986e4239b5" providerId="LiveId" clId="{3E43702F-11B4-43C0-B4B7-64153A863485}" dt="2025-04-11T14:51:37.323" v="1731" actId="20577"/>
          <ac:spMkLst>
            <pc:docMk/>
            <pc:sldMk cId="0" sldId="262"/>
            <ac:spMk id="2" creationId="{00000000-0000-0000-0000-000000000000}"/>
          </ac:spMkLst>
        </pc:spChg>
        <pc:spChg chg="add mod">
          <ac:chgData name="Laurent Maganto" userId="5985c0986e4239b5" providerId="LiveId" clId="{3E43702F-11B4-43C0-B4B7-64153A863485}" dt="2025-04-16T13:09:12.621" v="1951" actId="1076"/>
          <ac:spMkLst>
            <pc:docMk/>
            <pc:sldMk cId="0" sldId="262"/>
            <ac:spMk id="6" creationId="{82DB59AF-173C-3F79-1DEB-89A86D49DBAC}"/>
          </ac:spMkLst>
        </pc:spChg>
        <pc:spChg chg="add mod">
          <ac:chgData name="Laurent Maganto" userId="5985c0986e4239b5" providerId="LiveId" clId="{3E43702F-11B4-43C0-B4B7-64153A863485}" dt="2025-04-16T13:15:18.985" v="1984" actId="115"/>
          <ac:spMkLst>
            <pc:docMk/>
            <pc:sldMk cId="0" sldId="262"/>
            <ac:spMk id="7" creationId="{016B8D7F-1634-8EDE-BBC8-0694A0B93DA2}"/>
          </ac:spMkLst>
        </pc:spChg>
        <pc:spChg chg="add mod">
          <ac:chgData name="Laurent Maganto" userId="5985c0986e4239b5" providerId="LiveId" clId="{3E43702F-11B4-43C0-B4B7-64153A863485}" dt="2025-04-16T13:14:46.436" v="1980" actId="1076"/>
          <ac:spMkLst>
            <pc:docMk/>
            <pc:sldMk cId="0" sldId="262"/>
            <ac:spMk id="12" creationId="{1E65363C-585D-87B0-905E-AB1AB1597B14}"/>
          </ac:spMkLst>
        </pc:spChg>
        <pc:picChg chg="add mod">
          <ac:chgData name="Laurent Maganto" userId="5985c0986e4239b5" providerId="LiveId" clId="{3E43702F-11B4-43C0-B4B7-64153A863485}" dt="2025-04-16T13:09:09.228" v="1950" actId="14100"/>
          <ac:picMkLst>
            <pc:docMk/>
            <pc:sldMk cId="0" sldId="262"/>
            <ac:picMk id="3" creationId="{E432B0FD-9C8B-1A66-69D8-4A0604799463}"/>
          </ac:picMkLst>
        </pc:picChg>
        <pc:picChg chg="add mod">
          <ac:chgData name="Laurent Maganto" userId="5985c0986e4239b5" providerId="LiveId" clId="{3E43702F-11B4-43C0-B4B7-64153A863485}" dt="2025-04-16T13:14:43.709" v="1979" actId="1076"/>
          <ac:picMkLst>
            <pc:docMk/>
            <pc:sldMk cId="0" sldId="262"/>
            <ac:picMk id="11" creationId="{5C2D9CE8-9320-8A9C-FBD2-4DC1852A2903}"/>
          </ac:picMkLst>
        </pc:picChg>
      </pc:sldChg>
      <pc:sldChg chg="addSp delSp modSp mod modNotesTx">
        <pc:chgData name="Laurent Maganto" userId="5985c0986e4239b5" providerId="LiveId" clId="{3E43702F-11B4-43C0-B4B7-64153A863485}" dt="2025-04-11T15:46:07.638" v="1806" actId="20577"/>
        <pc:sldMkLst>
          <pc:docMk/>
          <pc:sldMk cId="0" sldId="263"/>
        </pc:sldMkLst>
        <pc:spChg chg="mod">
          <ac:chgData name="Laurent Maganto" userId="5985c0986e4239b5" providerId="LiveId" clId="{3E43702F-11B4-43C0-B4B7-64153A863485}" dt="2025-04-11T13:28:47.471" v="881" actId="20577"/>
          <ac:spMkLst>
            <pc:docMk/>
            <pc:sldMk cId="0" sldId="263"/>
            <ac:spMk id="2" creationId="{00000000-0000-0000-0000-000000000000}"/>
          </ac:spMkLst>
        </pc:spChg>
        <pc:spChg chg="add mod">
          <ac:chgData name="Laurent Maganto" userId="5985c0986e4239b5" providerId="LiveId" clId="{3E43702F-11B4-43C0-B4B7-64153A863485}" dt="2025-04-11T15:46:07.638" v="1806" actId="20577"/>
          <ac:spMkLst>
            <pc:docMk/>
            <pc:sldMk cId="0" sldId="263"/>
            <ac:spMk id="7" creationId="{D2FADABC-D590-9731-4715-7DAFD5E15BA2}"/>
          </ac:spMkLst>
        </pc:spChg>
        <pc:spChg chg="add mod">
          <ac:chgData name="Laurent Maganto" userId="5985c0986e4239b5" providerId="LiveId" clId="{3E43702F-11B4-43C0-B4B7-64153A863485}" dt="2025-04-11T13:42:48.764" v="1095" actId="1076"/>
          <ac:spMkLst>
            <pc:docMk/>
            <pc:sldMk cId="0" sldId="263"/>
            <ac:spMk id="14" creationId="{628F774C-B922-F4D8-8F2F-D9C9DBE675A6}"/>
          </ac:spMkLst>
        </pc:spChg>
        <pc:spChg chg="add mod">
          <ac:chgData name="Laurent Maganto" userId="5985c0986e4239b5" providerId="LiveId" clId="{3E43702F-11B4-43C0-B4B7-64153A863485}" dt="2025-04-11T13:42:43.079" v="1094" actId="122"/>
          <ac:spMkLst>
            <pc:docMk/>
            <pc:sldMk cId="0" sldId="263"/>
            <ac:spMk id="15" creationId="{3895160B-9238-0DE4-91B4-9E50C473CC20}"/>
          </ac:spMkLst>
        </pc:spChg>
        <pc:picChg chg="add mod">
          <ac:chgData name="Laurent Maganto" userId="5985c0986e4239b5" providerId="LiveId" clId="{3E43702F-11B4-43C0-B4B7-64153A863485}" dt="2025-04-11T13:48:42.569" v="1160" actId="1076"/>
          <ac:picMkLst>
            <pc:docMk/>
            <pc:sldMk cId="0" sldId="263"/>
            <ac:picMk id="11" creationId="{D3A93018-9819-5432-BE41-A1A609E979D8}"/>
          </ac:picMkLst>
        </pc:picChg>
      </pc:sldChg>
      <pc:sldChg chg="addSp delSp modSp mod modNotesTx">
        <pc:chgData name="Laurent Maganto" userId="5985c0986e4239b5" providerId="LiveId" clId="{3E43702F-11B4-43C0-B4B7-64153A863485}" dt="2025-04-11T15:47:09.412" v="1813" actId="20577"/>
        <pc:sldMkLst>
          <pc:docMk/>
          <pc:sldMk cId="0" sldId="264"/>
        </pc:sldMkLst>
        <pc:spChg chg="mod">
          <ac:chgData name="Laurent Maganto" userId="5985c0986e4239b5" providerId="LiveId" clId="{3E43702F-11B4-43C0-B4B7-64153A863485}" dt="2025-04-11T13:38:54.352" v="1036" actId="6549"/>
          <ac:spMkLst>
            <pc:docMk/>
            <pc:sldMk cId="0" sldId="264"/>
            <ac:spMk id="2" creationId="{00000000-0000-0000-0000-000000000000}"/>
          </ac:spMkLst>
        </pc:spChg>
        <pc:spChg chg="add mod">
          <ac:chgData name="Laurent Maganto" userId="5985c0986e4239b5" providerId="LiveId" clId="{3E43702F-11B4-43C0-B4B7-64153A863485}" dt="2025-04-11T15:47:09.412" v="1813" actId="20577"/>
          <ac:spMkLst>
            <pc:docMk/>
            <pc:sldMk cId="0" sldId="264"/>
            <ac:spMk id="7" creationId="{9E953B59-93A4-D44A-3659-E080CD9A3739}"/>
          </ac:spMkLst>
        </pc:spChg>
        <pc:spChg chg="add mod">
          <ac:chgData name="Laurent Maganto" userId="5985c0986e4239b5" providerId="LiveId" clId="{3E43702F-11B4-43C0-B4B7-64153A863485}" dt="2025-04-11T13:42:59.074" v="1098"/>
          <ac:spMkLst>
            <pc:docMk/>
            <pc:sldMk cId="0" sldId="264"/>
            <ac:spMk id="8" creationId="{E1027E32-FD3B-7102-E037-EFDF0EA1B326}"/>
          </ac:spMkLst>
        </pc:spChg>
        <pc:spChg chg="add mod">
          <ac:chgData name="Laurent Maganto" userId="5985c0986e4239b5" providerId="LiveId" clId="{3E43702F-11B4-43C0-B4B7-64153A863485}" dt="2025-04-11T13:43:05.304" v="1100"/>
          <ac:spMkLst>
            <pc:docMk/>
            <pc:sldMk cId="0" sldId="264"/>
            <ac:spMk id="9" creationId="{AB9C04D4-2A51-429E-EA46-CF28721532F2}"/>
          </ac:spMkLst>
        </pc:spChg>
        <pc:picChg chg="add mod ord">
          <ac:chgData name="Laurent Maganto" userId="5985c0986e4239b5" providerId="LiveId" clId="{3E43702F-11B4-43C0-B4B7-64153A863485}" dt="2025-04-11T13:48:36.478" v="1158" actId="208"/>
          <ac:picMkLst>
            <pc:docMk/>
            <pc:sldMk cId="0" sldId="264"/>
            <ac:picMk id="11" creationId="{17CD54C6-76FF-3000-1370-A5056CBC8675}"/>
          </ac:picMkLst>
        </pc:picChg>
      </pc:sldChg>
      <pc:sldChg chg="addSp delSp modSp mod modNotesTx">
        <pc:chgData name="Laurent Maganto" userId="5985c0986e4239b5" providerId="LiveId" clId="{3E43702F-11B4-43C0-B4B7-64153A863485}" dt="2025-04-11T15:48:26.546" v="1829" actId="20577"/>
        <pc:sldMkLst>
          <pc:docMk/>
          <pc:sldMk cId="0" sldId="265"/>
        </pc:sldMkLst>
        <pc:spChg chg="mod">
          <ac:chgData name="Laurent Maganto" userId="5985c0986e4239b5" providerId="LiveId" clId="{3E43702F-11B4-43C0-B4B7-64153A863485}" dt="2025-04-11T13:46:55.173" v="1150" actId="20577"/>
          <ac:spMkLst>
            <pc:docMk/>
            <pc:sldMk cId="0" sldId="265"/>
            <ac:spMk id="2" creationId="{00000000-0000-0000-0000-000000000000}"/>
          </ac:spMkLst>
        </pc:spChg>
        <pc:spChg chg="add mod">
          <ac:chgData name="Laurent Maganto" userId="5985c0986e4239b5" providerId="LiveId" clId="{3E43702F-11B4-43C0-B4B7-64153A863485}" dt="2025-04-11T15:48:00.355" v="1825" actId="20577"/>
          <ac:spMkLst>
            <pc:docMk/>
            <pc:sldMk cId="0" sldId="265"/>
            <ac:spMk id="7" creationId="{393E0BBB-55E1-C938-E24A-5CFDA33D5E2D}"/>
          </ac:spMkLst>
        </pc:spChg>
        <pc:spChg chg="add mod">
          <ac:chgData name="Laurent Maganto" userId="5985c0986e4239b5" providerId="LiveId" clId="{3E43702F-11B4-43C0-B4B7-64153A863485}" dt="2025-04-11T13:48:14.408" v="1155"/>
          <ac:spMkLst>
            <pc:docMk/>
            <pc:sldMk cId="0" sldId="265"/>
            <ac:spMk id="8" creationId="{A3746AD2-7369-D326-38C9-DC520067AC74}"/>
          </ac:spMkLst>
        </pc:spChg>
        <pc:spChg chg="add mod">
          <ac:chgData name="Laurent Maganto" userId="5985c0986e4239b5" providerId="LiveId" clId="{3E43702F-11B4-43C0-B4B7-64153A863485}" dt="2025-04-11T15:48:26.546" v="1829" actId="20577"/>
          <ac:spMkLst>
            <pc:docMk/>
            <pc:sldMk cId="0" sldId="265"/>
            <ac:spMk id="9" creationId="{ED6CDFAD-4F71-ED1D-26BF-B5A1E098758E}"/>
          </ac:spMkLst>
        </pc:spChg>
        <pc:picChg chg="add mod">
          <ac:chgData name="Laurent Maganto" userId="5985c0986e4239b5" providerId="LiveId" clId="{3E43702F-11B4-43C0-B4B7-64153A863485}" dt="2025-04-11T13:48:32.539" v="1157" actId="208"/>
          <ac:picMkLst>
            <pc:docMk/>
            <pc:sldMk cId="0" sldId="265"/>
            <ac:picMk id="6" creationId="{F0574B27-408B-08A9-70B0-F2B1A21EE6F1}"/>
          </ac:picMkLst>
        </pc:picChg>
      </pc:sldChg>
      <pc:sldChg chg="addSp delSp modSp mod">
        <pc:chgData name="Laurent Maganto" userId="5985c0986e4239b5" providerId="LiveId" clId="{3E43702F-11B4-43C0-B4B7-64153A863485}" dt="2025-04-11T15:48:31.507" v="1831" actId="20577"/>
        <pc:sldMkLst>
          <pc:docMk/>
          <pc:sldMk cId="0" sldId="266"/>
        </pc:sldMkLst>
        <pc:spChg chg="mod">
          <ac:chgData name="Laurent Maganto" userId="5985c0986e4239b5" providerId="LiveId" clId="{3E43702F-11B4-43C0-B4B7-64153A863485}" dt="2025-04-11T15:48:14.562" v="1827" actId="20577"/>
          <ac:spMkLst>
            <pc:docMk/>
            <pc:sldMk cId="0" sldId="266"/>
            <ac:spMk id="2" creationId="{00000000-0000-0000-0000-000000000000}"/>
          </ac:spMkLst>
        </pc:spChg>
        <pc:spChg chg="add mod">
          <ac:chgData name="Laurent Maganto" userId="5985c0986e4239b5" providerId="LiveId" clId="{3E43702F-11B4-43C0-B4B7-64153A863485}" dt="2025-04-11T13:55:16.244" v="1237" actId="14100"/>
          <ac:spMkLst>
            <pc:docMk/>
            <pc:sldMk cId="0" sldId="266"/>
            <ac:spMk id="6" creationId="{F98C3A4B-7D32-7D0B-4436-F1605E0E216C}"/>
          </ac:spMkLst>
        </pc:spChg>
        <pc:spChg chg="add mod">
          <ac:chgData name="Laurent Maganto" userId="5985c0986e4239b5" providerId="LiveId" clId="{3E43702F-11B4-43C0-B4B7-64153A863485}" dt="2025-04-11T14:00:02.596" v="1349" actId="20577"/>
          <ac:spMkLst>
            <pc:docMk/>
            <pc:sldMk cId="0" sldId="266"/>
            <ac:spMk id="7" creationId="{BED812BD-091C-E388-8DF7-70A7953EF729}"/>
          </ac:spMkLst>
        </pc:spChg>
        <pc:spChg chg="add mod">
          <ac:chgData name="Laurent Maganto" userId="5985c0986e4239b5" providerId="LiveId" clId="{3E43702F-11B4-43C0-B4B7-64153A863485}" dt="2025-04-11T13:56:10.980" v="1239"/>
          <ac:spMkLst>
            <pc:docMk/>
            <pc:sldMk cId="0" sldId="266"/>
            <ac:spMk id="8" creationId="{CBEC9775-978A-AD46-9CE7-1DADE23CEA62}"/>
          </ac:spMkLst>
        </pc:spChg>
        <pc:spChg chg="add mod">
          <ac:chgData name="Laurent Maganto" userId="5985c0986e4239b5" providerId="LiveId" clId="{3E43702F-11B4-43C0-B4B7-64153A863485}" dt="2025-04-11T15:48:31.507" v="1831" actId="20577"/>
          <ac:spMkLst>
            <pc:docMk/>
            <pc:sldMk cId="0" sldId="266"/>
            <ac:spMk id="9" creationId="{E4A32662-D712-AC34-4812-8291D83F0960}"/>
          </ac:spMkLst>
        </pc:spChg>
        <pc:spChg chg="add mod">
          <ac:chgData name="Laurent Maganto" userId="5985c0986e4239b5" providerId="LiveId" clId="{3E43702F-11B4-43C0-B4B7-64153A863485}" dt="2025-04-11T14:02:20.536" v="1372" actId="14100"/>
          <ac:spMkLst>
            <pc:docMk/>
            <pc:sldMk cId="0" sldId="266"/>
            <ac:spMk id="14" creationId="{AD2BBF5B-51AF-6400-0D46-43E811199640}"/>
          </ac:spMkLst>
        </pc:spChg>
        <pc:picChg chg="add mod">
          <ac:chgData name="Laurent Maganto" userId="5985c0986e4239b5" providerId="LiveId" clId="{3E43702F-11B4-43C0-B4B7-64153A863485}" dt="2025-04-11T14:01:27.314" v="1360" actId="1076"/>
          <ac:picMkLst>
            <pc:docMk/>
            <pc:sldMk cId="0" sldId="266"/>
            <ac:picMk id="12" creationId="{619C8D52-6A28-CE16-8D72-28DDC6A40031}"/>
          </ac:picMkLst>
        </pc:picChg>
        <pc:cxnChg chg="add mod">
          <ac:chgData name="Laurent Maganto" userId="5985c0986e4239b5" providerId="LiveId" clId="{3E43702F-11B4-43C0-B4B7-64153A863485}" dt="2025-04-11T14:02:13.665" v="1370" actId="1076"/>
          <ac:cxnSpMkLst>
            <pc:docMk/>
            <pc:sldMk cId="0" sldId="266"/>
            <ac:cxnSpMk id="16" creationId="{CFC07E9C-8C07-9F02-63F3-6DEE2CF2D559}"/>
          </ac:cxnSpMkLst>
        </pc:cxnChg>
      </pc:sldChg>
      <pc:sldChg chg="addSp delSp modSp mod modNotesTx">
        <pc:chgData name="Laurent Maganto" userId="5985c0986e4239b5" providerId="LiveId" clId="{3E43702F-11B4-43C0-B4B7-64153A863485}" dt="2025-04-16T13:13:40.197" v="1974" actId="1076"/>
        <pc:sldMkLst>
          <pc:docMk/>
          <pc:sldMk cId="0" sldId="267"/>
        </pc:sldMkLst>
        <pc:spChg chg="add mod">
          <ac:chgData name="Laurent Maganto" userId="5985c0986e4239b5" providerId="LiveId" clId="{3E43702F-11B4-43C0-B4B7-64153A863485}" dt="2025-04-11T14:14:27.563" v="1451" actId="1076"/>
          <ac:spMkLst>
            <pc:docMk/>
            <pc:sldMk cId="0" sldId="267"/>
            <ac:spMk id="7" creationId="{F5C84549-075F-44A6-B900-0FFC863A52E4}"/>
          </ac:spMkLst>
        </pc:spChg>
        <pc:spChg chg="add mod">
          <ac:chgData name="Laurent Maganto" userId="5985c0986e4239b5" providerId="LiveId" clId="{3E43702F-11B4-43C0-B4B7-64153A863485}" dt="2025-04-11T14:03:03.913" v="1378"/>
          <ac:spMkLst>
            <pc:docMk/>
            <pc:sldMk cId="0" sldId="267"/>
            <ac:spMk id="8" creationId="{00EC686D-6D76-9D79-7570-1BC4A885A042}"/>
          </ac:spMkLst>
        </pc:spChg>
        <pc:spChg chg="add mod">
          <ac:chgData name="Laurent Maganto" userId="5985c0986e4239b5" providerId="LiveId" clId="{3E43702F-11B4-43C0-B4B7-64153A863485}" dt="2025-04-11T14:09:36.826" v="1386" actId="20577"/>
          <ac:spMkLst>
            <pc:docMk/>
            <pc:sldMk cId="0" sldId="267"/>
            <ac:spMk id="9" creationId="{160CB23C-7386-DE51-2527-05C012F1E7A7}"/>
          </ac:spMkLst>
        </pc:spChg>
        <pc:picChg chg="add mod modCrop">
          <ac:chgData name="Laurent Maganto" userId="5985c0986e4239b5" providerId="LiveId" clId="{3E43702F-11B4-43C0-B4B7-64153A863485}" dt="2025-04-16T13:13:40.197" v="1974" actId="1076"/>
          <ac:picMkLst>
            <pc:docMk/>
            <pc:sldMk cId="0" sldId="267"/>
            <ac:picMk id="5" creationId="{04DAA19E-1BC1-6222-0B47-69EC52331A31}"/>
          </ac:picMkLst>
        </pc:picChg>
        <pc:picChg chg="add mod">
          <ac:chgData name="Laurent Maganto" userId="5985c0986e4239b5" providerId="LiveId" clId="{3E43702F-11B4-43C0-B4B7-64153A863485}" dt="2025-04-11T14:14:21.932" v="1450" actId="1076"/>
          <ac:picMkLst>
            <pc:docMk/>
            <pc:sldMk cId="0" sldId="267"/>
            <ac:picMk id="6" creationId="{B773355A-4D01-D0F3-3580-9C1165FEB65B}"/>
          </ac:picMkLst>
        </pc:picChg>
        <pc:picChg chg="add del mod modCrop">
          <ac:chgData name="Laurent Maganto" userId="5985c0986e4239b5" providerId="LiveId" clId="{3E43702F-11B4-43C0-B4B7-64153A863485}" dt="2025-04-16T13:13:33.722" v="1970" actId="478"/>
          <ac:picMkLst>
            <pc:docMk/>
            <pc:sldMk cId="0" sldId="267"/>
            <ac:picMk id="11" creationId="{7524CD1C-8F15-D5C2-2B6F-16CFE0A2123C}"/>
          </ac:picMkLst>
        </pc:picChg>
      </pc:sldChg>
      <pc:sldChg chg="addSp delSp modSp mod modNotesTx">
        <pc:chgData name="Laurent Maganto" userId="5985c0986e4239b5" providerId="LiveId" clId="{3E43702F-11B4-43C0-B4B7-64153A863485}" dt="2025-04-16T13:37:11.552" v="2001" actId="122"/>
        <pc:sldMkLst>
          <pc:docMk/>
          <pc:sldMk cId="0" sldId="268"/>
        </pc:sldMkLst>
        <pc:spChg chg="mod">
          <ac:chgData name="Laurent Maganto" userId="5985c0986e4239b5" providerId="LiveId" clId="{3E43702F-11B4-43C0-B4B7-64153A863485}" dt="2025-04-11T14:16:00.220" v="1458"/>
          <ac:spMkLst>
            <pc:docMk/>
            <pc:sldMk cId="0" sldId="268"/>
            <ac:spMk id="2" creationId="{00000000-0000-0000-0000-000000000000}"/>
          </ac:spMkLst>
        </pc:spChg>
        <pc:spChg chg="add mod">
          <ac:chgData name="Laurent Maganto" userId="5985c0986e4239b5" providerId="LiveId" clId="{3E43702F-11B4-43C0-B4B7-64153A863485}" dt="2025-04-11T14:21:54.235" v="1540" actId="1076"/>
          <ac:spMkLst>
            <pc:docMk/>
            <pc:sldMk cId="0" sldId="268"/>
            <ac:spMk id="8" creationId="{5FEAFE9E-6807-753E-6551-78E16112373C}"/>
          </ac:spMkLst>
        </pc:spChg>
        <pc:graphicFrameChg chg="add mod modGraphic">
          <ac:chgData name="Laurent Maganto" userId="5985c0986e4239b5" providerId="LiveId" clId="{3E43702F-11B4-43C0-B4B7-64153A863485}" dt="2025-04-16T13:37:11.552" v="2001" actId="122"/>
          <ac:graphicFrameMkLst>
            <pc:docMk/>
            <pc:sldMk cId="0" sldId="268"/>
            <ac:graphicFrameMk id="5" creationId="{E9DB2173-1157-5E81-9C10-78D3DA8507B8}"/>
          </ac:graphicFrameMkLst>
        </pc:graphicFrameChg>
      </pc:sldChg>
      <pc:sldChg chg="addSp delSp modSp mod modNotesTx">
        <pc:chgData name="Laurent Maganto" userId="5985c0986e4239b5" providerId="LiveId" clId="{3E43702F-11B4-43C0-B4B7-64153A863485}" dt="2025-04-15T12:39:01.667" v="1876" actId="114"/>
        <pc:sldMkLst>
          <pc:docMk/>
          <pc:sldMk cId="0" sldId="269"/>
        </pc:sldMkLst>
        <pc:spChg chg="add mod">
          <ac:chgData name="Laurent Maganto" userId="5985c0986e4239b5" providerId="LiveId" clId="{3E43702F-11B4-43C0-B4B7-64153A863485}" dt="2025-04-15T12:39:01.667" v="1876" actId="114"/>
          <ac:spMkLst>
            <pc:docMk/>
            <pc:sldMk cId="0" sldId="269"/>
            <ac:spMk id="6" creationId="{A277B815-8300-52CE-B4A7-74DBE9884B8D}"/>
          </ac:spMkLst>
        </pc:spChg>
        <pc:spChg chg="add mod">
          <ac:chgData name="Laurent Maganto" userId="5985c0986e4239b5" providerId="LiveId" clId="{3E43702F-11B4-43C0-B4B7-64153A863485}" dt="2025-04-11T14:28:32.658" v="1652" actId="1076"/>
          <ac:spMkLst>
            <pc:docMk/>
            <pc:sldMk cId="0" sldId="269"/>
            <ac:spMk id="7" creationId="{BD2E3488-C7F2-12BC-F523-B905EBBF3FC0}"/>
          </ac:spMkLst>
        </pc:spChg>
        <pc:spChg chg="add mod">
          <ac:chgData name="Laurent Maganto" userId="5985c0986e4239b5" providerId="LiveId" clId="{3E43702F-11B4-43C0-B4B7-64153A863485}" dt="2025-04-15T12:36:44.376" v="1875" actId="20577"/>
          <ac:spMkLst>
            <pc:docMk/>
            <pc:sldMk cId="0" sldId="269"/>
            <ac:spMk id="9" creationId="{AD6C0C40-7AAF-EF67-C9B9-A57B0D8FF4D9}"/>
          </ac:spMkLst>
        </pc:spChg>
      </pc:sldChg>
      <pc:sldChg chg="add del">
        <pc:chgData name="Laurent Maganto" userId="5985c0986e4239b5" providerId="LiveId" clId="{3E43702F-11B4-43C0-B4B7-64153A863485}" dt="2025-04-16T13:50:23.039" v="2003" actId="47"/>
        <pc:sldMkLst>
          <pc:docMk/>
          <pc:sldMk cId="1892342010" sldId="270"/>
        </pc:sldMkLst>
      </pc:sldChg>
      <pc:sldChg chg="addSp delSp modSp add del mod">
        <pc:chgData name="Laurent Maganto" userId="5985c0986e4239b5" providerId="LiveId" clId="{3E43702F-11B4-43C0-B4B7-64153A863485}" dt="2025-04-16T13:09:20.525" v="1952" actId="47"/>
        <pc:sldMkLst>
          <pc:docMk/>
          <pc:sldMk cId="3800316908" sldId="270"/>
        </pc:sldMkLst>
        <pc:spChg chg="del">
          <ac:chgData name="Laurent Maganto" userId="5985c0986e4239b5" providerId="LiveId" clId="{3E43702F-11B4-43C0-B4B7-64153A863485}" dt="2025-04-16T13:03:46.700" v="1896" actId="478"/>
          <ac:spMkLst>
            <pc:docMk/>
            <pc:sldMk cId="3800316908" sldId="270"/>
            <ac:spMk id="3" creationId="{54864281-0251-9D7A-DE4D-2B4A8973D5FF}"/>
          </ac:spMkLst>
        </pc:spChg>
        <pc:spChg chg="add del mod">
          <ac:chgData name="Laurent Maganto" userId="5985c0986e4239b5" providerId="LiveId" clId="{3E43702F-11B4-43C0-B4B7-64153A863485}" dt="2025-04-16T13:07:52.826" v="1929" actId="21"/>
          <ac:spMkLst>
            <pc:docMk/>
            <pc:sldMk cId="3800316908" sldId="270"/>
            <ac:spMk id="12" creationId="{1E65363C-585D-87B0-905E-AB1AB1597B14}"/>
          </ac:spMkLst>
        </pc:spChg>
        <pc:spChg chg="add mod">
          <ac:chgData name="Laurent Maganto" userId="5985c0986e4239b5" providerId="LiveId" clId="{3E43702F-11B4-43C0-B4B7-64153A863485}" dt="2025-04-16T13:07:21.490" v="1923"/>
          <ac:spMkLst>
            <pc:docMk/>
            <pc:sldMk cId="3800316908" sldId="270"/>
            <ac:spMk id="13" creationId="{E07B0E52-C96C-2148-B92F-60F2ADD42329}"/>
          </ac:spMkLst>
        </pc:spChg>
        <pc:picChg chg="add del mod modCrop">
          <ac:chgData name="Laurent Maganto" userId="5985c0986e4239b5" providerId="LiveId" clId="{3E43702F-11B4-43C0-B4B7-64153A863485}" dt="2025-04-16T13:06:29.276" v="1909" actId="478"/>
          <ac:picMkLst>
            <pc:docMk/>
            <pc:sldMk cId="3800316908" sldId="270"/>
            <ac:picMk id="8" creationId="{D5DF922D-2BC3-A6C8-0E30-B23DB6B9AA7E}"/>
          </ac:picMkLst>
        </pc:picChg>
        <pc:picChg chg="add del mod modCrop">
          <ac:chgData name="Laurent Maganto" userId="5985c0986e4239b5" providerId="LiveId" clId="{3E43702F-11B4-43C0-B4B7-64153A863485}" dt="2025-04-16T13:07:52.826" v="1929" actId="21"/>
          <ac:picMkLst>
            <pc:docMk/>
            <pc:sldMk cId="3800316908" sldId="270"/>
            <ac:picMk id="11" creationId="{5C2D9CE8-9320-8A9C-FBD2-4DC1852A2903}"/>
          </ac:picMkLst>
        </pc:picChg>
      </pc:sldChg>
      <pc:sldChg chg="new del">
        <pc:chgData name="Laurent Maganto" userId="5985c0986e4239b5" providerId="LiveId" clId="{3E43702F-11B4-43C0-B4B7-64153A863485}" dt="2025-04-11T14:50:59.572" v="1722" actId="47"/>
        <pc:sldMkLst>
          <pc:docMk/>
          <pc:sldMk cId="679210666" sldId="27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62851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Introduction de la mission </a:t>
            </a:r>
            <a:r>
              <a:rPr dirty="0" err="1"/>
              <a:t>confiée</a:t>
            </a:r>
            <a:r>
              <a:rPr dirty="0"/>
              <a:t> par la DRH et </a:t>
            </a:r>
            <a:r>
              <a:rPr dirty="0" err="1"/>
              <a:t>présentation</a:t>
            </a:r>
            <a:r>
              <a:rPr dirty="0"/>
              <a:t> de </a:t>
            </a:r>
            <a:r>
              <a:rPr dirty="0" err="1"/>
              <a:t>l’objectif</a:t>
            </a:r>
            <a:r>
              <a:rPr dirty="0"/>
              <a:t> </a:t>
            </a:r>
            <a:r>
              <a:rPr dirty="0" err="1"/>
              <a:t>général</a:t>
            </a:r>
            <a:r>
              <a:rPr dirty="0"/>
              <a:t> : </a:t>
            </a:r>
            <a:r>
              <a:rPr dirty="0" err="1"/>
              <a:t>automatiser</a:t>
            </a:r>
            <a:r>
              <a:rPr dirty="0"/>
              <a:t> un diagnostic égalité femmes-hommes à </a:t>
            </a:r>
            <a:r>
              <a:rPr dirty="0" err="1"/>
              <a:t>partir</a:t>
            </a:r>
            <a:r>
              <a:rPr dirty="0"/>
              <a:t> des données SIRH.</a:t>
            </a:r>
            <a:br>
              <a:rPr lang="fr-BE" dirty="0"/>
            </a:br>
            <a:br>
              <a:rPr lang="fr-BE" dirty="0"/>
            </a:br>
            <a:r>
              <a:rPr lang="fr-FR" dirty="0"/>
              <a:t>Bonjour à toutes et à tous. En tant que Data </a:t>
            </a:r>
            <a:r>
              <a:rPr lang="fr-FR" dirty="0" err="1"/>
              <a:t>Analyst</a:t>
            </a:r>
            <a:r>
              <a:rPr lang="fr-FR" dirty="0"/>
              <a:t> au sein de </a:t>
            </a:r>
            <a:r>
              <a:rPr lang="fr-FR" dirty="0" err="1"/>
              <a:t>NovaScope</a:t>
            </a:r>
            <a:r>
              <a:rPr lang="fr-FR" dirty="0"/>
              <a:t> Conseil, j’ai été sollicité par notre DRH, Laura, pour épauler Vincent, notre contrôleur de gestion sociale. Ensemble, nous avons travaillé à automatiser le diagnostic de l’égalité professionnelle femmes/hommes à partir des données SIRH. Aujourd’hui, je vous présente les résultats de cette analyse, construite avec KNIME et visualisable sous Tableau.</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a:t>
            </a:r>
            <a:r>
              <a:rPr dirty="0" err="1"/>
              <a:t>expliquant</a:t>
            </a:r>
            <a:r>
              <a:rPr dirty="0"/>
              <a:t> les 5 </a:t>
            </a:r>
            <a:r>
              <a:rPr dirty="0" err="1"/>
              <a:t>objectifs</a:t>
            </a:r>
            <a:r>
              <a:rPr dirty="0"/>
              <a:t> </a:t>
            </a:r>
            <a:r>
              <a:rPr dirty="0" err="1"/>
              <a:t>clés</a:t>
            </a:r>
            <a:r>
              <a:rPr dirty="0"/>
              <a:t> de la mission, de </a:t>
            </a:r>
            <a:r>
              <a:rPr dirty="0" err="1"/>
              <a:t>l’analyse</a:t>
            </a:r>
            <a:r>
              <a:rPr dirty="0"/>
              <a:t> au reporting.</a:t>
            </a:r>
            <a:endParaRPr lang="fr-BE" dirty="0"/>
          </a:p>
          <a:p>
            <a:endParaRPr lang="fr-FR" dirty="0"/>
          </a:p>
          <a:p>
            <a:r>
              <a:rPr lang="fr-FR" dirty="0"/>
              <a:t>L’objectif n’était pas uniquement de faire un état des lieux, mais aussi de concevoir un outil pérenne et conforme au </a:t>
            </a:r>
            <a:r>
              <a:rPr lang="fr-FR" b="0" i="0" dirty="0">
                <a:solidFill>
                  <a:srgbClr val="1F1F1F"/>
                </a:solidFill>
                <a:effectLst/>
                <a:latin typeface="Google Sans"/>
              </a:rPr>
              <a:t>Règlement général sur la protection des données (</a:t>
            </a:r>
            <a:r>
              <a:rPr lang="fr-FR" b="0" i="0" dirty="0">
                <a:solidFill>
                  <a:srgbClr val="040C28"/>
                </a:solidFill>
                <a:effectLst/>
                <a:latin typeface="Google Sans"/>
              </a:rPr>
              <a:t>RGPD</a:t>
            </a:r>
            <a:r>
              <a:rPr lang="fr-FR" b="0" i="0" dirty="0">
                <a:solidFill>
                  <a:srgbClr val="1F1F1F"/>
                </a:solidFill>
                <a:effectLst/>
                <a:latin typeface="Google Sans"/>
              </a:rPr>
              <a:t>)</a:t>
            </a:r>
            <a:r>
              <a:rPr lang="fr-FR" dirty="0"/>
              <a:t>.</a:t>
            </a:r>
            <a:br>
              <a:rPr lang="fr-FR" dirty="0"/>
            </a:br>
            <a:endParaRPr lang="fr-FR" dirty="0"/>
          </a:p>
          <a:p>
            <a:r>
              <a:rPr lang="fr-FR" dirty="0"/>
              <a:t>Ce workflow permettra à Vincent de réactualiser les résultats chaque année, et de les analyser facilement dans Tableau. </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Présentation</a:t>
            </a:r>
            <a:r>
              <a:rPr dirty="0"/>
              <a:t> du cadre </a:t>
            </a:r>
            <a:r>
              <a:rPr dirty="0" err="1"/>
              <a:t>légal</a:t>
            </a:r>
            <a:r>
              <a:rPr dirty="0"/>
              <a:t> (Index Égalité, guide PME, </a:t>
            </a:r>
            <a:r>
              <a:rPr dirty="0" err="1"/>
              <a:t>outil</a:t>
            </a:r>
            <a:r>
              <a:rPr dirty="0"/>
              <a:t> diagnostic </a:t>
            </a:r>
            <a:r>
              <a:rPr dirty="0" err="1"/>
              <a:t>officiel</a:t>
            </a:r>
            <a:r>
              <a:rPr dirty="0"/>
              <a:t>).</a:t>
            </a:r>
            <a:endParaRPr lang="fr-BE" dirty="0"/>
          </a:p>
          <a:p>
            <a:endParaRPr lang="fr-FR" dirty="0"/>
          </a:p>
          <a:p>
            <a:r>
              <a:rPr lang="fr-FR" b="0" i="0" dirty="0">
                <a:solidFill>
                  <a:srgbClr val="3A3A3A"/>
                </a:solidFill>
                <a:effectLst/>
                <a:latin typeface="Marianne"/>
              </a:rPr>
              <a:t>Toutes les entreprises, d’au moins 50 salariés, </a:t>
            </a:r>
            <a:r>
              <a:rPr lang="fr-FR" b="1" i="0" dirty="0">
                <a:solidFill>
                  <a:srgbClr val="3A3A3A"/>
                </a:solidFill>
                <a:effectLst/>
                <a:latin typeface="Marianne"/>
              </a:rPr>
              <a:t>doivent calculer et publier annuellement leur index de l’égalité professionnelle entre les femmes et les hommes, au plus tard le 1er mars</a:t>
            </a:r>
            <a:r>
              <a:rPr lang="fr-FR" b="0" i="0" dirty="0">
                <a:solidFill>
                  <a:srgbClr val="3A3A3A"/>
                </a:solidFill>
                <a:effectLst/>
                <a:latin typeface="Marianne"/>
              </a:rPr>
              <a:t> de l’année en cours, au titre de l’année précédente. Elles doivent également transmettre leurs résultats au comité social et économique (CSE) ainsi qu’aux services du ministre chargé du travail.</a:t>
            </a:r>
            <a:endParaRPr lang="fr-BE" dirty="0"/>
          </a:p>
          <a:p>
            <a:endParaRPr lang="fr-FR" dirty="0"/>
          </a:p>
          <a:p>
            <a:r>
              <a:rPr lang="fr-FR" dirty="0"/>
              <a:t>Ces trois ressources ont servi de boussole pour structurer le projet. La loi nous donne les obligations, le guide nous oriente sur la méthode, et l’outil ANACT/ARACT nous donne les bons indicateurs à suivre.</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Explication des </a:t>
            </a:r>
            <a:r>
              <a:rPr dirty="0" err="1"/>
              <a:t>fichiers</a:t>
            </a:r>
            <a:r>
              <a:rPr dirty="0"/>
              <a:t> SIRH </a:t>
            </a:r>
            <a:r>
              <a:rPr dirty="0" err="1"/>
              <a:t>reçus</a:t>
            </a:r>
            <a:r>
              <a:rPr dirty="0"/>
              <a:t> et des </a:t>
            </a:r>
            <a:r>
              <a:rPr dirty="0" err="1"/>
              <a:t>enjeux</a:t>
            </a:r>
            <a:r>
              <a:rPr dirty="0"/>
              <a:t> RGPD </a:t>
            </a:r>
            <a:r>
              <a:rPr dirty="0" err="1"/>
              <a:t>liés</a:t>
            </a:r>
            <a:r>
              <a:rPr dirty="0"/>
              <a:t> aux données </a:t>
            </a:r>
            <a:r>
              <a:rPr dirty="0" err="1"/>
              <a:t>personnelles</a:t>
            </a:r>
            <a:r>
              <a:rPr dirty="0"/>
              <a:t> </a:t>
            </a:r>
            <a:r>
              <a:rPr dirty="0" err="1"/>
              <a:t>sensibles</a:t>
            </a:r>
            <a:r>
              <a:rPr dirty="0"/>
              <a:t>.</a:t>
            </a:r>
            <a:endParaRPr lang="fr-BE" dirty="0"/>
          </a:p>
          <a:p>
            <a:endParaRPr lang="fr-FR" dirty="0"/>
          </a:p>
          <a:p>
            <a:r>
              <a:rPr lang="fr-FR" dirty="0"/>
              <a:t>Le SIRH nous a fourni trois fichiers riches, mais contenant plusieurs données personnelles. Le respect du RGPD s’est imposé comme une priorité, en supprimant toute information permettant une identification directe ou indirecte. »</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Détail</a:t>
            </a:r>
            <a:r>
              <a:rPr dirty="0"/>
              <a:t> des étapes du workflow KNIME (</a:t>
            </a:r>
            <a:r>
              <a:rPr dirty="0" err="1"/>
              <a:t>nettoyage</a:t>
            </a:r>
            <a:r>
              <a:rPr dirty="0"/>
              <a:t>, jointures, </a:t>
            </a:r>
            <a:r>
              <a:rPr dirty="0" err="1"/>
              <a:t>création</a:t>
            </a:r>
            <a:r>
              <a:rPr dirty="0"/>
              <a:t> de variables, </a:t>
            </a:r>
            <a:r>
              <a:rPr dirty="0" err="1"/>
              <a:t>anonymisation</a:t>
            </a:r>
            <a:r>
              <a:rPr dirty="0"/>
              <a:t>).</a:t>
            </a:r>
            <a:endParaRPr lang="fr-FR" dirty="0"/>
          </a:p>
          <a:p>
            <a:endParaRPr lang="fr-FR" dirty="0"/>
          </a:p>
          <a:p>
            <a:r>
              <a:rPr lang="fr-FR" dirty="0"/>
              <a:t>Toute la préparation des données a été automatisée dans KNIME, y compris la fusion, le nettoyage, le calcul des variables analytiques et l’anonymisation. Cela garantit un traitement reproductible, conforme au RGPD, et prêt à alimenter les analyses futures dans Tableau. »</a:t>
            </a:r>
          </a:p>
          <a:p>
            <a:endParaRPr lang="fr-FR" dirty="0"/>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1" i="0" u="none" strike="noStrike" cap="none" normalizeH="0" baseline="0" dirty="0">
                <a:ln>
                  <a:noFill/>
                </a:ln>
                <a:solidFill>
                  <a:schemeClr val="tx1"/>
                </a:solidFill>
                <a:effectLst/>
                <a:latin typeface="+mj-lt"/>
              </a:rPr>
              <a:t>📌 Objectifs de cette étape dans le workflow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0" i="0" u="none" strike="noStrike" cap="none" normalizeH="0" baseline="0" dirty="0">
                <a:ln>
                  <a:noFill/>
                </a:ln>
                <a:solidFill>
                  <a:schemeClr val="tx1"/>
                </a:solidFill>
                <a:effectLst/>
                <a:latin typeface="+mj-lt"/>
              </a:rPr>
              <a:t>✔️ Nettoyer et fusionner les trois fichiers SIRH</a:t>
            </a:r>
            <a:br>
              <a:rPr kumimoji="0" lang="fr-FR" altLang="fr-FR" sz="1200" b="0" i="0" u="none" strike="noStrike" cap="none" normalizeH="0" baseline="0" dirty="0">
                <a:ln>
                  <a:noFill/>
                </a:ln>
                <a:solidFill>
                  <a:schemeClr val="tx1"/>
                </a:solidFill>
                <a:effectLst/>
                <a:latin typeface="+mj-lt"/>
              </a:rPr>
            </a:br>
            <a:r>
              <a:rPr kumimoji="0" lang="fr-FR" altLang="fr-FR" sz="1200" b="0" i="0" u="none" strike="noStrike" cap="none" normalizeH="0" baseline="0" dirty="0">
                <a:ln>
                  <a:noFill/>
                </a:ln>
                <a:solidFill>
                  <a:schemeClr val="tx1"/>
                </a:solidFill>
                <a:effectLst/>
                <a:latin typeface="+mj-lt"/>
              </a:rPr>
              <a:t>✔️ Créer les variables analytiques nécessaires (âge, CSP, ancienneté, rémunération ETP…)</a:t>
            </a:r>
            <a:br>
              <a:rPr kumimoji="0" lang="fr-FR" altLang="fr-FR" sz="1200" b="0" i="0" u="none" strike="noStrike" cap="none" normalizeH="0" baseline="0" dirty="0">
                <a:ln>
                  <a:noFill/>
                </a:ln>
                <a:solidFill>
                  <a:schemeClr val="tx1"/>
                </a:solidFill>
                <a:effectLst/>
                <a:latin typeface="+mj-lt"/>
              </a:rPr>
            </a:br>
            <a:r>
              <a:rPr kumimoji="0" lang="fr-FR" altLang="fr-FR" sz="1200" b="0" i="0" u="none" strike="noStrike" cap="none" normalizeH="0" baseline="0" dirty="0">
                <a:ln>
                  <a:noFill/>
                </a:ln>
                <a:solidFill>
                  <a:schemeClr val="tx1"/>
                </a:solidFill>
                <a:effectLst/>
                <a:latin typeface="+mj-lt"/>
              </a:rPr>
              <a:t>✔️ Supprimer ou </a:t>
            </a:r>
            <a:r>
              <a:rPr kumimoji="0" lang="fr-FR" altLang="fr-FR" sz="1200" b="0" i="0" u="none" strike="noStrike" cap="none" normalizeH="0" baseline="0" dirty="0" err="1">
                <a:ln>
                  <a:noFill/>
                </a:ln>
                <a:solidFill>
                  <a:schemeClr val="tx1"/>
                </a:solidFill>
                <a:effectLst/>
                <a:latin typeface="+mj-lt"/>
              </a:rPr>
              <a:t>pseudonymiser</a:t>
            </a:r>
            <a:r>
              <a:rPr kumimoji="0" lang="fr-FR" altLang="fr-FR" sz="1200" b="0" i="0" u="none" strike="noStrike" cap="none" normalizeH="0" baseline="0" dirty="0">
                <a:ln>
                  <a:noFill/>
                </a:ln>
                <a:solidFill>
                  <a:schemeClr val="tx1"/>
                </a:solidFill>
                <a:effectLst/>
                <a:latin typeface="+mj-lt"/>
              </a:rPr>
              <a:t> les données sensibles (nom, prénom, téléphone…)</a:t>
            </a:r>
          </a:p>
          <a:p>
            <a:endParaRPr lang="fr-FR" dirty="0"/>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b="1" i="0" u="none" strike="noStrike" cap="none" normalizeH="0" baseline="0" dirty="0">
                <a:ln>
                  <a:noFill/>
                </a:ln>
                <a:solidFill>
                  <a:schemeClr val="tx1"/>
                </a:solidFill>
                <a:effectLst/>
                <a:latin typeface="+mj-lt"/>
              </a:rPr>
              <a:t>🧰 Étapes clés illustrées par le workflow KNIME :</a:t>
            </a:r>
          </a:p>
          <a:p>
            <a:pPr lvl="1" defTabSz="914400" eaLnBrk="0" fontAlgn="base" hangingPunct="0">
              <a:spcBef>
                <a:spcPct val="0"/>
              </a:spcBef>
              <a:spcAft>
                <a:spcPct val="0"/>
              </a:spcAft>
              <a:buFontTx/>
              <a:buAutoNum type="arabicPeriod"/>
            </a:pPr>
            <a:r>
              <a:rPr kumimoji="0" lang="fr-FR" altLang="fr-FR" sz="1400" b="1" i="0" u="none" strike="noStrike" cap="none" normalizeH="0" baseline="0" dirty="0">
                <a:ln>
                  <a:noFill/>
                </a:ln>
                <a:solidFill>
                  <a:schemeClr val="tx1"/>
                </a:solidFill>
                <a:effectLst/>
                <a:latin typeface="+mj-lt"/>
              </a:rPr>
              <a:t>Import via CSV Reader</a:t>
            </a:r>
            <a:r>
              <a:rPr kumimoji="0" lang="fr-FR" altLang="fr-FR" sz="1400" b="0" i="0" u="none" strike="noStrike" cap="none" normalizeH="0" baseline="0" dirty="0">
                <a:ln>
                  <a:noFill/>
                </a:ln>
                <a:solidFill>
                  <a:schemeClr val="tx1"/>
                </a:solidFill>
                <a:effectLst/>
                <a:latin typeface="+mj-lt"/>
              </a:rPr>
              <a:t> des fichiers : </a:t>
            </a:r>
            <a:r>
              <a:rPr kumimoji="0" lang="fr-FR" altLang="fr-FR" sz="1400" b="0" i="1" u="none" strike="noStrike" cap="none" normalizeH="0" baseline="0" dirty="0">
                <a:ln>
                  <a:noFill/>
                </a:ln>
                <a:solidFill>
                  <a:schemeClr val="tx1"/>
                </a:solidFill>
                <a:effectLst/>
                <a:latin typeface="+mj-lt"/>
              </a:rPr>
              <a:t>Salaries</a:t>
            </a:r>
            <a:r>
              <a:rPr kumimoji="0" lang="fr-FR" altLang="fr-FR" sz="1400" b="0" i="0" u="none" strike="noStrike" cap="none" normalizeH="0" baseline="0" dirty="0">
                <a:ln>
                  <a:noFill/>
                </a:ln>
                <a:solidFill>
                  <a:schemeClr val="tx1"/>
                </a:solidFill>
                <a:effectLst/>
                <a:latin typeface="+mj-lt"/>
              </a:rPr>
              <a:t>, </a:t>
            </a:r>
            <a:r>
              <a:rPr kumimoji="0" lang="fr-FR" altLang="fr-FR" sz="1400" b="0" i="1" u="none" strike="noStrike" cap="none" normalizeH="0" baseline="0" dirty="0" err="1">
                <a:ln>
                  <a:noFill/>
                </a:ln>
                <a:solidFill>
                  <a:schemeClr val="tx1"/>
                </a:solidFill>
                <a:effectLst/>
                <a:latin typeface="+mj-lt"/>
              </a:rPr>
              <a:t>Remuneration</a:t>
            </a:r>
            <a:r>
              <a:rPr kumimoji="0" lang="fr-FR" altLang="fr-FR" sz="1400" b="0" i="0" u="none" strike="noStrike" cap="none" normalizeH="0" baseline="0" dirty="0">
                <a:ln>
                  <a:noFill/>
                </a:ln>
                <a:solidFill>
                  <a:schemeClr val="tx1"/>
                </a:solidFill>
                <a:effectLst/>
                <a:latin typeface="+mj-lt"/>
              </a:rPr>
              <a:t>, </a:t>
            </a:r>
            <a:r>
              <a:rPr kumimoji="0" lang="fr-FR" altLang="fr-FR" sz="1400" b="0" i="1" u="none" strike="noStrike" cap="none" normalizeH="0" baseline="0" dirty="0" err="1">
                <a:ln>
                  <a:noFill/>
                </a:ln>
                <a:solidFill>
                  <a:schemeClr val="tx1"/>
                </a:solidFill>
                <a:effectLst/>
                <a:latin typeface="+mj-lt"/>
              </a:rPr>
              <a:t>Info_Pro</a:t>
            </a:r>
            <a:endParaRPr kumimoji="0" lang="fr-FR" altLang="fr-FR" sz="1400" b="0" i="1" u="none" strike="noStrike" cap="none" normalizeH="0" baseline="0" dirty="0">
              <a:ln>
                <a:noFill/>
              </a:ln>
              <a:solidFill>
                <a:schemeClr val="tx1"/>
              </a:solidFill>
              <a:effectLst/>
              <a:latin typeface="+mj-lt"/>
            </a:endParaRPr>
          </a:p>
          <a:p>
            <a:pPr lvl="1" defTabSz="914400" eaLnBrk="0" fontAlgn="base" hangingPunct="0">
              <a:spcBef>
                <a:spcPct val="0"/>
              </a:spcBef>
              <a:spcAft>
                <a:spcPct val="0"/>
              </a:spcAft>
              <a:buFontTx/>
              <a:buAutoNum type="arabicPeriod" startAt="2"/>
            </a:pPr>
            <a:r>
              <a:rPr kumimoji="0" lang="fr-FR" altLang="fr-FR" sz="1400" b="1" i="0" u="none" strike="noStrike" cap="none" normalizeH="0" baseline="0" dirty="0">
                <a:ln>
                  <a:noFill/>
                </a:ln>
                <a:solidFill>
                  <a:schemeClr val="tx1"/>
                </a:solidFill>
                <a:effectLst/>
                <a:latin typeface="+mj-lt"/>
              </a:rPr>
              <a:t>Nettoyage</a:t>
            </a:r>
            <a:r>
              <a:rPr kumimoji="0" lang="fr-FR" altLang="fr-FR" sz="1400" b="0" i="0" u="none" strike="noStrike" cap="none" normalizeH="0" baseline="0" dirty="0">
                <a:ln>
                  <a:noFill/>
                </a:ln>
                <a:solidFill>
                  <a:schemeClr val="tx1"/>
                </a:solidFill>
                <a:effectLst/>
                <a:latin typeface="+mj-lt"/>
              </a:rPr>
              <a:t> : gestion des valeurs manquantes (</a:t>
            </a:r>
            <a:r>
              <a:rPr kumimoji="0" lang="fr-FR" altLang="fr-FR" sz="1400" b="0" i="0" u="none" strike="noStrike" cap="none" normalizeH="0" baseline="0" dirty="0" err="1">
                <a:ln>
                  <a:noFill/>
                </a:ln>
                <a:solidFill>
                  <a:schemeClr val="tx1"/>
                </a:solidFill>
                <a:effectLst/>
                <a:latin typeface="+mj-lt"/>
              </a:rPr>
              <a:t>Missing</a:t>
            </a:r>
            <a:r>
              <a:rPr kumimoji="0" lang="fr-FR" altLang="fr-FR" sz="1400" b="0" i="0" u="none" strike="noStrike" cap="none" normalizeH="0" baseline="0" dirty="0">
                <a:ln>
                  <a:noFill/>
                </a:ln>
                <a:solidFill>
                  <a:schemeClr val="tx1"/>
                </a:solidFill>
                <a:effectLst/>
                <a:latin typeface="+mj-lt"/>
              </a:rPr>
              <a:t> Value), uniformisation (String Replacer)</a:t>
            </a:r>
          </a:p>
          <a:p>
            <a:pPr lvl="1" defTabSz="914400" eaLnBrk="0" fontAlgn="base" hangingPunct="0">
              <a:spcBef>
                <a:spcPct val="0"/>
              </a:spcBef>
              <a:spcAft>
                <a:spcPct val="0"/>
              </a:spcAft>
              <a:buFontTx/>
              <a:buAutoNum type="arabicPeriod" startAt="3"/>
            </a:pPr>
            <a:r>
              <a:rPr kumimoji="0" lang="fr-FR" altLang="fr-FR" sz="1400" b="1" i="0" u="none" strike="noStrike" cap="none" normalizeH="0" baseline="0" dirty="0">
                <a:ln>
                  <a:noFill/>
                </a:ln>
                <a:solidFill>
                  <a:schemeClr val="tx1"/>
                </a:solidFill>
                <a:effectLst/>
                <a:latin typeface="+mj-lt"/>
              </a:rPr>
              <a:t>Jointures</a:t>
            </a:r>
            <a:r>
              <a:rPr kumimoji="0" lang="fr-FR" altLang="fr-FR" sz="1400" b="0" i="0" u="none" strike="noStrike" cap="none" normalizeH="0" baseline="0" dirty="0">
                <a:ln>
                  <a:noFill/>
                </a:ln>
                <a:solidFill>
                  <a:schemeClr val="tx1"/>
                </a:solidFill>
                <a:effectLst/>
                <a:latin typeface="+mj-lt"/>
              </a:rPr>
              <a:t> des fichiers sur </a:t>
            </a:r>
            <a:r>
              <a:rPr kumimoji="0" lang="fr-FR" altLang="fr-FR" sz="1400" b="0" i="0" u="none" strike="noStrike" cap="none" normalizeH="0" baseline="0" dirty="0" err="1">
                <a:ln>
                  <a:noFill/>
                </a:ln>
                <a:solidFill>
                  <a:schemeClr val="tx1"/>
                </a:solidFill>
                <a:effectLst/>
                <a:latin typeface="+mj-lt"/>
              </a:rPr>
              <a:t>id_salarié</a:t>
            </a:r>
            <a:r>
              <a:rPr kumimoji="0" lang="fr-FR" altLang="fr-FR" sz="1400" b="0" i="0" u="none" strike="noStrike" cap="none" normalizeH="0" baseline="0" dirty="0">
                <a:ln>
                  <a:noFill/>
                </a:ln>
                <a:solidFill>
                  <a:schemeClr val="tx1"/>
                </a:solidFill>
                <a:effectLst/>
                <a:latin typeface="+mj-lt"/>
              </a:rPr>
              <a:t> (</a:t>
            </a:r>
            <a:r>
              <a:rPr kumimoji="0" lang="fr-FR" altLang="fr-FR" sz="1400" b="0" i="0" u="none" strike="noStrike" cap="none" normalizeH="0" baseline="0" dirty="0" err="1">
                <a:ln>
                  <a:noFill/>
                </a:ln>
                <a:solidFill>
                  <a:schemeClr val="tx1"/>
                </a:solidFill>
                <a:effectLst/>
                <a:latin typeface="+mj-lt"/>
              </a:rPr>
              <a:t>Joiner</a:t>
            </a:r>
            <a:r>
              <a:rPr kumimoji="0" lang="fr-FR" altLang="fr-FR" sz="1400" b="0" i="0" u="none" strike="noStrike" cap="none" normalizeH="0" baseline="0" dirty="0">
                <a:ln>
                  <a:noFill/>
                </a:ln>
                <a:solidFill>
                  <a:schemeClr val="tx1"/>
                </a:solidFill>
                <a:effectLst/>
                <a:latin typeface="+mj-lt"/>
              </a:rPr>
              <a:t>)</a:t>
            </a:r>
          </a:p>
          <a:p>
            <a:pPr lvl="1" defTabSz="914400" eaLnBrk="0" fontAlgn="base" hangingPunct="0">
              <a:spcBef>
                <a:spcPct val="0"/>
              </a:spcBef>
              <a:spcAft>
                <a:spcPct val="0"/>
              </a:spcAft>
              <a:buFontTx/>
              <a:buAutoNum type="arabicPeriod" startAt="4"/>
            </a:pPr>
            <a:r>
              <a:rPr kumimoji="0" lang="fr-FR" altLang="fr-FR" sz="1400" b="1" i="0" u="none" strike="noStrike" cap="none" normalizeH="0" baseline="0" dirty="0">
                <a:ln>
                  <a:noFill/>
                </a:ln>
                <a:solidFill>
                  <a:schemeClr val="tx1"/>
                </a:solidFill>
                <a:effectLst/>
                <a:latin typeface="+mj-lt"/>
              </a:rPr>
              <a:t>Transformation</a:t>
            </a:r>
            <a:r>
              <a:rPr kumimoji="0" lang="fr-FR" altLang="fr-FR" sz="1400" b="0" i="0" u="none" strike="noStrike" cap="none" normalizeH="0" baseline="0" dirty="0">
                <a:ln>
                  <a:noFill/>
                </a:ln>
                <a:solidFill>
                  <a:schemeClr val="tx1"/>
                </a:solidFill>
                <a:effectLst/>
                <a:latin typeface="+mj-lt"/>
              </a:rPr>
              <a:t> :</a:t>
            </a:r>
          </a:p>
          <a:p>
            <a:pPr lvl="2" defTabSz="914400" eaLnBrk="0" fontAlgn="base" hangingPunct="0">
              <a:spcBef>
                <a:spcPct val="0"/>
              </a:spcBef>
              <a:spcAft>
                <a:spcPct val="0"/>
              </a:spcAft>
              <a:buFontTx/>
              <a:buChar char="•"/>
            </a:pPr>
            <a:r>
              <a:rPr kumimoji="0" lang="fr-FR" altLang="fr-FR" sz="1400" b="0" i="0" u="none" strike="noStrike" cap="none" normalizeH="0" baseline="0" dirty="0">
                <a:ln>
                  <a:noFill/>
                </a:ln>
                <a:solidFill>
                  <a:schemeClr val="tx1"/>
                </a:solidFill>
                <a:effectLst/>
                <a:latin typeface="+mj-lt"/>
              </a:rPr>
              <a:t>Conversion de date (String to </a:t>
            </a:r>
            <a:r>
              <a:rPr kumimoji="0" lang="fr-FR" altLang="fr-FR" sz="1400" b="0" i="0" u="none" strike="noStrike" cap="none" normalizeH="0" baseline="0" dirty="0" err="1">
                <a:ln>
                  <a:noFill/>
                </a:ln>
                <a:solidFill>
                  <a:schemeClr val="tx1"/>
                </a:solidFill>
                <a:effectLst/>
                <a:latin typeface="+mj-lt"/>
              </a:rPr>
              <a:t>Date&amp;Time</a:t>
            </a:r>
            <a:r>
              <a:rPr kumimoji="0" lang="fr-FR" altLang="fr-FR" sz="1400" b="0" i="0" u="none" strike="noStrike" cap="none" normalizeH="0" baseline="0" dirty="0">
                <a:ln>
                  <a:noFill/>
                </a:ln>
                <a:solidFill>
                  <a:schemeClr val="tx1"/>
                </a:solidFill>
                <a:effectLst/>
                <a:latin typeface="+mj-lt"/>
              </a:rPr>
              <a:t>)</a:t>
            </a:r>
          </a:p>
          <a:p>
            <a:pPr lvl="2" defTabSz="914400" eaLnBrk="0" fontAlgn="base" hangingPunct="0">
              <a:spcBef>
                <a:spcPct val="0"/>
              </a:spcBef>
              <a:spcAft>
                <a:spcPct val="0"/>
              </a:spcAft>
              <a:buFontTx/>
              <a:buChar char="•"/>
            </a:pPr>
            <a:r>
              <a:rPr kumimoji="0" lang="fr-FR" altLang="fr-FR" sz="1400" b="0" i="0" u="none" strike="noStrike" cap="none" normalizeH="0" baseline="0" dirty="0">
                <a:ln>
                  <a:noFill/>
                </a:ln>
                <a:solidFill>
                  <a:schemeClr val="tx1"/>
                </a:solidFill>
                <a:effectLst/>
                <a:latin typeface="+mj-lt"/>
              </a:rPr>
              <a:t>Calcul de l’âge (</a:t>
            </a:r>
            <a:r>
              <a:rPr kumimoji="0" lang="fr-FR" altLang="fr-FR" sz="1400" b="0" i="0" u="none" strike="noStrike" cap="none" normalizeH="0" baseline="0" dirty="0" err="1">
                <a:ln>
                  <a:noFill/>
                </a:ln>
                <a:solidFill>
                  <a:schemeClr val="tx1"/>
                </a:solidFill>
                <a:effectLst/>
                <a:latin typeface="+mj-lt"/>
              </a:rPr>
              <a:t>Date&amp;Time</a:t>
            </a:r>
            <a:r>
              <a:rPr kumimoji="0" lang="fr-FR" altLang="fr-FR" sz="1400" b="0" i="0" u="none" strike="noStrike" cap="none" normalizeH="0" baseline="0" dirty="0">
                <a:ln>
                  <a:noFill/>
                </a:ln>
                <a:solidFill>
                  <a:schemeClr val="tx1"/>
                </a:solidFill>
                <a:effectLst/>
                <a:latin typeface="+mj-lt"/>
              </a:rPr>
              <a:t> </a:t>
            </a:r>
            <a:r>
              <a:rPr kumimoji="0" lang="fr-FR" altLang="fr-FR" sz="1400" b="0" i="0" u="none" strike="noStrike" cap="none" normalizeH="0" baseline="0" dirty="0" err="1">
                <a:ln>
                  <a:noFill/>
                </a:ln>
                <a:solidFill>
                  <a:schemeClr val="tx1"/>
                </a:solidFill>
                <a:effectLst/>
                <a:latin typeface="+mj-lt"/>
              </a:rPr>
              <a:t>Difference</a:t>
            </a:r>
            <a:r>
              <a:rPr kumimoji="0" lang="fr-FR" altLang="fr-FR" sz="1400" b="0" i="0" u="none" strike="noStrike" cap="none" normalizeH="0" baseline="0" dirty="0">
                <a:ln>
                  <a:noFill/>
                </a:ln>
                <a:solidFill>
                  <a:schemeClr val="tx1"/>
                </a:solidFill>
                <a:effectLst/>
                <a:latin typeface="+mj-lt"/>
              </a:rPr>
              <a:t>)</a:t>
            </a:r>
          </a:p>
          <a:p>
            <a:pPr lvl="2" defTabSz="914400" eaLnBrk="0" fontAlgn="base" hangingPunct="0">
              <a:spcBef>
                <a:spcPct val="0"/>
              </a:spcBef>
              <a:spcAft>
                <a:spcPct val="0"/>
              </a:spcAft>
              <a:buFontTx/>
              <a:buChar char="•"/>
            </a:pPr>
            <a:r>
              <a:rPr kumimoji="0" lang="fr-FR" altLang="fr-FR" sz="1400" b="0" i="0" u="none" strike="noStrike" cap="none" normalizeH="0" baseline="0" dirty="0">
                <a:ln>
                  <a:noFill/>
                </a:ln>
                <a:solidFill>
                  <a:schemeClr val="tx1"/>
                </a:solidFill>
                <a:effectLst/>
                <a:latin typeface="+mj-lt"/>
              </a:rPr>
              <a:t>Création des </a:t>
            </a:r>
            <a:r>
              <a:rPr kumimoji="0" lang="fr-FR" altLang="fr-FR" sz="1400" b="1" i="0" u="none" strike="noStrike" cap="none" normalizeH="0" baseline="0" dirty="0">
                <a:ln>
                  <a:noFill/>
                </a:ln>
                <a:solidFill>
                  <a:schemeClr val="tx1"/>
                </a:solidFill>
                <a:effectLst/>
                <a:latin typeface="+mj-lt"/>
              </a:rPr>
              <a:t>tranches d’âge et d’ancienneté</a:t>
            </a:r>
            <a:r>
              <a:rPr kumimoji="0" lang="fr-FR" altLang="fr-FR" sz="1400" b="0" i="0" u="none" strike="noStrike" cap="none" normalizeH="0" baseline="0" dirty="0">
                <a:ln>
                  <a:noFill/>
                </a:ln>
                <a:solidFill>
                  <a:schemeClr val="tx1"/>
                </a:solidFill>
                <a:effectLst/>
                <a:latin typeface="+mj-lt"/>
              </a:rPr>
              <a:t> (Rule Engine)</a:t>
            </a:r>
          </a:p>
          <a:p>
            <a:pPr lvl="2" defTabSz="914400" eaLnBrk="0" fontAlgn="base" hangingPunct="0">
              <a:spcBef>
                <a:spcPct val="0"/>
              </a:spcBef>
              <a:spcAft>
                <a:spcPct val="0"/>
              </a:spcAft>
              <a:buFontTx/>
              <a:buChar char="•"/>
            </a:pPr>
            <a:r>
              <a:rPr kumimoji="0" lang="fr-FR" altLang="fr-FR" sz="1400" b="0" i="0" u="none" strike="noStrike" cap="none" normalizeH="0" baseline="0" dirty="0">
                <a:ln>
                  <a:noFill/>
                </a:ln>
                <a:solidFill>
                  <a:schemeClr val="tx1"/>
                </a:solidFill>
                <a:effectLst/>
                <a:latin typeface="+mj-lt"/>
              </a:rPr>
              <a:t>Calcul des </a:t>
            </a:r>
            <a:r>
              <a:rPr kumimoji="0" lang="fr-FR" altLang="fr-FR" sz="1400" b="1" i="0" u="none" strike="noStrike" cap="none" normalizeH="0" baseline="0" dirty="0">
                <a:ln>
                  <a:noFill/>
                </a:ln>
                <a:solidFill>
                  <a:schemeClr val="tx1"/>
                </a:solidFill>
                <a:effectLst/>
                <a:latin typeface="+mj-lt"/>
              </a:rPr>
              <a:t>rémunérations annuelles et ETP</a:t>
            </a:r>
            <a:r>
              <a:rPr kumimoji="0" lang="fr-FR" altLang="fr-FR" sz="1400" b="0" i="0" u="none" strike="noStrike" cap="none" normalizeH="0" baseline="0" dirty="0">
                <a:ln>
                  <a:noFill/>
                </a:ln>
                <a:solidFill>
                  <a:schemeClr val="tx1"/>
                </a:solidFill>
                <a:effectLst/>
                <a:latin typeface="+mj-lt"/>
              </a:rPr>
              <a:t> (Math Formula)</a:t>
            </a:r>
          </a:p>
          <a:p>
            <a:pPr lvl="2" defTabSz="914400" eaLnBrk="0" fontAlgn="base" hangingPunct="0">
              <a:spcBef>
                <a:spcPct val="0"/>
              </a:spcBef>
              <a:spcAft>
                <a:spcPct val="0"/>
              </a:spcAft>
              <a:buFontTx/>
              <a:buChar char="•"/>
            </a:pPr>
            <a:r>
              <a:rPr kumimoji="0" lang="fr-FR" altLang="fr-FR" sz="1400" b="0" i="0" u="none" strike="noStrike" cap="none" normalizeH="0" baseline="0" dirty="0">
                <a:ln>
                  <a:noFill/>
                </a:ln>
                <a:solidFill>
                  <a:schemeClr val="tx1"/>
                </a:solidFill>
                <a:effectLst/>
                <a:latin typeface="+mj-lt"/>
              </a:rPr>
              <a:t>Création de la variable CSP </a:t>
            </a:r>
            <a:r>
              <a:rPr lang="fr-FR" sz="2000" b="1" dirty="0"/>
              <a:t>(provisoire, </a:t>
            </a:r>
            <a:r>
              <a:rPr lang="fr-FR" sz="3200" b="1" dirty="0"/>
              <a:t>à partir de la rémunération annuelle totale</a:t>
            </a:r>
            <a:r>
              <a:rPr lang="fr-FR" sz="3200" dirty="0"/>
              <a:t>, faute de données catégorielles disponibles à ce jour</a:t>
            </a:r>
            <a:r>
              <a:rPr lang="fr-FR" sz="2000" b="1" dirty="0"/>
              <a:t>)</a:t>
            </a:r>
            <a:r>
              <a:rPr lang="fr-FR" sz="2000" dirty="0"/>
              <a:t> (</a:t>
            </a:r>
            <a:r>
              <a:rPr lang="fr-FR" sz="2000" dirty="0" err="1"/>
              <a:t>rule</a:t>
            </a:r>
            <a:r>
              <a:rPr lang="fr-FR" sz="2000" dirty="0"/>
              <a:t> engine):</a:t>
            </a:r>
          </a:p>
          <a:p>
            <a:pPr lvl="3" defTabSz="914400" eaLnBrk="0" fontAlgn="base" hangingPunct="0">
              <a:spcBef>
                <a:spcPct val="0"/>
              </a:spcBef>
              <a:spcAft>
                <a:spcPct val="0"/>
              </a:spcAft>
              <a:buFontTx/>
              <a:buChar char="•"/>
            </a:pPr>
            <a:r>
              <a:rPr lang="fr-FR" sz="2000" dirty="0"/>
              <a:t>&lt;= 30 000 € → </a:t>
            </a:r>
            <a:r>
              <a:rPr lang="fr-FR" sz="2000" b="1" dirty="0"/>
              <a:t>Employé</a:t>
            </a:r>
          </a:p>
          <a:p>
            <a:pPr lvl="3" defTabSz="914400" eaLnBrk="0" fontAlgn="base" hangingPunct="0">
              <a:spcBef>
                <a:spcPct val="0"/>
              </a:spcBef>
              <a:spcAft>
                <a:spcPct val="0"/>
              </a:spcAft>
              <a:buFontTx/>
              <a:buChar char="•"/>
            </a:pPr>
            <a:r>
              <a:rPr lang="fr-FR" sz="2000" dirty="0"/>
              <a:t>30 001 – 50 000 € → </a:t>
            </a:r>
            <a:r>
              <a:rPr lang="fr-FR" sz="2000" b="1" dirty="0"/>
              <a:t>Profession intermédiaire</a:t>
            </a:r>
          </a:p>
          <a:p>
            <a:pPr lvl="3" defTabSz="914400" eaLnBrk="0" fontAlgn="base" hangingPunct="0">
              <a:spcBef>
                <a:spcPct val="0"/>
              </a:spcBef>
              <a:spcAft>
                <a:spcPct val="0"/>
              </a:spcAft>
              <a:buFontTx/>
              <a:buChar char="•"/>
            </a:pPr>
            <a:r>
              <a:rPr lang="fr-FR" sz="2000" dirty="0"/>
              <a:t>&gt; 50 000 € → </a:t>
            </a:r>
            <a:r>
              <a:rPr lang="fr-FR" sz="2000" b="1" dirty="0"/>
              <a:t>Cadre</a:t>
            </a:r>
            <a:endParaRPr lang="fr-FR" sz="2000" dirty="0"/>
          </a:p>
          <a:p>
            <a:pPr lvl="1" defTabSz="914400" eaLnBrk="0" fontAlgn="base" hangingPunct="0">
              <a:spcBef>
                <a:spcPct val="0"/>
              </a:spcBef>
              <a:spcAft>
                <a:spcPct val="0"/>
              </a:spcAft>
              <a:buFontTx/>
              <a:buAutoNum type="arabicPeriod" startAt="5"/>
            </a:pPr>
            <a:r>
              <a:rPr kumimoji="0" lang="fr-FR" altLang="fr-FR" sz="1400" b="1" i="0" u="none" strike="noStrike" cap="none" normalizeH="0" baseline="0" dirty="0">
                <a:ln>
                  <a:noFill/>
                </a:ln>
                <a:solidFill>
                  <a:schemeClr val="tx1"/>
                </a:solidFill>
                <a:effectLst/>
                <a:latin typeface="+mj-lt"/>
              </a:rPr>
              <a:t>Anonymisation</a:t>
            </a:r>
            <a:r>
              <a:rPr kumimoji="0" lang="fr-FR" altLang="fr-FR" sz="1400" b="0" i="0" u="none" strike="noStrike" cap="none" normalizeH="0" baseline="0" dirty="0">
                <a:ln>
                  <a:noFill/>
                </a:ln>
                <a:solidFill>
                  <a:schemeClr val="tx1"/>
                </a:solidFill>
                <a:effectLst/>
                <a:latin typeface="+mj-lt"/>
              </a:rPr>
              <a:t> : suppression des champs sensibles via </a:t>
            </a:r>
            <a:r>
              <a:rPr kumimoji="0" lang="fr-FR" altLang="fr-FR" sz="1400" b="0" i="0" u="none" strike="noStrike" cap="none" normalizeH="0" baseline="0" dirty="0" err="1">
                <a:ln>
                  <a:noFill/>
                </a:ln>
                <a:solidFill>
                  <a:schemeClr val="tx1"/>
                </a:solidFill>
                <a:effectLst/>
                <a:latin typeface="+mj-lt"/>
              </a:rPr>
              <a:t>Column</a:t>
            </a:r>
            <a:r>
              <a:rPr kumimoji="0" lang="fr-FR" altLang="fr-FR" sz="1400" b="0" i="0" u="none" strike="noStrike" cap="none" normalizeH="0" baseline="0" dirty="0">
                <a:ln>
                  <a:noFill/>
                </a:ln>
                <a:solidFill>
                  <a:schemeClr val="tx1"/>
                </a:solidFill>
                <a:effectLst/>
                <a:latin typeface="+mj-lt"/>
              </a:rPr>
              <a:t> </a:t>
            </a:r>
            <a:r>
              <a:rPr kumimoji="0" lang="fr-FR" altLang="fr-FR" sz="1400" b="0" i="0" u="none" strike="noStrike" cap="none" normalizeH="0" baseline="0" dirty="0" err="1">
                <a:ln>
                  <a:noFill/>
                </a:ln>
                <a:solidFill>
                  <a:schemeClr val="tx1"/>
                </a:solidFill>
                <a:effectLst/>
                <a:latin typeface="+mj-lt"/>
              </a:rPr>
              <a:t>Filter</a:t>
            </a:r>
            <a:endParaRPr kumimoji="0" lang="fr-FR" altLang="fr-FR" sz="1400" b="0" i="0" u="none" strike="noStrike" cap="none" normalizeH="0" baseline="0" dirty="0">
              <a:ln>
                <a:noFill/>
              </a:ln>
              <a:solidFill>
                <a:schemeClr val="tx1"/>
              </a:solidFill>
              <a:effectLst/>
              <a:latin typeface="+mj-lt"/>
            </a:endParaRPr>
          </a:p>
          <a:p>
            <a:pPr lvl="1" defTabSz="914400" eaLnBrk="0" fontAlgn="base" hangingPunct="0">
              <a:spcBef>
                <a:spcPct val="0"/>
              </a:spcBef>
              <a:spcAft>
                <a:spcPct val="0"/>
              </a:spcAft>
              <a:buFontTx/>
              <a:buNone/>
            </a:pPr>
            <a:endParaRPr kumimoji="0" lang="fr-FR" altLang="fr-FR" sz="1400" b="0" i="0" u="none" strike="noStrike" cap="none" normalizeH="0" baseline="0" dirty="0">
              <a:ln>
                <a:noFill/>
              </a:ln>
              <a:solidFill>
                <a:schemeClr val="tx1"/>
              </a:solidFill>
              <a:effectLst/>
              <a:latin typeface="+mj-lt"/>
            </a:endParaRPr>
          </a:p>
          <a:p>
            <a:pPr lvl="1" defTabSz="914400" eaLnBrk="0" fontAlgn="base" hangingPunct="0">
              <a:spcBef>
                <a:spcPct val="0"/>
              </a:spcBef>
              <a:spcAft>
                <a:spcPct val="0"/>
              </a:spcAft>
              <a:buFontTx/>
              <a:buNone/>
            </a:pPr>
            <a:endParaRPr kumimoji="0" lang="fr-FR" altLang="fr-FR" sz="1400" b="0" i="0" u="none" strike="noStrike" cap="none" normalizeH="0" baseline="0" dirty="0">
              <a:ln>
                <a:noFill/>
              </a:ln>
              <a:solidFill>
                <a:schemeClr val="tx1"/>
              </a:solidFill>
              <a:effectLst/>
              <a:latin typeface="+mj-lt"/>
            </a:endParaRPr>
          </a:p>
          <a:p>
            <a:pPr lvl="1" defTabSz="914400" eaLnBrk="0" fontAlgn="base" hangingPunct="0">
              <a:spcBef>
                <a:spcPct val="0"/>
              </a:spcBef>
              <a:spcAft>
                <a:spcPct val="0"/>
              </a:spcAft>
              <a:buFontTx/>
              <a:buNone/>
            </a:pPr>
            <a:r>
              <a:rPr lang="fr-FR" sz="2000" dirty="0"/>
              <a:t>N’ayant pas encore reçu la classification socio-professionnelle officielle, j’ai créé une variable CSP provisoire selon la rémunération annuelle totale. Cette approche me permet de calculer les indicateurs tout en laissant la possibilité d’un ajustement ultérieur, sans modifier la structure du workflow. </a:t>
            </a:r>
            <a:endParaRPr kumimoji="0" lang="fr-FR" altLang="fr-FR" sz="1400" b="0" i="0" u="none" strike="noStrike" cap="none" normalizeH="0" baseline="0" dirty="0">
              <a:ln>
                <a:noFill/>
              </a:ln>
              <a:solidFill>
                <a:schemeClr val="tx1"/>
              </a:solidFill>
              <a:effectLst/>
              <a:latin typeface="+mj-lt"/>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Présentation</a:t>
            </a:r>
            <a:r>
              <a:rPr dirty="0"/>
              <a:t> du </a:t>
            </a:r>
            <a:r>
              <a:rPr dirty="0" err="1"/>
              <a:t>fichier</a:t>
            </a:r>
            <a:r>
              <a:rPr dirty="0"/>
              <a:t> final .csv </a:t>
            </a:r>
            <a:r>
              <a:rPr dirty="0" err="1"/>
              <a:t>généré</a:t>
            </a:r>
            <a:r>
              <a:rPr dirty="0"/>
              <a:t>, prêt pour Tableau, </a:t>
            </a:r>
            <a:r>
              <a:rPr dirty="0" err="1"/>
              <a:t>conforme</a:t>
            </a:r>
            <a:r>
              <a:rPr dirty="0"/>
              <a:t> au RGPD.</a:t>
            </a:r>
            <a:endParaRPr lang="fr-FR" dirty="0"/>
          </a:p>
          <a:p>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Le fichier final contient toutes les variables nécessaires pour calculer les indicateurs. Il est directement réutilisable dans Tableau, et a été conçu pour respecter rigoureusement le RGPD. Cela permet à Vincent et à l’équipe RH de travailler sur un fichier fiable, sans risquer d'exposer des données sensibles. </a:t>
            </a:r>
          </a:p>
          <a:p>
            <a:endParaRPr lang="fr-F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de transition sur l’analyse exploratoire réalisée avant les indicateurs.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Premier </a:t>
            </a:r>
            <a:r>
              <a:rPr dirty="0" err="1"/>
              <a:t>indicateur</a:t>
            </a:r>
            <a:r>
              <a:rPr dirty="0"/>
              <a:t> </a:t>
            </a:r>
            <a:r>
              <a:rPr dirty="0" err="1"/>
              <a:t>officiel</a:t>
            </a:r>
            <a:r>
              <a:rPr dirty="0"/>
              <a:t> : </a:t>
            </a:r>
            <a:r>
              <a:rPr dirty="0" err="1"/>
              <a:t>écart</a:t>
            </a:r>
            <a:r>
              <a:rPr dirty="0"/>
              <a:t> de </a:t>
            </a:r>
            <a:r>
              <a:rPr dirty="0" err="1"/>
              <a:t>rémunération</a:t>
            </a:r>
            <a:r>
              <a:rPr dirty="0"/>
              <a:t>, </a:t>
            </a:r>
            <a:r>
              <a:rPr dirty="0" err="1"/>
              <a:t>calculé</a:t>
            </a:r>
            <a:r>
              <a:rPr dirty="0"/>
              <a:t> par CSP et tranche </a:t>
            </a:r>
            <a:r>
              <a:rPr dirty="0" err="1"/>
              <a:t>d’âge</a:t>
            </a:r>
            <a:r>
              <a:rPr dirty="0"/>
              <a:t>.</a:t>
            </a:r>
            <a:endParaRPr lang="fr-FR" dirty="0"/>
          </a:p>
          <a:p>
            <a:endParaRPr lang="fr-FR" dirty="0"/>
          </a:p>
          <a:p>
            <a:r>
              <a:rPr lang="fr-FR" dirty="0"/>
              <a:t>Cet indicateur est le plus structurant de l’Index Égalité. Il repose sur une comparaison fine par catégorie socio-professionnelle et tranche d’âge. </a:t>
            </a:r>
          </a:p>
          <a:p>
            <a:r>
              <a:rPr lang="fr-FR" dirty="0"/>
              <a:t>Grâce au traitement automatisé dans KNIME, j’ai pu mesurer un écart de rémunération moyen de 3,8 %, pondéré par catégorie. Ce résultat nous positionne à 36 sur 40, ce qui est plutôt satisfaisant mais laisse une marge d’amélioration. </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Indicateur</a:t>
            </a:r>
            <a:r>
              <a:rPr dirty="0"/>
              <a:t> 2 sur les augmentations </a:t>
            </a:r>
            <a:r>
              <a:rPr dirty="0" err="1"/>
              <a:t>individuelles</a:t>
            </a:r>
            <a:r>
              <a:rPr dirty="0"/>
              <a:t>, avec </a:t>
            </a:r>
            <a:r>
              <a:rPr dirty="0" err="1"/>
              <a:t>neutralisation</a:t>
            </a:r>
            <a:r>
              <a:rPr dirty="0"/>
              <a:t> </a:t>
            </a:r>
            <a:r>
              <a:rPr dirty="0" err="1"/>
              <a:t>appliquée</a:t>
            </a:r>
            <a:r>
              <a:rPr dirty="0"/>
              <a:t>.</a:t>
            </a:r>
            <a:endParaRPr lang="fr-FR" dirty="0"/>
          </a:p>
          <a:p>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 Ici, l’écart global pondéré est de –7,12 %, ce qui signifie que les femmes ont eu proportionnellement plus d’augmentations individuelles que les hommes. Comme les femmes sont également le sexe le moins rémunéré selon l’indicateur 1, l’entreprise obtient ici la note maximale de 20 sur 20. »</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Indicateur</a:t>
            </a:r>
            <a:r>
              <a:rPr dirty="0"/>
              <a:t> 3 sur les promotions, avec </a:t>
            </a:r>
            <a:r>
              <a:rPr dirty="0" err="1"/>
              <a:t>écart</a:t>
            </a:r>
            <a:r>
              <a:rPr dirty="0"/>
              <a:t> </a:t>
            </a:r>
            <a:r>
              <a:rPr dirty="0" err="1"/>
              <a:t>en</a:t>
            </a:r>
            <a:r>
              <a:rPr dirty="0"/>
              <a:t> </a:t>
            </a:r>
            <a:r>
              <a:rPr dirty="0" err="1"/>
              <a:t>faveur</a:t>
            </a:r>
            <a:r>
              <a:rPr dirty="0"/>
              <a:t> des femmes.</a:t>
            </a:r>
            <a:endParaRPr lang="fr-BE" dirty="0"/>
          </a:p>
          <a:p>
            <a:endParaRPr lang="fr-FR" dirty="0"/>
          </a:p>
          <a:p>
            <a:r>
              <a:rPr lang="fr-FR" dirty="0"/>
              <a:t>Ici encore, le calcul a été mené par CSP et pondéré en fonction de l’effectif. L’écart global ressort à –0,997 %, en faveur des femmes. Étant donné que ce sont elles qui restent les moins rémunérées, l’entreprise obtient automatiquement la note maximale de 15</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Indicateur 4 : toutes les femmes de retour de congé maternité ont été augmentées.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Indicateur</a:t>
            </a:r>
            <a:r>
              <a:rPr dirty="0"/>
              <a:t> 5 : 1 </a:t>
            </a:r>
            <a:r>
              <a:rPr dirty="0" err="1"/>
              <a:t>seule</a:t>
            </a:r>
            <a:r>
              <a:rPr dirty="0"/>
              <a:t> femme </a:t>
            </a:r>
            <a:r>
              <a:rPr dirty="0" err="1"/>
              <a:t>parmi</a:t>
            </a:r>
            <a:r>
              <a:rPr dirty="0"/>
              <a:t> les 10 plus </a:t>
            </a:r>
            <a:r>
              <a:rPr dirty="0" err="1"/>
              <a:t>hauts</a:t>
            </a:r>
            <a:r>
              <a:rPr dirty="0"/>
              <a:t> </a:t>
            </a:r>
            <a:r>
              <a:rPr dirty="0" err="1"/>
              <a:t>salaires</a:t>
            </a:r>
            <a:r>
              <a:rPr dirty="0"/>
              <a:t>, note = 0.</a:t>
            </a:r>
            <a:endParaRPr lang="fr-BE" dirty="0"/>
          </a:p>
          <a:p>
            <a:endParaRPr lang="fr-FR" dirty="0"/>
          </a:p>
          <a:p>
            <a:r>
              <a:rPr lang="fr-FR" dirty="0"/>
              <a:t>Cet indicateur reflète la répartition hommes/femmes parmi les rémunérations les plus élevées de l’entreprise. Avec une seule femme sur les 10 plus hauts salaires, l’entreprise ne remplit pas les critères de parité attendus ici, et obtient donc une note de 0. Cela met en lumière un axe d’amélioration important. »</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de </a:t>
            </a:r>
            <a:r>
              <a:rPr dirty="0" err="1"/>
              <a:t>synthèse</a:t>
            </a:r>
            <a:r>
              <a:rPr dirty="0"/>
              <a:t> avec bar chart </a:t>
            </a:r>
            <a:r>
              <a:rPr dirty="0" err="1"/>
              <a:t>visuel</a:t>
            </a:r>
            <a:r>
              <a:rPr dirty="0"/>
              <a:t> et total : 86 / 100.</a:t>
            </a:r>
            <a:endParaRPr lang="fr-BE" dirty="0"/>
          </a:p>
          <a:p>
            <a:endParaRPr lang="fr-FR" dirty="0"/>
          </a:p>
          <a:p>
            <a:r>
              <a:rPr lang="fr-FR" dirty="0"/>
              <a:t>L’entreprise obtient une note globale de 86/100, ce qui est un très bon score. On constate des efforts significatifs sur les augmentations, les promotions, et le retour de congé maternité. En revanche, la parité parmi les plus hautes rémunérations reste un point d’attention majeur à travailler dans les années à venir.</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Recommandations</a:t>
            </a:r>
            <a:r>
              <a:rPr dirty="0"/>
              <a:t> </a:t>
            </a:r>
            <a:r>
              <a:rPr dirty="0" err="1"/>
              <a:t>concrètes</a:t>
            </a:r>
            <a:r>
              <a:rPr dirty="0"/>
              <a:t> pour </a:t>
            </a:r>
            <a:r>
              <a:rPr dirty="0" err="1"/>
              <a:t>renforcer</a:t>
            </a:r>
            <a:r>
              <a:rPr dirty="0"/>
              <a:t> la </a:t>
            </a:r>
            <a:r>
              <a:rPr dirty="0" err="1"/>
              <a:t>parité</a:t>
            </a:r>
            <a:r>
              <a:rPr dirty="0"/>
              <a:t> et </a:t>
            </a:r>
            <a:r>
              <a:rPr dirty="0" err="1"/>
              <a:t>pérenniser</a:t>
            </a:r>
            <a:r>
              <a:rPr dirty="0"/>
              <a:t> </a:t>
            </a:r>
            <a:r>
              <a:rPr dirty="0" err="1"/>
              <a:t>l’analyse</a:t>
            </a:r>
            <a:r>
              <a:rPr dirty="0"/>
              <a:t> via KNIME + Tableau.</a:t>
            </a:r>
            <a:endParaRPr lang="fr-BE" dirty="0"/>
          </a:p>
          <a:p>
            <a:endParaRPr lang="fr-FR" dirty="0"/>
          </a:p>
          <a:p>
            <a:r>
              <a:rPr lang="fr-FR" dirty="0"/>
              <a:t>Ce diagnostic montre une dynamique RH globalement très positive, avec plusieurs indicateurs au maximum. L’automatisation via KNIME garantit la durabilité du dispositif. L’effort pourra désormais se concentrer sur la représentation féminine dans les fonctions les plus stratégiques. »</a:t>
            </a:r>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BBB6990-2274-4014-99E6-223958E7646E}" type="datetime1">
              <a:rPr lang="en-US" smtClean="0"/>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30DDEAB-354E-492B-B5D9-60FCC03246CC}" type="datetime1">
              <a:rPr lang="en-US" smtClean="0"/>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053F9C-DD9E-42AA-982B-8444F67343ED}" type="datetime1">
              <a:rPr lang="en-US" smtClean="0"/>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BFBA6-B0C5-414B-97B9-D5803F385A1C}" type="datetime1">
              <a:rPr lang="en-US" smtClean="0"/>
              <a:t>4/17/2025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A5004A0-33A6-44B5-BC0B-95E2B47C724B}" type="datetime1">
              <a:rPr lang="en-US" smtClean="0"/>
              <a:t>4/17/2025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A51CD90-A76A-4EB0-8C6B-69AD162B01D6}" type="datetime1">
              <a:rPr lang="en-US" smtClean="0"/>
              <a:t>4/17/2025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04CFC8B-8F48-46D6-B881-C96F25BA7CDF}" type="datetime1">
              <a:rPr lang="en-US" smtClean="0"/>
              <a:t>4/17/2025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B991841-E18B-4247-B276-BC131F9F532D}" type="datetime1">
              <a:rPr lang="en-US" smtClean="0"/>
              <a:t>4/17/2025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59802A4-DFCC-4C30-878F-3E8ACAC62567}" type="datetime1">
              <a:rPr lang="en-US" smtClean="0"/>
              <a:t>4/17/2025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7E33EB6-B50C-4717-9E98-76EFED4B405D}" type="datetime1">
              <a:rPr lang="en-US" smtClean="0"/>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61D23C7-CCC5-4ACA-AA66-DCB6184D9DDB}" type="datetime1">
              <a:rPr lang="en-US" smtClean="0"/>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797451-9267-41F2-BEDA-4D074AD70765}" type="datetime1">
              <a:rPr lang="en-US" smtClean="0"/>
              <a:t>4/17/2025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image.png"/>
          <p:cNvPicPr>
            <a:picLocks noChangeAspect="1"/>
          </p:cNvPicPr>
          <p:nvPr/>
        </p:nvPicPr>
        <p:blipFill>
          <a:blip r:embed="rId3"/>
          <a:stretch>
            <a:fillRect/>
          </a:stretch>
        </p:blipFill>
        <p:spPr>
          <a:xfrm>
            <a:off x="7058051" y="0"/>
            <a:ext cx="2085949" cy="2085949"/>
          </a:xfrm>
          <a:prstGeom prst="rect">
            <a:avLst/>
          </a:prstGeom>
        </p:spPr>
      </p:pic>
      <p:sp>
        <p:nvSpPr>
          <p:cNvPr id="2" name="Rectangle 1"/>
          <p:cNvSpPr/>
          <p:nvPr/>
        </p:nvSpPr>
        <p:spPr>
          <a:xfrm>
            <a:off x="0" y="0"/>
            <a:ext cx="7058051" cy="2085949"/>
          </a:xfrm>
          <a:prstGeom prst="rect">
            <a:avLst/>
          </a:prstGeom>
          <a:solidFill>
            <a:srgbClr val="1A2A44"/>
          </a:solidFill>
        </p:spPr>
        <p:style>
          <a:lnRef idx="1">
            <a:schemeClr val="accent1"/>
          </a:lnRef>
          <a:fillRef idx="3">
            <a:schemeClr val="accent1"/>
          </a:fillRef>
          <a:effectRef idx="2">
            <a:schemeClr val="accent1"/>
          </a:effectRef>
          <a:fontRef idx="minor">
            <a:schemeClr val="lt1"/>
          </a:fontRef>
        </p:style>
        <p:txBody>
          <a:bodyPr rtlCol="0" anchor="ctr"/>
          <a:lstStyle/>
          <a:p>
            <a:pPr>
              <a:defRPr sz="2400" b="1">
                <a:solidFill>
                  <a:srgbClr val="FFFFFF"/>
                </a:solidFill>
              </a:defRPr>
            </a:pPr>
            <a:endParaRPr/>
          </a:p>
        </p:txBody>
      </p:sp>
      <p:sp>
        <p:nvSpPr>
          <p:cNvPr id="4" name="TextBox 3"/>
          <p:cNvSpPr txBox="1"/>
          <p:nvPr/>
        </p:nvSpPr>
        <p:spPr>
          <a:xfrm>
            <a:off x="125929" y="89072"/>
            <a:ext cx="6806194" cy="1785104"/>
          </a:xfrm>
          <a:prstGeom prst="rect">
            <a:avLst/>
          </a:prstGeom>
          <a:noFill/>
        </p:spPr>
        <p:txBody>
          <a:bodyPr wrap="square">
            <a:spAutoFit/>
          </a:bodyPr>
          <a:lstStyle/>
          <a:p>
            <a:endParaRPr sz="1600" dirty="0"/>
          </a:p>
          <a:p>
            <a:pPr algn="l">
              <a:defRPr sz="3600" b="1">
                <a:solidFill>
                  <a:srgbClr val="1A2A44"/>
                </a:solidFill>
              </a:defRPr>
            </a:pPr>
            <a:r>
              <a:rPr sz="3200" dirty="0">
                <a:solidFill>
                  <a:schemeClr val="bg1"/>
                </a:solidFill>
              </a:rPr>
              <a:t>Diagnostic de </a:t>
            </a:r>
            <a:r>
              <a:rPr sz="3200" dirty="0" err="1">
                <a:solidFill>
                  <a:schemeClr val="bg1"/>
                </a:solidFill>
              </a:rPr>
              <a:t>l’égalité</a:t>
            </a:r>
            <a:r>
              <a:rPr sz="3200" dirty="0">
                <a:solidFill>
                  <a:schemeClr val="bg1"/>
                </a:solidFill>
              </a:rPr>
              <a:t> </a:t>
            </a:r>
            <a:r>
              <a:rPr sz="3200" dirty="0" err="1">
                <a:solidFill>
                  <a:schemeClr val="bg1"/>
                </a:solidFill>
              </a:rPr>
              <a:t>professionnelle</a:t>
            </a:r>
            <a:br>
              <a:rPr sz="3200" dirty="0">
                <a:solidFill>
                  <a:schemeClr val="bg1"/>
                </a:solidFill>
              </a:rPr>
            </a:br>
            <a:r>
              <a:rPr sz="3200" dirty="0">
                <a:solidFill>
                  <a:schemeClr val="bg1"/>
                </a:solidFill>
              </a:rPr>
              <a:t>Femmes / Hommes</a:t>
            </a:r>
            <a:endParaRPr lang="fr-BE" sz="2000" b="1" dirty="0">
              <a:solidFill>
                <a:schemeClr val="bg1"/>
              </a:solidFill>
            </a:endParaRPr>
          </a:p>
          <a:p>
            <a:pPr algn="l">
              <a:defRPr sz="3600" b="1">
                <a:solidFill>
                  <a:srgbClr val="1A2A44"/>
                </a:solidFill>
              </a:defRPr>
            </a:pPr>
            <a:endParaRPr lang="fr-FR" sz="1000" b="1" i="1" dirty="0">
              <a:solidFill>
                <a:schemeClr val="bg1"/>
              </a:solidFill>
            </a:endParaRPr>
          </a:p>
          <a:p>
            <a:pPr algn="l">
              <a:defRPr sz="3600" b="1">
                <a:solidFill>
                  <a:srgbClr val="1A2A44"/>
                </a:solidFill>
              </a:defRPr>
            </a:pPr>
            <a:r>
              <a:rPr lang="fr-FR" sz="2000" b="1" i="1" dirty="0" err="1">
                <a:solidFill>
                  <a:schemeClr val="bg1"/>
                </a:solidFill>
              </a:rPr>
              <a:t>NovaScope</a:t>
            </a:r>
            <a:r>
              <a:rPr lang="fr-FR" sz="2000" b="1" i="1" dirty="0">
                <a:solidFill>
                  <a:schemeClr val="bg1"/>
                </a:solidFill>
              </a:rPr>
              <a:t> Conseil, cabinet de transformation digitale</a:t>
            </a:r>
            <a:endParaRPr sz="2000" b="1" i="1" dirty="0">
              <a:solidFill>
                <a:schemeClr val="bg1"/>
              </a:solidFill>
            </a:endParaRPr>
          </a:p>
        </p:txBody>
      </p:sp>
      <p:sp>
        <p:nvSpPr>
          <p:cNvPr id="5" name="TextBox 4"/>
          <p:cNvSpPr txBox="1"/>
          <p:nvPr/>
        </p:nvSpPr>
        <p:spPr>
          <a:xfrm>
            <a:off x="914400" y="4173220"/>
            <a:ext cx="6578600" cy="707886"/>
          </a:xfrm>
          <a:prstGeom prst="rect">
            <a:avLst/>
          </a:prstGeom>
          <a:noFill/>
        </p:spPr>
        <p:txBody>
          <a:bodyPr wrap="square">
            <a:spAutoFit/>
          </a:bodyPr>
          <a:lstStyle/>
          <a:p>
            <a:pPr algn="l">
              <a:defRPr sz="2000">
                <a:solidFill>
                  <a:srgbClr val="646464"/>
                </a:solidFill>
              </a:defRPr>
            </a:pPr>
            <a:r>
              <a:rPr lang="fr-FR" i="1" dirty="0"/>
              <a:t>Mission confiée par la Direction des Ressources Humaines</a:t>
            </a:r>
            <a:br>
              <a:rPr lang="fr-FR" i="1" dirty="0"/>
            </a:br>
            <a:r>
              <a:rPr lang="fr-FR" i="1" dirty="0"/>
              <a:t>Réalisée par : Laurent  MAGANTO – Data </a:t>
            </a:r>
            <a:r>
              <a:rPr lang="fr-FR" i="1" dirty="0" err="1"/>
              <a:t>Analyst</a:t>
            </a:r>
            <a:endParaRPr lang="fr-FR" i="1" dirty="0"/>
          </a:p>
        </p:txBody>
      </p:sp>
      <p:sp>
        <p:nvSpPr>
          <p:cNvPr id="8" name="ZoneTexte 7">
            <a:extLst>
              <a:ext uri="{FF2B5EF4-FFF2-40B4-BE49-F238E27FC236}">
                <a16:creationId xmlns:a16="http://schemas.microsoft.com/office/drawing/2014/main" id="{2248044C-7072-6602-C4D7-9F6228AAA020}"/>
              </a:ext>
            </a:extLst>
          </p:cNvPr>
          <p:cNvSpPr txBox="1"/>
          <p:nvPr/>
        </p:nvSpPr>
        <p:spPr>
          <a:xfrm>
            <a:off x="914400" y="3254355"/>
            <a:ext cx="7747000" cy="523220"/>
          </a:xfrm>
          <a:prstGeom prst="rect">
            <a:avLst/>
          </a:prstGeom>
          <a:noFill/>
        </p:spPr>
        <p:txBody>
          <a:bodyPr wrap="square">
            <a:spAutoFit/>
          </a:bodyPr>
          <a:lstStyle/>
          <a:p>
            <a:r>
              <a:rPr lang="fr-FR" sz="2800" dirty="0">
                <a:solidFill>
                  <a:srgbClr val="646464"/>
                </a:solidFill>
              </a:rPr>
              <a:t>Présentation à la plénière d’entreprise – Avril 2025</a:t>
            </a:r>
          </a:p>
        </p:txBody>
      </p:sp>
      <p:sp>
        <p:nvSpPr>
          <p:cNvPr id="9" name="Espace réservé du numéro de diapositive 8">
            <a:extLst>
              <a:ext uri="{FF2B5EF4-FFF2-40B4-BE49-F238E27FC236}">
                <a16:creationId xmlns:a16="http://schemas.microsoft.com/office/drawing/2014/main" id="{F08CFE97-4888-391C-23B4-088489CB2735}"/>
              </a:ext>
            </a:extLst>
          </p:cNvPr>
          <p:cNvSpPr>
            <a:spLocks noGrp="1"/>
          </p:cNvSpPr>
          <p:nvPr>
            <p:ph type="sldNum" sz="quarter" idx="12"/>
          </p:nvPr>
        </p:nvSpPr>
        <p:spPr/>
        <p:txBody>
          <a:bodyPr/>
          <a:lstStyle/>
          <a:p>
            <a:fld id="{C1FF6DA9-008F-8B48-92A6-B652298478BF}"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914400"/>
          </a:xfrm>
          <a:prstGeom prst="rect">
            <a:avLst/>
          </a:prstGeom>
          <a:solidFill>
            <a:srgbClr val="1A2A44"/>
          </a:solidFill>
        </p:spPr>
        <p:style>
          <a:lnRef idx="1">
            <a:schemeClr val="accent1"/>
          </a:lnRef>
          <a:fillRef idx="3">
            <a:schemeClr val="accent1"/>
          </a:fillRef>
          <a:effectRef idx="2">
            <a:schemeClr val="accent1"/>
          </a:effectRef>
          <a:fontRef idx="minor">
            <a:schemeClr val="lt1"/>
          </a:fontRef>
        </p:style>
        <p:txBody>
          <a:bodyPr rtlCol="0" anchor="ctr"/>
          <a:lstStyle/>
          <a:p>
            <a:pPr>
              <a:defRPr sz="2400" b="1">
                <a:solidFill>
                  <a:srgbClr val="FFFFFF"/>
                </a:solidFill>
              </a:defRPr>
            </a:pPr>
            <a:r>
              <a:t>Objectifs de la mission</a:t>
            </a:r>
          </a:p>
        </p:txBody>
      </p:sp>
      <p:pic>
        <p:nvPicPr>
          <p:cNvPr id="4" name="Picture 3" descr="image.png"/>
          <p:cNvPicPr>
            <a:picLocks noChangeAspect="1"/>
          </p:cNvPicPr>
          <p:nvPr/>
        </p:nvPicPr>
        <p:blipFill>
          <a:blip r:embed="rId3"/>
          <a:stretch>
            <a:fillRect/>
          </a:stretch>
        </p:blipFill>
        <p:spPr>
          <a:xfrm>
            <a:off x="7772400" y="182880"/>
            <a:ext cx="914400" cy="914400"/>
          </a:xfrm>
          <a:prstGeom prst="rect">
            <a:avLst/>
          </a:prstGeom>
        </p:spPr>
      </p:pic>
      <p:sp>
        <p:nvSpPr>
          <p:cNvPr id="6" name="Rectangle 2">
            <a:extLst>
              <a:ext uri="{FF2B5EF4-FFF2-40B4-BE49-F238E27FC236}">
                <a16:creationId xmlns:a16="http://schemas.microsoft.com/office/drawing/2014/main" id="{B9B71503-FF50-3AC1-86BA-DEB35262683A}"/>
              </a:ext>
            </a:extLst>
          </p:cNvPr>
          <p:cNvSpPr>
            <a:spLocks noChangeArrowheads="1"/>
          </p:cNvSpPr>
          <p:nvPr/>
        </p:nvSpPr>
        <p:spPr bwMode="auto">
          <a:xfrm>
            <a:off x="965200" y="1693599"/>
            <a:ext cx="754380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42925" marR="0" lvl="0" indent="-542925" algn="l" defTabSz="914400" rtl="0" eaLnBrk="0" fontAlgn="base" latinLnBrk="0" hangingPunct="0">
              <a:lnSpc>
                <a:spcPct val="100000"/>
              </a:lnSpc>
              <a:spcBef>
                <a:spcPct val="0"/>
              </a:spcBef>
              <a:spcAft>
                <a:spcPct val="0"/>
              </a:spcAft>
              <a:buClrTx/>
              <a:buSzTx/>
              <a:tabLst>
                <a:tab pos="533400" algn="l"/>
              </a:tabLst>
            </a:pPr>
            <a:r>
              <a:rPr kumimoji="0" lang="fr-FR" altLang="fr-FR" sz="1800" b="0" i="0" u="none" strike="noStrike" cap="none" normalizeH="0" baseline="0" dirty="0">
                <a:ln>
                  <a:noFill/>
                </a:ln>
                <a:solidFill>
                  <a:schemeClr val="tx1"/>
                </a:solidFill>
                <a:effectLst/>
                <a:latin typeface="Arial" panose="020B0604020202020204" pitchFamily="34" charset="0"/>
              </a:rPr>
              <a:t>📊 	</a:t>
            </a:r>
            <a:r>
              <a:rPr lang="fr-FR" b="1" dirty="0"/>
              <a:t>Analyser</a:t>
            </a:r>
            <a:r>
              <a:rPr lang="fr-FR" dirty="0"/>
              <a:t> les écarts femmes/hommes via les données SIRH</a:t>
            </a:r>
          </a:p>
          <a:p>
            <a:pPr marL="723900" marR="0" lvl="0" indent="-723900" algn="l" defTabSz="914400" rtl="0" eaLnBrk="0" fontAlgn="base" latinLnBrk="0" hangingPunct="0">
              <a:lnSpc>
                <a:spcPct val="100000"/>
              </a:lnSpc>
              <a:spcBef>
                <a:spcPct val="0"/>
              </a:spcBef>
              <a:spcAft>
                <a:spcPct val="0"/>
              </a:spcAft>
              <a:buClrTx/>
              <a:buSzTx/>
              <a:tabLst>
                <a:tab pos="533400" algn="l"/>
              </a:tabLst>
            </a:pPr>
            <a:endParaRPr lang="fr-FR" dirty="0">
              <a:latin typeface="Arial" panose="020B0604020202020204" pitchFamily="34" charset="0"/>
            </a:endParaRPr>
          </a:p>
          <a:p>
            <a:pPr marL="723900" marR="0" lvl="0" indent="-723900" algn="l" defTabSz="914400" rtl="0" eaLnBrk="0" fontAlgn="base" latinLnBrk="0" hangingPunct="0">
              <a:lnSpc>
                <a:spcPct val="100000"/>
              </a:lnSpc>
              <a:spcBef>
                <a:spcPct val="0"/>
              </a:spcBef>
              <a:spcAft>
                <a:spcPct val="0"/>
              </a:spcAft>
              <a:buClrTx/>
              <a:buSzTx/>
              <a:tabLst>
                <a:tab pos="533400" algn="l"/>
              </a:tabLst>
            </a:pPr>
            <a:endParaRPr lang="fr-FR" dirty="0">
              <a:latin typeface="Arial" panose="020B0604020202020204" pitchFamily="34" charset="0"/>
            </a:endParaRPr>
          </a:p>
          <a:p>
            <a:pPr marL="542925" marR="0" lvl="0" indent="-542925" algn="l" defTabSz="914400" rtl="0" eaLnBrk="0" fontAlgn="base" latinLnBrk="0" hangingPunct="0">
              <a:lnSpc>
                <a:spcPct val="100000"/>
              </a:lnSpc>
              <a:spcBef>
                <a:spcPct val="0"/>
              </a:spcBef>
              <a:spcAft>
                <a:spcPct val="0"/>
              </a:spcAft>
              <a:buClrTx/>
              <a:buSzTx/>
              <a:tabLst>
                <a:tab pos="533400" algn="l"/>
              </a:tabLst>
            </a:pPr>
            <a:r>
              <a:rPr kumimoji="0" lang="fr-FR" altLang="fr-FR" sz="1800" b="0" i="0" u="none" strike="noStrike" cap="none" normalizeH="0" baseline="0" dirty="0">
                <a:ln>
                  <a:noFill/>
                </a:ln>
                <a:solidFill>
                  <a:schemeClr val="tx1"/>
                </a:solidFill>
                <a:effectLst/>
                <a:latin typeface="Arial" panose="020B0604020202020204" pitchFamily="34" charset="0"/>
              </a:rPr>
              <a:t>⚙️ 	</a:t>
            </a:r>
            <a:r>
              <a:rPr lang="fr-FR" b="1" dirty="0"/>
              <a:t>Automatiser</a:t>
            </a:r>
            <a:r>
              <a:rPr lang="fr-FR" dirty="0"/>
              <a:t> le diagnostic avec</a:t>
            </a:r>
          </a:p>
          <a:p>
            <a:pPr marL="723900" marR="0" lvl="0" indent="-723900" algn="l" defTabSz="914400" rtl="0" eaLnBrk="0" fontAlgn="base" latinLnBrk="0" hangingPunct="0">
              <a:lnSpc>
                <a:spcPct val="100000"/>
              </a:lnSpc>
              <a:spcBef>
                <a:spcPct val="0"/>
              </a:spcBef>
              <a:spcAft>
                <a:spcPct val="0"/>
              </a:spcAft>
              <a:buClrTx/>
              <a:buSzTx/>
              <a:tabLst>
                <a:tab pos="533400" algn="l"/>
              </a:tabLst>
            </a:pPr>
            <a:endParaRPr lang="fr-FR" dirty="0">
              <a:latin typeface="Arial" panose="020B0604020202020204" pitchFamily="34" charset="0"/>
            </a:endParaRPr>
          </a:p>
          <a:p>
            <a:pPr marL="723900" marR="0" lvl="0" indent="-723900" algn="l" defTabSz="914400" rtl="0" eaLnBrk="0" fontAlgn="base" latinLnBrk="0" hangingPunct="0">
              <a:lnSpc>
                <a:spcPct val="100000"/>
              </a:lnSpc>
              <a:spcBef>
                <a:spcPct val="0"/>
              </a:spcBef>
              <a:spcAft>
                <a:spcPct val="0"/>
              </a:spcAft>
              <a:buClrTx/>
              <a:buSzTx/>
              <a:tabLst>
                <a:tab pos="533400" algn="l"/>
              </a:tabLst>
            </a:pPr>
            <a:endParaRPr lang="fr-FR" dirty="0">
              <a:latin typeface="Arial" panose="020B0604020202020204" pitchFamily="34" charset="0"/>
            </a:endParaRPr>
          </a:p>
          <a:p>
            <a:pPr marL="542925" marR="0" lvl="0" indent="-542925" algn="l" defTabSz="914400" rtl="0" eaLnBrk="0" fontAlgn="base" latinLnBrk="0" hangingPunct="0">
              <a:lnSpc>
                <a:spcPct val="100000"/>
              </a:lnSpc>
              <a:spcBef>
                <a:spcPct val="0"/>
              </a:spcBef>
              <a:spcAft>
                <a:spcPct val="0"/>
              </a:spcAft>
              <a:buClrTx/>
              <a:buSzTx/>
              <a:tabLst>
                <a:tab pos="533400" algn="l"/>
              </a:tabLst>
            </a:pPr>
            <a:r>
              <a:rPr kumimoji="0" lang="fr-FR" altLang="fr-FR" sz="1800" b="0" i="0" u="none" strike="noStrike" cap="none" normalizeH="0" baseline="0" dirty="0">
                <a:ln>
                  <a:noFill/>
                </a:ln>
                <a:solidFill>
                  <a:schemeClr val="tx1"/>
                </a:solidFill>
                <a:effectLst/>
                <a:latin typeface="Arial" panose="020B0604020202020204" pitchFamily="34" charset="0"/>
              </a:rPr>
              <a:t>💾 	</a:t>
            </a:r>
            <a:r>
              <a:rPr lang="fr-FR" altLang="fr-FR" b="1" dirty="0"/>
              <a:t>Export .csv </a:t>
            </a:r>
            <a:r>
              <a:rPr kumimoji="0" lang="fr-FR" altLang="fr-FR" sz="1800" b="0" i="0" u="none" strike="noStrike" cap="none" normalizeH="0" baseline="0" dirty="0">
                <a:ln>
                  <a:noFill/>
                </a:ln>
                <a:solidFill>
                  <a:schemeClr val="tx1"/>
                </a:solidFill>
                <a:effectLst/>
                <a:latin typeface="Arial" panose="020B0604020202020204" pitchFamily="34" charset="0"/>
              </a:rPr>
              <a:t>(</a:t>
            </a:r>
            <a:r>
              <a:rPr lang="fr-FR" dirty="0"/>
              <a:t>Générer un fichier .csv propre pour Tableau)</a:t>
            </a:r>
          </a:p>
          <a:p>
            <a:pPr marL="723900" marR="0" lvl="0" indent="-723900" algn="l" defTabSz="914400" rtl="0" eaLnBrk="0" fontAlgn="base" latinLnBrk="0" hangingPunct="0">
              <a:lnSpc>
                <a:spcPct val="100000"/>
              </a:lnSpc>
              <a:spcBef>
                <a:spcPct val="0"/>
              </a:spcBef>
              <a:spcAft>
                <a:spcPct val="0"/>
              </a:spcAft>
              <a:buClrTx/>
              <a:buSzTx/>
              <a:tabLst>
                <a:tab pos="533400" algn="l"/>
              </a:tabLst>
            </a:pPr>
            <a:endParaRPr lang="fr-FR" dirty="0"/>
          </a:p>
          <a:p>
            <a:pPr marL="723900" marR="0" lvl="0" indent="-723900" algn="l" defTabSz="914400" rtl="0" eaLnBrk="0" fontAlgn="base" latinLnBrk="0" hangingPunct="0">
              <a:lnSpc>
                <a:spcPct val="100000"/>
              </a:lnSpc>
              <a:spcBef>
                <a:spcPct val="0"/>
              </a:spcBef>
              <a:spcAft>
                <a:spcPct val="0"/>
              </a:spcAft>
              <a:buClrTx/>
              <a:buSzTx/>
              <a:tabLst>
                <a:tab pos="533400" algn="l"/>
              </a:tabLst>
            </a:pPr>
            <a:endParaRPr lang="fr-FR" dirty="0"/>
          </a:p>
          <a:p>
            <a:pPr marL="542925" marR="0" lvl="0" indent="-542925" algn="l" defTabSz="914400" rtl="0" eaLnBrk="0" fontAlgn="base" latinLnBrk="0" hangingPunct="0">
              <a:lnSpc>
                <a:spcPct val="100000"/>
              </a:lnSpc>
              <a:spcBef>
                <a:spcPct val="0"/>
              </a:spcBef>
              <a:spcAft>
                <a:spcPct val="0"/>
              </a:spcAft>
              <a:buClrTx/>
              <a:buSzTx/>
              <a:tabLst>
                <a:tab pos="533400" algn="l"/>
              </a:tabLst>
            </a:pPr>
            <a:r>
              <a:rPr kumimoji="0" lang="fr-FR" altLang="fr-FR" sz="1800" b="0" i="0" u="none" strike="noStrike" cap="none" normalizeH="0" baseline="0" dirty="0">
                <a:ln>
                  <a:noFill/>
                </a:ln>
                <a:solidFill>
                  <a:schemeClr val="tx1"/>
                </a:solidFill>
                <a:effectLst/>
                <a:latin typeface="Arial" panose="020B0604020202020204" pitchFamily="34" charset="0"/>
              </a:rPr>
              <a:t>🔐 	</a:t>
            </a:r>
            <a:r>
              <a:rPr lang="fr-FR" altLang="fr-FR" b="1" dirty="0"/>
              <a:t>RGPD</a:t>
            </a:r>
            <a:r>
              <a:rPr lang="fr-FR" altLang="fr-FR" dirty="0"/>
              <a:t> (</a:t>
            </a:r>
            <a:r>
              <a:rPr lang="fr-FR" dirty="0"/>
              <a:t>Garantir la conformité RGPD)</a:t>
            </a:r>
          </a:p>
          <a:p>
            <a:pPr marL="723900" marR="0" lvl="0" indent="-723900" algn="l" defTabSz="914400" rtl="0" eaLnBrk="0" fontAlgn="base" latinLnBrk="0" hangingPunct="0">
              <a:lnSpc>
                <a:spcPct val="100000"/>
              </a:lnSpc>
              <a:spcBef>
                <a:spcPct val="0"/>
              </a:spcBef>
              <a:spcAft>
                <a:spcPct val="0"/>
              </a:spcAft>
              <a:buClrTx/>
              <a:buSzTx/>
              <a:tabLst>
                <a:tab pos="533400" algn="l"/>
              </a:tabLst>
            </a:pPr>
            <a:endParaRPr lang="fr-FR" dirty="0"/>
          </a:p>
          <a:p>
            <a:pPr marL="723900" marR="0" lvl="0" indent="-723900" algn="l" defTabSz="914400" rtl="0" eaLnBrk="0" fontAlgn="base" latinLnBrk="0" hangingPunct="0">
              <a:lnSpc>
                <a:spcPct val="100000"/>
              </a:lnSpc>
              <a:spcBef>
                <a:spcPct val="0"/>
              </a:spcBef>
              <a:spcAft>
                <a:spcPct val="0"/>
              </a:spcAft>
              <a:buClrTx/>
              <a:buSzTx/>
              <a:tabLst>
                <a:tab pos="533400" algn="l"/>
              </a:tabLst>
            </a:pPr>
            <a:endParaRPr lang="fr-FR" dirty="0"/>
          </a:p>
          <a:p>
            <a:pPr marL="542925" marR="0" lvl="0" indent="-542925" algn="l" defTabSz="914400" rtl="0" eaLnBrk="0" fontAlgn="base" latinLnBrk="0" hangingPunct="0">
              <a:lnSpc>
                <a:spcPct val="100000"/>
              </a:lnSpc>
              <a:spcBef>
                <a:spcPct val="0"/>
              </a:spcBef>
              <a:spcAft>
                <a:spcPct val="0"/>
              </a:spcAft>
              <a:buClrTx/>
              <a:buSzTx/>
              <a:tabLst>
                <a:tab pos="533400" algn="l"/>
              </a:tabLst>
            </a:pPr>
            <a:r>
              <a:rPr lang="fr-FR" altLang="fr-FR" dirty="0"/>
              <a:t>📣 	</a:t>
            </a:r>
            <a:r>
              <a:rPr lang="fr-FR" altLang="fr-FR" b="1" dirty="0"/>
              <a:t>Communication</a:t>
            </a:r>
            <a:r>
              <a:rPr lang="fr-FR" altLang="fr-FR" dirty="0"/>
              <a:t> des </a:t>
            </a:r>
            <a:r>
              <a:rPr lang="fr-FR" dirty="0"/>
              <a:t>résultats au ministère du travail et à l’ensemble de l’entreprise</a:t>
            </a:r>
            <a:endParaRPr lang="fr-FR" altLang="fr-FR" dirty="0"/>
          </a:p>
        </p:txBody>
      </p:sp>
      <p:pic>
        <p:nvPicPr>
          <p:cNvPr id="9" name="Image 8" descr="Une image contenant Police, texte, Graphique, graphisme&#10;&#10;Le contenu généré par l’IA peut être incorrect.">
            <a:extLst>
              <a:ext uri="{FF2B5EF4-FFF2-40B4-BE49-F238E27FC236}">
                <a16:creationId xmlns:a16="http://schemas.microsoft.com/office/drawing/2014/main" id="{3EB872D6-ECB2-F8E4-1092-EAA453D0C624}"/>
              </a:ext>
            </a:extLst>
          </p:cNvPr>
          <p:cNvPicPr>
            <a:picLocks noChangeAspect="1"/>
          </p:cNvPicPr>
          <p:nvPr/>
        </p:nvPicPr>
        <p:blipFill>
          <a:blip r:embed="rId4"/>
          <a:stretch>
            <a:fillRect/>
          </a:stretch>
        </p:blipFill>
        <p:spPr>
          <a:xfrm>
            <a:off x="4546600" y="2566827"/>
            <a:ext cx="1865391" cy="485697"/>
          </a:xfrm>
          <a:prstGeom prst="rect">
            <a:avLst/>
          </a:prstGeom>
        </p:spPr>
      </p:pic>
      <p:sp>
        <p:nvSpPr>
          <p:cNvPr id="10" name="Espace réservé du numéro de diapositive 9">
            <a:extLst>
              <a:ext uri="{FF2B5EF4-FFF2-40B4-BE49-F238E27FC236}">
                <a16:creationId xmlns:a16="http://schemas.microsoft.com/office/drawing/2014/main" id="{74B5C5EF-D29B-65F2-8AB5-6DB741CB8201}"/>
              </a:ext>
            </a:extLst>
          </p:cNvPr>
          <p:cNvSpPr>
            <a:spLocks noGrp="1"/>
          </p:cNvSpPr>
          <p:nvPr>
            <p:ph type="sldNum" sz="quarter" idx="12"/>
          </p:nvPr>
        </p:nvSpPr>
        <p:spPr/>
        <p:txBody>
          <a:bodyPr/>
          <a:lstStyle/>
          <a:p>
            <a:fld id="{C1FF6DA9-008F-8B48-92A6-B652298478BF}"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914400"/>
          </a:xfrm>
          <a:prstGeom prst="rect">
            <a:avLst/>
          </a:prstGeom>
          <a:solidFill>
            <a:srgbClr val="1A2A44"/>
          </a:solidFill>
        </p:spPr>
        <p:style>
          <a:lnRef idx="1">
            <a:schemeClr val="accent1"/>
          </a:lnRef>
          <a:fillRef idx="3">
            <a:schemeClr val="accent1"/>
          </a:fillRef>
          <a:effectRef idx="2">
            <a:schemeClr val="accent1"/>
          </a:effectRef>
          <a:fontRef idx="minor">
            <a:schemeClr val="lt1"/>
          </a:fontRef>
        </p:style>
        <p:txBody>
          <a:bodyPr rtlCol="0" anchor="ctr"/>
          <a:lstStyle/>
          <a:p>
            <a:pPr>
              <a:defRPr sz="2400" b="1">
                <a:solidFill>
                  <a:srgbClr val="FFFFFF"/>
                </a:solidFill>
              </a:defRPr>
            </a:pPr>
            <a:r>
              <a:rPr dirty="0"/>
              <a:t>Cadre </a:t>
            </a:r>
            <a:r>
              <a:rPr lang="fr-BE" dirty="0"/>
              <a:t>légal et </a:t>
            </a:r>
            <a:r>
              <a:rPr dirty="0" err="1"/>
              <a:t>réglementaire</a:t>
            </a:r>
            <a:endParaRPr dirty="0"/>
          </a:p>
        </p:txBody>
      </p:sp>
      <p:pic>
        <p:nvPicPr>
          <p:cNvPr id="4" name="Picture 3" descr="image.png"/>
          <p:cNvPicPr>
            <a:picLocks noChangeAspect="1"/>
          </p:cNvPicPr>
          <p:nvPr/>
        </p:nvPicPr>
        <p:blipFill>
          <a:blip r:embed="rId3"/>
          <a:stretch>
            <a:fillRect/>
          </a:stretch>
        </p:blipFill>
        <p:spPr>
          <a:xfrm>
            <a:off x="7772400" y="182880"/>
            <a:ext cx="914400" cy="914400"/>
          </a:xfrm>
          <a:prstGeom prst="rect">
            <a:avLst/>
          </a:prstGeom>
        </p:spPr>
      </p:pic>
      <p:graphicFrame>
        <p:nvGraphicFramePr>
          <p:cNvPr id="5" name="Tableau 4">
            <a:extLst>
              <a:ext uri="{FF2B5EF4-FFF2-40B4-BE49-F238E27FC236}">
                <a16:creationId xmlns:a16="http://schemas.microsoft.com/office/drawing/2014/main" id="{5078F76D-7655-2216-8211-822D083A398E}"/>
              </a:ext>
            </a:extLst>
          </p:cNvPr>
          <p:cNvGraphicFramePr>
            <a:graphicFrameLocks noGrp="1"/>
          </p:cNvGraphicFramePr>
          <p:nvPr>
            <p:extLst>
              <p:ext uri="{D42A27DB-BD31-4B8C-83A1-F6EECF244321}">
                <p14:modId xmlns:p14="http://schemas.microsoft.com/office/powerpoint/2010/main" val="617328457"/>
              </p:ext>
            </p:extLst>
          </p:nvPr>
        </p:nvGraphicFramePr>
        <p:xfrm>
          <a:off x="336550" y="1800860"/>
          <a:ext cx="8470900" cy="1097280"/>
        </p:xfrm>
        <a:graphic>
          <a:graphicData uri="http://schemas.openxmlformats.org/drawingml/2006/table">
            <a:tbl>
              <a:tblPr>
                <a:tableStyleId>{68D230F3-CF80-4859-8CE7-A43EE81993B5}</a:tableStyleId>
              </a:tblPr>
              <a:tblGrid>
                <a:gridCol w="562112">
                  <a:extLst>
                    <a:ext uri="{9D8B030D-6E8A-4147-A177-3AD203B41FA5}">
                      <a16:colId xmlns:a16="http://schemas.microsoft.com/office/drawing/2014/main" val="473857499"/>
                    </a:ext>
                  </a:extLst>
                </a:gridCol>
                <a:gridCol w="5242023">
                  <a:extLst>
                    <a:ext uri="{9D8B030D-6E8A-4147-A177-3AD203B41FA5}">
                      <a16:colId xmlns:a16="http://schemas.microsoft.com/office/drawing/2014/main" val="2191922216"/>
                    </a:ext>
                  </a:extLst>
                </a:gridCol>
                <a:gridCol w="2666765">
                  <a:extLst>
                    <a:ext uri="{9D8B030D-6E8A-4147-A177-3AD203B41FA5}">
                      <a16:colId xmlns:a16="http://schemas.microsoft.com/office/drawing/2014/main" val="3414012308"/>
                    </a:ext>
                  </a:extLst>
                </a:gridCol>
              </a:tblGrid>
              <a:tr h="0">
                <a:tc>
                  <a:txBody>
                    <a:bodyPr/>
                    <a:lstStyle/>
                    <a:p>
                      <a:r>
                        <a:rPr lang="fr-FR" dirty="0"/>
                        <a:t>📘</a:t>
                      </a:r>
                    </a:p>
                  </a:txBody>
                  <a:tcPr anchor="ctr"/>
                </a:tc>
                <a:tc>
                  <a:txBody>
                    <a:bodyPr/>
                    <a:lstStyle/>
                    <a:p>
                      <a:pPr>
                        <a:defRPr sz="1600"/>
                      </a:pPr>
                      <a:r>
                        <a:rPr lang="fr-FR" sz="1400" dirty="0"/>
                        <a:t>Loi pour la liberté de choisir son avenir professionnel (Index Égalité)</a:t>
                      </a:r>
                    </a:p>
                  </a:txBody>
                  <a:tcPr anchor="ctr"/>
                </a:tc>
                <a:tc>
                  <a:txBody>
                    <a:bodyPr/>
                    <a:lstStyle/>
                    <a:p>
                      <a:r>
                        <a:rPr lang="fr-FR" sz="1400" dirty="0"/>
                        <a:t>Base légale de l’index égalité</a:t>
                      </a:r>
                    </a:p>
                  </a:txBody>
                  <a:tcPr anchor="ctr"/>
                </a:tc>
                <a:extLst>
                  <a:ext uri="{0D108BD9-81ED-4DB2-BD59-A6C34878D82A}">
                    <a16:rowId xmlns:a16="http://schemas.microsoft.com/office/drawing/2014/main" val="963710899"/>
                  </a:ext>
                </a:extLst>
              </a:tr>
              <a:tr h="0">
                <a:tc>
                  <a:txBody>
                    <a:bodyPr/>
                    <a:lstStyle/>
                    <a:p>
                      <a:r>
                        <a:rPr lang="fr-FR" dirty="0"/>
                        <a:t>📕</a:t>
                      </a:r>
                    </a:p>
                  </a:txBody>
                  <a:tcPr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400" dirty="0"/>
                        <a:t>Guide Égalité femmes-hommes – TPE/PME (Ministère du Travail)</a:t>
                      </a:r>
                    </a:p>
                  </a:txBody>
                  <a:tcPr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400" dirty="0"/>
                        <a:t>Démarche concrète en entreprise</a:t>
                      </a:r>
                    </a:p>
                  </a:txBody>
                  <a:tcPr anchor="ctr"/>
                </a:tc>
                <a:extLst>
                  <a:ext uri="{0D108BD9-81ED-4DB2-BD59-A6C34878D82A}">
                    <a16:rowId xmlns:a16="http://schemas.microsoft.com/office/drawing/2014/main" val="1448973807"/>
                  </a:ext>
                </a:extLst>
              </a:tr>
              <a:tr h="0">
                <a:tc>
                  <a:txBody>
                    <a:bodyPr/>
                    <a:lstStyle/>
                    <a:p>
                      <a:r>
                        <a:rPr lang="fr-FR" dirty="0"/>
                        <a:t>📗</a:t>
                      </a:r>
                    </a:p>
                  </a:txBody>
                  <a:tcPr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400" dirty="0"/>
                        <a:t>Outil Diagnostic Excel – ANACT/ARACT</a:t>
                      </a:r>
                    </a:p>
                  </a:txBody>
                  <a:tcPr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400" dirty="0"/>
                        <a:t>Indicateurs et méthodologie RH</a:t>
                      </a:r>
                    </a:p>
                  </a:txBody>
                  <a:tcPr anchor="ctr"/>
                </a:tc>
                <a:extLst>
                  <a:ext uri="{0D108BD9-81ED-4DB2-BD59-A6C34878D82A}">
                    <a16:rowId xmlns:a16="http://schemas.microsoft.com/office/drawing/2014/main" val="727534359"/>
                  </a:ext>
                </a:extLst>
              </a:tr>
            </a:tbl>
          </a:graphicData>
        </a:graphic>
      </p:graphicFrame>
      <p:sp>
        <p:nvSpPr>
          <p:cNvPr id="9" name="ZoneTexte 8">
            <a:extLst>
              <a:ext uri="{FF2B5EF4-FFF2-40B4-BE49-F238E27FC236}">
                <a16:creationId xmlns:a16="http://schemas.microsoft.com/office/drawing/2014/main" id="{7C50EDBB-DFB6-FE97-3538-6F8C8C0C327B}"/>
              </a:ext>
            </a:extLst>
          </p:cNvPr>
          <p:cNvSpPr txBox="1"/>
          <p:nvPr/>
        </p:nvSpPr>
        <p:spPr>
          <a:xfrm>
            <a:off x="336550" y="1375350"/>
            <a:ext cx="4673600" cy="400110"/>
          </a:xfrm>
          <a:prstGeom prst="rect">
            <a:avLst/>
          </a:prstGeom>
          <a:noFill/>
        </p:spPr>
        <p:txBody>
          <a:bodyPr wrap="square">
            <a:spAutoFit/>
          </a:bodyPr>
          <a:lstStyle/>
          <a:p>
            <a:r>
              <a:rPr lang="fr-FR" sz="2000" b="1" dirty="0"/>
              <a:t>Ressources utilisées :</a:t>
            </a:r>
          </a:p>
        </p:txBody>
      </p:sp>
      <p:sp>
        <p:nvSpPr>
          <p:cNvPr id="10" name="ZoneTexte 9">
            <a:extLst>
              <a:ext uri="{FF2B5EF4-FFF2-40B4-BE49-F238E27FC236}">
                <a16:creationId xmlns:a16="http://schemas.microsoft.com/office/drawing/2014/main" id="{BE7660F9-BEA9-B052-F7A6-F7222175CC16}"/>
              </a:ext>
            </a:extLst>
          </p:cNvPr>
          <p:cNvSpPr txBox="1"/>
          <p:nvPr/>
        </p:nvSpPr>
        <p:spPr>
          <a:xfrm>
            <a:off x="336550" y="3828990"/>
            <a:ext cx="4673600" cy="400110"/>
          </a:xfrm>
          <a:prstGeom prst="rect">
            <a:avLst/>
          </a:prstGeom>
          <a:noFill/>
        </p:spPr>
        <p:txBody>
          <a:bodyPr wrap="square">
            <a:spAutoFit/>
          </a:bodyPr>
          <a:lstStyle/>
          <a:p>
            <a:r>
              <a:rPr lang="fr-FR" sz="2000" b="1" dirty="0"/>
              <a:t>5 indicateurs étudiés :</a:t>
            </a:r>
          </a:p>
        </p:txBody>
      </p:sp>
      <p:graphicFrame>
        <p:nvGraphicFramePr>
          <p:cNvPr id="13" name="Tableau 12">
            <a:extLst>
              <a:ext uri="{FF2B5EF4-FFF2-40B4-BE49-F238E27FC236}">
                <a16:creationId xmlns:a16="http://schemas.microsoft.com/office/drawing/2014/main" id="{CB2D2E11-FCD4-D3F9-DD6B-12E2841C98B6}"/>
              </a:ext>
            </a:extLst>
          </p:cNvPr>
          <p:cNvGraphicFramePr>
            <a:graphicFrameLocks noGrp="1"/>
          </p:cNvGraphicFramePr>
          <p:nvPr>
            <p:extLst>
              <p:ext uri="{D42A27DB-BD31-4B8C-83A1-F6EECF244321}">
                <p14:modId xmlns:p14="http://schemas.microsoft.com/office/powerpoint/2010/main" val="1790116772"/>
              </p:ext>
            </p:extLst>
          </p:nvPr>
        </p:nvGraphicFramePr>
        <p:xfrm>
          <a:off x="336550" y="4245670"/>
          <a:ext cx="8470900" cy="1676400"/>
        </p:xfrm>
        <a:graphic>
          <a:graphicData uri="http://schemas.openxmlformats.org/drawingml/2006/table">
            <a:tbl>
              <a:tblPr>
                <a:tableStyleId>{68D230F3-CF80-4859-8CE7-A43EE81993B5}</a:tableStyleId>
              </a:tblPr>
              <a:tblGrid>
                <a:gridCol w="562112">
                  <a:extLst>
                    <a:ext uri="{9D8B030D-6E8A-4147-A177-3AD203B41FA5}">
                      <a16:colId xmlns:a16="http://schemas.microsoft.com/office/drawing/2014/main" val="473857499"/>
                    </a:ext>
                  </a:extLst>
                </a:gridCol>
                <a:gridCol w="7908788">
                  <a:extLst>
                    <a:ext uri="{9D8B030D-6E8A-4147-A177-3AD203B41FA5}">
                      <a16:colId xmlns:a16="http://schemas.microsoft.com/office/drawing/2014/main" val="2191922216"/>
                    </a:ext>
                  </a:extLst>
                </a:gridCol>
              </a:tblGrid>
              <a:tr h="0">
                <a:tc>
                  <a:txBody>
                    <a:bodyPr/>
                    <a:lstStyle/>
                    <a:p>
                      <a:pPr marL="0" algn="ctr" defTabSz="457200" rtl="0" eaLnBrk="1" latinLnBrk="0" hangingPunct="1"/>
                      <a:r>
                        <a:rPr lang="fr-FR" sz="1600" b="1" kern="1200" dirty="0">
                          <a:solidFill>
                            <a:schemeClr val="tx1"/>
                          </a:solidFill>
                        </a:rPr>
                        <a:t>1</a:t>
                      </a:r>
                      <a:endParaRPr lang="fr-FR" sz="1600" b="1" kern="1200" dirty="0">
                        <a:solidFill>
                          <a:schemeClr val="tx1"/>
                        </a:solidFill>
                        <a:latin typeface="+mn-lt"/>
                        <a:ea typeface="+mn-ea"/>
                        <a:cs typeface="+mn-cs"/>
                      </a:endParaRPr>
                    </a:p>
                  </a:txBody>
                  <a:tcPr anchor="ctr"/>
                </a:tc>
                <a:tc>
                  <a:txBody>
                    <a:bodyPr/>
                    <a:lstStyle/>
                    <a:p>
                      <a:pPr algn="l">
                        <a:spcAft>
                          <a:spcPts val="1800"/>
                        </a:spcAft>
                      </a:pPr>
                      <a:r>
                        <a:rPr lang="fr-FR" sz="1600" b="1" dirty="0"/>
                        <a:t>Écart de rémunération </a:t>
                      </a:r>
                      <a:r>
                        <a:rPr lang="fr-FR" sz="1600" dirty="0"/>
                        <a:t>entre les femmes et les hommes</a:t>
                      </a:r>
                    </a:p>
                  </a:txBody>
                  <a:tcPr anchor="ctr"/>
                </a:tc>
                <a:extLst>
                  <a:ext uri="{0D108BD9-81ED-4DB2-BD59-A6C34878D82A}">
                    <a16:rowId xmlns:a16="http://schemas.microsoft.com/office/drawing/2014/main" val="963710899"/>
                  </a:ext>
                </a:extLst>
              </a:tr>
              <a:tr h="0">
                <a:tc>
                  <a:txBody>
                    <a:bodyPr/>
                    <a:lstStyle/>
                    <a:p>
                      <a:pPr marL="0" algn="ctr" defTabSz="457200" rtl="0" eaLnBrk="1" latinLnBrk="0" hangingPunct="1"/>
                      <a:r>
                        <a:rPr lang="fr-BE" sz="1600" b="1" kern="1200" dirty="0">
                          <a:solidFill>
                            <a:schemeClr val="tx1"/>
                          </a:solidFill>
                        </a:rPr>
                        <a:t>2</a:t>
                      </a:r>
                      <a:endParaRPr lang="fr-BE" sz="1600" b="1" kern="1200" dirty="0">
                        <a:solidFill>
                          <a:schemeClr val="tx1"/>
                        </a:solidFill>
                        <a:latin typeface="+mn-lt"/>
                        <a:ea typeface="+mn-ea"/>
                        <a:cs typeface="+mn-cs"/>
                      </a:endParaRPr>
                    </a:p>
                  </a:txBody>
                  <a:tcPr anchor="ctr"/>
                </a:tc>
                <a:tc>
                  <a:txBody>
                    <a:bodyPr/>
                    <a:lstStyle/>
                    <a:p>
                      <a:pPr algn="l">
                        <a:spcAft>
                          <a:spcPts val="1800"/>
                        </a:spcAft>
                      </a:pPr>
                      <a:r>
                        <a:rPr lang="fr-FR" sz="1600" b="1" dirty="0"/>
                        <a:t>Écart de taux d’augmentation </a:t>
                      </a:r>
                      <a:r>
                        <a:rPr lang="fr-FR" sz="1600" dirty="0"/>
                        <a:t>individuelle entre femmes et hommes (hors promotions)</a:t>
                      </a:r>
                    </a:p>
                  </a:txBody>
                  <a:tcPr anchor="ctr"/>
                </a:tc>
                <a:extLst>
                  <a:ext uri="{0D108BD9-81ED-4DB2-BD59-A6C34878D82A}">
                    <a16:rowId xmlns:a16="http://schemas.microsoft.com/office/drawing/2014/main" val="1448973807"/>
                  </a:ext>
                </a:extLst>
              </a:tr>
              <a:tr h="0">
                <a:tc>
                  <a:txBody>
                    <a:bodyPr/>
                    <a:lstStyle/>
                    <a:p>
                      <a:pPr marL="0" algn="ctr" defTabSz="457200" rtl="0" eaLnBrk="1" latinLnBrk="0" hangingPunct="1"/>
                      <a:r>
                        <a:rPr lang="fr-BE" sz="1600" b="1" kern="1200" dirty="0">
                          <a:solidFill>
                            <a:schemeClr val="tx1"/>
                          </a:solidFill>
                        </a:rPr>
                        <a:t>3</a:t>
                      </a:r>
                      <a:endParaRPr lang="fr-FR" sz="1600" b="1" kern="1200" dirty="0">
                        <a:solidFill>
                          <a:schemeClr val="tx1"/>
                        </a:solidFill>
                        <a:latin typeface="+mn-lt"/>
                        <a:ea typeface="+mn-ea"/>
                        <a:cs typeface="+mn-cs"/>
                      </a:endParaRPr>
                    </a:p>
                  </a:txBody>
                  <a:tcPr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600" b="1" dirty="0"/>
                        <a:t>Écart de taux de promotion </a:t>
                      </a:r>
                      <a:r>
                        <a:rPr lang="fr-FR" sz="1600" dirty="0"/>
                        <a:t>entre femmes et hommes</a:t>
                      </a:r>
                    </a:p>
                  </a:txBody>
                  <a:tcPr anchor="ctr"/>
                </a:tc>
                <a:extLst>
                  <a:ext uri="{0D108BD9-81ED-4DB2-BD59-A6C34878D82A}">
                    <a16:rowId xmlns:a16="http://schemas.microsoft.com/office/drawing/2014/main" val="727534359"/>
                  </a:ext>
                </a:extLst>
              </a:tr>
              <a:tr h="0">
                <a:tc>
                  <a:txBody>
                    <a:bodyPr/>
                    <a:lstStyle/>
                    <a:p>
                      <a:pPr marL="0" algn="ctr" defTabSz="457200" rtl="0" eaLnBrk="1" latinLnBrk="0" hangingPunct="1"/>
                      <a:r>
                        <a:rPr lang="fr-BE" sz="1600" b="1" kern="1200" dirty="0">
                          <a:solidFill>
                            <a:schemeClr val="tx1"/>
                          </a:solidFill>
                        </a:rPr>
                        <a:t>4</a:t>
                      </a:r>
                      <a:endParaRPr lang="fr-FR" sz="1600" b="1" kern="1200" dirty="0">
                        <a:solidFill>
                          <a:schemeClr val="tx1"/>
                        </a:solidFill>
                        <a:latin typeface="+mn-lt"/>
                        <a:ea typeface="+mn-ea"/>
                        <a:cs typeface="+mn-cs"/>
                      </a:endParaRPr>
                    </a:p>
                  </a:txBody>
                  <a:tcPr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600" b="0" kern="1200" dirty="0">
                          <a:solidFill>
                            <a:schemeClr val="tx1"/>
                          </a:solidFill>
                        </a:rPr>
                        <a:t>Pourcentage de </a:t>
                      </a:r>
                      <a:r>
                        <a:rPr lang="fr-FR" sz="1600" b="1" kern="1200" dirty="0">
                          <a:solidFill>
                            <a:schemeClr val="tx1"/>
                          </a:solidFill>
                        </a:rPr>
                        <a:t>salariées augmentées </a:t>
                      </a:r>
                      <a:r>
                        <a:rPr lang="fr-FR" sz="1600" b="0" kern="1200" dirty="0">
                          <a:solidFill>
                            <a:schemeClr val="tx1"/>
                          </a:solidFill>
                        </a:rPr>
                        <a:t>dans l’année suivant leur </a:t>
                      </a:r>
                      <a:r>
                        <a:rPr lang="fr-FR" sz="1600" b="1" kern="1200" dirty="0">
                          <a:solidFill>
                            <a:schemeClr val="tx1"/>
                          </a:solidFill>
                        </a:rPr>
                        <a:t>retour de congé maternité</a:t>
                      </a:r>
                      <a:endParaRPr lang="fr-FR" sz="1600" b="1" kern="1200" dirty="0">
                        <a:solidFill>
                          <a:schemeClr val="tx1"/>
                        </a:solidFill>
                        <a:latin typeface="+mn-lt"/>
                        <a:ea typeface="+mn-ea"/>
                        <a:cs typeface="+mn-cs"/>
                      </a:endParaRPr>
                    </a:p>
                  </a:txBody>
                  <a:tcPr anchor="ctr"/>
                </a:tc>
                <a:extLst>
                  <a:ext uri="{0D108BD9-81ED-4DB2-BD59-A6C34878D82A}">
                    <a16:rowId xmlns:a16="http://schemas.microsoft.com/office/drawing/2014/main" val="415855285"/>
                  </a:ext>
                </a:extLst>
              </a:tr>
              <a:tr h="0">
                <a:tc>
                  <a:txBody>
                    <a:bodyPr/>
                    <a:lstStyle/>
                    <a:p>
                      <a:pPr marL="0" algn="ctr" defTabSz="457200" rtl="0" eaLnBrk="1" latinLnBrk="0" hangingPunct="1"/>
                      <a:r>
                        <a:rPr lang="fr-BE" sz="1600" b="1" kern="1200" dirty="0">
                          <a:solidFill>
                            <a:schemeClr val="tx1"/>
                          </a:solidFill>
                        </a:rPr>
                        <a:t>5</a:t>
                      </a:r>
                      <a:endParaRPr lang="fr-FR" sz="1600" b="1" kern="1200" dirty="0">
                        <a:solidFill>
                          <a:schemeClr val="tx1"/>
                        </a:solidFill>
                        <a:latin typeface="+mn-lt"/>
                        <a:ea typeface="+mn-ea"/>
                        <a:cs typeface="+mn-cs"/>
                      </a:endParaRPr>
                    </a:p>
                  </a:txBody>
                  <a:tcPr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600" b="1" kern="1200" dirty="0">
                          <a:solidFill>
                            <a:schemeClr val="tx1"/>
                          </a:solidFill>
                          <a:effectLst/>
                        </a:rPr>
                        <a:t>Nombre de salariés du sexe sous-représenté </a:t>
                      </a:r>
                      <a:r>
                        <a:rPr lang="fr-FR" sz="1600" b="0" kern="1200" dirty="0">
                          <a:solidFill>
                            <a:schemeClr val="tx1"/>
                          </a:solidFill>
                          <a:effectLst/>
                        </a:rPr>
                        <a:t>parmi les</a:t>
                      </a:r>
                      <a:r>
                        <a:rPr lang="fr-FR" sz="1600" b="1" kern="1200" dirty="0">
                          <a:solidFill>
                            <a:schemeClr val="tx1"/>
                          </a:solidFill>
                          <a:effectLst/>
                        </a:rPr>
                        <a:t> 10 plus hautes rémunérations</a:t>
                      </a:r>
                      <a:endParaRPr lang="fr-FR" sz="1600" b="1" i="0" kern="1200" dirty="0">
                        <a:solidFill>
                          <a:schemeClr val="tx1"/>
                        </a:solidFill>
                        <a:effectLst/>
                        <a:latin typeface="+mn-lt"/>
                        <a:ea typeface="+mn-ea"/>
                        <a:cs typeface="+mn-cs"/>
                      </a:endParaRPr>
                    </a:p>
                  </a:txBody>
                  <a:tcPr anchor="ctr"/>
                </a:tc>
                <a:extLst>
                  <a:ext uri="{0D108BD9-81ED-4DB2-BD59-A6C34878D82A}">
                    <a16:rowId xmlns:a16="http://schemas.microsoft.com/office/drawing/2014/main" val="1000719098"/>
                  </a:ext>
                </a:extLst>
              </a:tr>
            </a:tbl>
          </a:graphicData>
        </a:graphic>
      </p:graphicFrame>
      <p:sp>
        <p:nvSpPr>
          <p:cNvPr id="14" name="Espace réservé du numéro de diapositive 13">
            <a:extLst>
              <a:ext uri="{FF2B5EF4-FFF2-40B4-BE49-F238E27FC236}">
                <a16:creationId xmlns:a16="http://schemas.microsoft.com/office/drawing/2014/main" id="{E6AE6919-68C9-6451-F646-4A4C384731B8}"/>
              </a:ext>
            </a:extLst>
          </p:cNvPr>
          <p:cNvSpPr>
            <a:spLocks noGrp="1"/>
          </p:cNvSpPr>
          <p:nvPr>
            <p:ph type="sldNum" sz="quarter" idx="12"/>
          </p:nvPr>
        </p:nvSpPr>
        <p:spPr/>
        <p:txBody>
          <a:bodyPr/>
          <a:lstStyle/>
          <a:p>
            <a:fld id="{C1FF6DA9-008F-8B48-92A6-B652298478BF}"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914400"/>
          </a:xfrm>
          <a:prstGeom prst="rect">
            <a:avLst/>
          </a:prstGeom>
          <a:solidFill>
            <a:srgbClr val="1A2A44"/>
          </a:solidFill>
        </p:spPr>
        <p:style>
          <a:lnRef idx="1">
            <a:schemeClr val="accent1"/>
          </a:lnRef>
          <a:fillRef idx="3">
            <a:schemeClr val="accent1"/>
          </a:fillRef>
          <a:effectRef idx="2">
            <a:schemeClr val="accent1"/>
          </a:effectRef>
          <a:fontRef idx="minor">
            <a:schemeClr val="lt1"/>
          </a:fontRef>
        </p:style>
        <p:txBody>
          <a:bodyPr rtlCol="0" anchor="ctr"/>
          <a:lstStyle/>
          <a:p>
            <a:pPr>
              <a:defRPr sz="2400" b="1">
                <a:solidFill>
                  <a:srgbClr val="FFFFFF"/>
                </a:solidFill>
              </a:defRPr>
            </a:pPr>
            <a:r>
              <a:t>Données SIRH &amp; RGPD</a:t>
            </a:r>
          </a:p>
        </p:txBody>
      </p:sp>
      <p:pic>
        <p:nvPicPr>
          <p:cNvPr id="4" name="Picture 3" descr="image.png"/>
          <p:cNvPicPr>
            <a:picLocks noChangeAspect="1"/>
          </p:cNvPicPr>
          <p:nvPr/>
        </p:nvPicPr>
        <p:blipFill>
          <a:blip r:embed="rId3"/>
          <a:stretch>
            <a:fillRect/>
          </a:stretch>
        </p:blipFill>
        <p:spPr>
          <a:xfrm>
            <a:off x="7772400" y="182880"/>
            <a:ext cx="914400" cy="914400"/>
          </a:xfrm>
          <a:prstGeom prst="rect">
            <a:avLst/>
          </a:prstGeom>
        </p:spPr>
      </p:pic>
      <p:sp>
        <p:nvSpPr>
          <p:cNvPr id="5" name="Rectangle 1">
            <a:extLst>
              <a:ext uri="{FF2B5EF4-FFF2-40B4-BE49-F238E27FC236}">
                <a16:creationId xmlns:a16="http://schemas.microsoft.com/office/drawing/2014/main" id="{83F75F76-49B5-352C-8D02-15D11485A41D}"/>
              </a:ext>
            </a:extLst>
          </p:cNvPr>
          <p:cNvSpPr>
            <a:spLocks noChangeArrowheads="1"/>
          </p:cNvSpPr>
          <p:nvPr/>
        </p:nvSpPr>
        <p:spPr bwMode="auto">
          <a:xfrm>
            <a:off x="419100" y="1296026"/>
            <a:ext cx="8128000"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b="1" i="0" u="none" strike="noStrike" cap="none" normalizeH="0" baseline="0" dirty="0">
                <a:ln>
                  <a:noFill/>
                </a:ln>
                <a:solidFill>
                  <a:schemeClr val="tx1"/>
                </a:solidFill>
                <a:effectLst/>
              </a:rPr>
              <a:t>📁 Fichiers transmis par la Direction RH :</a:t>
            </a:r>
          </a:p>
          <a:p>
            <a:pPr marL="72390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fr-FR" altLang="fr-FR" sz="1400" b="0" i="0" u="none" strike="noStrike" cap="none" normalizeH="0" baseline="0" dirty="0">
                <a:ln>
                  <a:noFill/>
                </a:ln>
                <a:solidFill>
                  <a:schemeClr val="tx1"/>
                </a:solidFill>
                <a:effectLst/>
              </a:rPr>
              <a:t>Salaries.csv → Données personnelles et sociales</a:t>
            </a:r>
          </a:p>
          <a:p>
            <a:pPr marL="72390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fr-FR" altLang="fr-FR" sz="1400" b="0" i="0" u="none" strike="noStrike" cap="none" normalizeH="0" baseline="0" dirty="0">
                <a:ln>
                  <a:noFill/>
                </a:ln>
                <a:solidFill>
                  <a:schemeClr val="tx1"/>
                </a:solidFill>
                <a:effectLst/>
              </a:rPr>
              <a:t>Remuneration.csv → Données contractuelles et salariales</a:t>
            </a:r>
          </a:p>
          <a:p>
            <a:pPr marL="72390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fr-FR" altLang="fr-FR" sz="1400" b="0" i="0" u="none" strike="noStrike" cap="none" normalizeH="0" baseline="0" dirty="0">
                <a:ln>
                  <a:noFill/>
                </a:ln>
                <a:solidFill>
                  <a:schemeClr val="tx1"/>
                </a:solidFill>
                <a:effectLst/>
              </a:rPr>
              <a:t>Info_Pro.csv → Données RH, bien-être, satisfaction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400" b="0" i="0" u="none" strike="noStrike" cap="none" normalizeH="0" baseline="0" dirty="0">
              <a:ln>
                <a:noFill/>
              </a:ln>
              <a:solidFill>
                <a:schemeClr val="tx1"/>
              </a:solidFill>
              <a:effectLst/>
            </a:endParaRPr>
          </a:p>
          <a:p>
            <a:pPr marL="355600" marR="0" lvl="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a:ln>
                  <a:noFill/>
                </a:ln>
                <a:solidFill>
                  <a:schemeClr val="tx1"/>
                </a:solidFill>
                <a:effectLst/>
              </a:rPr>
              <a:t>Chaque fichier contenait un identifiant commun (</a:t>
            </a:r>
            <a:r>
              <a:rPr kumimoji="0" lang="fr-FR" altLang="fr-FR" sz="1400" b="0" i="0" u="none" strike="noStrike" cap="none" normalizeH="0" baseline="0" dirty="0" err="1">
                <a:ln>
                  <a:noFill/>
                </a:ln>
                <a:solidFill>
                  <a:schemeClr val="tx1"/>
                </a:solidFill>
                <a:effectLst/>
              </a:rPr>
              <a:t>id_salarié</a:t>
            </a:r>
            <a:r>
              <a:rPr kumimoji="0" lang="fr-FR" altLang="fr-FR" sz="1400" b="0" i="0" u="none" strike="noStrike" cap="none" normalizeH="0" baseline="0" dirty="0">
                <a:ln>
                  <a:noFill/>
                </a:ln>
                <a:solidFill>
                  <a:schemeClr val="tx1"/>
                </a:solidFill>
                <a:effectLst/>
              </a:rPr>
              <a:t>) permettant la </a:t>
            </a:r>
            <a:r>
              <a:rPr kumimoji="0" lang="fr-FR" altLang="fr-FR" sz="1400" b="1" i="0" u="none" strike="noStrike" cap="none" normalizeH="0" baseline="0" dirty="0">
                <a:ln>
                  <a:noFill/>
                </a:ln>
                <a:solidFill>
                  <a:schemeClr val="tx1"/>
                </a:solidFill>
                <a:effectLst/>
              </a:rPr>
              <a:t>jointure</a:t>
            </a:r>
            <a:r>
              <a:rPr kumimoji="0" lang="fr-FR" altLang="fr-FR" sz="1400" b="0" i="0" u="none" strike="noStrike" cap="none" normalizeH="0" baseline="0" dirty="0">
                <a:ln>
                  <a:noFill/>
                </a:ln>
                <a:solidFill>
                  <a:schemeClr val="tx1"/>
                </a:solidFill>
                <a:effectLst/>
              </a:rPr>
              <a:t> dans KNIME.</a:t>
            </a:r>
          </a:p>
        </p:txBody>
      </p:sp>
      <p:sp>
        <p:nvSpPr>
          <p:cNvPr id="7" name="ZoneTexte 6">
            <a:extLst>
              <a:ext uri="{FF2B5EF4-FFF2-40B4-BE49-F238E27FC236}">
                <a16:creationId xmlns:a16="http://schemas.microsoft.com/office/drawing/2014/main" id="{F587F07E-3BFB-9833-2E3E-32118EA2AB05}"/>
              </a:ext>
            </a:extLst>
          </p:cNvPr>
          <p:cNvSpPr txBox="1"/>
          <p:nvPr/>
        </p:nvSpPr>
        <p:spPr>
          <a:xfrm>
            <a:off x="419100" y="3311902"/>
            <a:ext cx="8128000" cy="2154436"/>
          </a:xfrm>
          <a:prstGeom prst="rect">
            <a:avLst/>
          </a:prstGeom>
          <a:noFill/>
        </p:spPr>
        <p:txBody>
          <a:bodyPr wrap="square">
            <a:spAutoFit/>
          </a:bodyPr>
          <a:lstStyle/>
          <a:p>
            <a:pPr>
              <a:buNone/>
            </a:pPr>
            <a:r>
              <a:rPr lang="fr-FR" b="1" dirty="0"/>
              <a:t>🔐 Enjeux RGPD :</a:t>
            </a:r>
          </a:p>
          <a:p>
            <a:pPr marL="723900" indent="-285750" defTabSz="914400" eaLnBrk="0" fontAlgn="base" hangingPunct="0">
              <a:spcBef>
                <a:spcPct val="0"/>
              </a:spcBef>
              <a:spcAft>
                <a:spcPct val="0"/>
              </a:spcAft>
              <a:buFont typeface="Wingdings" panose="05000000000000000000" pitchFamily="2" charset="2"/>
              <a:buChar char="§"/>
            </a:pPr>
            <a:r>
              <a:rPr lang="fr-FR" sz="1400" dirty="0"/>
              <a:t>Présence de données à caractère personnel : nom, prénom, téléphone, date de naissance</a:t>
            </a:r>
          </a:p>
          <a:p>
            <a:pPr marL="723900" indent="-285750" defTabSz="914400" eaLnBrk="0" fontAlgn="base" hangingPunct="0">
              <a:spcBef>
                <a:spcPct val="0"/>
              </a:spcBef>
              <a:spcAft>
                <a:spcPct val="0"/>
              </a:spcAft>
              <a:buFont typeface="Wingdings" panose="05000000000000000000" pitchFamily="2" charset="2"/>
              <a:buChar char="§"/>
            </a:pPr>
            <a:r>
              <a:rPr lang="fr-FR" sz="1400" dirty="0"/>
              <a:t>Risques de réidentification si le fichier est mal préparé</a:t>
            </a:r>
          </a:p>
          <a:p>
            <a:pPr marL="723900" indent="-285750" defTabSz="914400" eaLnBrk="0" fontAlgn="base" hangingPunct="0">
              <a:spcBef>
                <a:spcPct val="0"/>
              </a:spcBef>
              <a:spcAft>
                <a:spcPct val="0"/>
              </a:spcAft>
              <a:buFont typeface="Wingdings" panose="05000000000000000000" pitchFamily="2" charset="2"/>
              <a:buChar char="§"/>
            </a:pPr>
            <a:r>
              <a:rPr lang="fr-FR" sz="1400" dirty="0"/>
              <a:t>Obligation de respecter les </a:t>
            </a:r>
            <a:r>
              <a:rPr lang="fr-FR" sz="1400" b="1" dirty="0"/>
              <a:t>5 principes clés du RGPD</a:t>
            </a:r>
            <a:r>
              <a:rPr lang="fr-FR" sz="1400" dirty="0"/>
              <a:t> :</a:t>
            </a:r>
          </a:p>
          <a:p>
            <a:pPr marL="1200150" lvl="2" indent="-285750">
              <a:buFont typeface="Arial" panose="020B0604020202020204" pitchFamily="34" charset="0"/>
              <a:buChar char="•"/>
            </a:pPr>
            <a:r>
              <a:rPr lang="fr-FR" sz="1400" dirty="0"/>
              <a:t>Finalité déterminée</a:t>
            </a:r>
          </a:p>
          <a:p>
            <a:pPr marL="1200150" lvl="2" indent="-285750">
              <a:buFont typeface="Arial" panose="020B0604020202020204" pitchFamily="34" charset="0"/>
              <a:buChar char="•"/>
            </a:pPr>
            <a:r>
              <a:rPr lang="fr-FR" sz="1400" dirty="0"/>
              <a:t>Pertinence (minimisation)</a:t>
            </a:r>
          </a:p>
          <a:p>
            <a:pPr marL="1200150" lvl="2" indent="-285750">
              <a:buFont typeface="Arial" panose="020B0604020202020204" pitchFamily="34" charset="0"/>
              <a:buChar char="•"/>
            </a:pPr>
            <a:r>
              <a:rPr lang="fr-FR" sz="1400" dirty="0"/>
              <a:t>Limitation de la durée</a:t>
            </a:r>
          </a:p>
          <a:p>
            <a:pPr marL="1200150" lvl="2" indent="-285750">
              <a:buFont typeface="Arial" panose="020B0604020202020204" pitchFamily="34" charset="0"/>
              <a:buChar char="•"/>
            </a:pPr>
            <a:r>
              <a:rPr lang="fr-FR" sz="1400" dirty="0"/>
              <a:t>Sécurité</a:t>
            </a:r>
          </a:p>
          <a:p>
            <a:pPr marL="1200150" lvl="2" indent="-285750">
              <a:buFont typeface="Arial" panose="020B0604020202020204" pitchFamily="34" charset="0"/>
              <a:buChar char="•"/>
            </a:pPr>
            <a:r>
              <a:rPr lang="fr-FR" sz="1400" dirty="0"/>
              <a:t>Transparence</a:t>
            </a:r>
          </a:p>
        </p:txBody>
      </p:sp>
      <p:sp>
        <p:nvSpPr>
          <p:cNvPr id="8" name="Espace réservé du numéro de diapositive 7">
            <a:extLst>
              <a:ext uri="{FF2B5EF4-FFF2-40B4-BE49-F238E27FC236}">
                <a16:creationId xmlns:a16="http://schemas.microsoft.com/office/drawing/2014/main" id="{40EF3F7A-E6F8-149E-57B0-B9974F5D22DB}"/>
              </a:ext>
            </a:extLst>
          </p:cNvPr>
          <p:cNvSpPr>
            <a:spLocks noGrp="1"/>
          </p:cNvSpPr>
          <p:nvPr>
            <p:ph type="sldNum" sz="quarter" idx="12"/>
          </p:nvPr>
        </p:nvSpPr>
        <p:spPr/>
        <p:txBody>
          <a:bodyPr/>
          <a:lstStyle/>
          <a:p>
            <a:fld id="{C1FF6DA9-008F-8B48-92A6-B652298478BF}"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914400"/>
          </a:xfrm>
          <a:prstGeom prst="rect">
            <a:avLst/>
          </a:prstGeom>
          <a:solidFill>
            <a:srgbClr val="1A2A44"/>
          </a:solidFill>
        </p:spPr>
        <p:style>
          <a:lnRef idx="1">
            <a:schemeClr val="accent1"/>
          </a:lnRef>
          <a:fillRef idx="3">
            <a:schemeClr val="accent1"/>
          </a:fillRef>
          <a:effectRef idx="2">
            <a:schemeClr val="accent1"/>
          </a:effectRef>
          <a:fontRef idx="minor">
            <a:schemeClr val="lt1"/>
          </a:fontRef>
        </p:style>
        <p:txBody>
          <a:bodyPr rtlCol="0" anchor="ctr"/>
          <a:lstStyle/>
          <a:p>
            <a:pPr>
              <a:defRPr sz="2400" b="1">
                <a:solidFill>
                  <a:srgbClr val="FFFFFF"/>
                </a:solidFill>
              </a:defRPr>
            </a:pPr>
            <a:r>
              <a:t>Workflow KNIME : préparation &amp; transformation</a:t>
            </a:r>
          </a:p>
        </p:txBody>
      </p:sp>
      <p:pic>
        <p:nvPicPr>
          <p:cNvPr id="4" name="Picture 3" descr="image.png"/>
          <p:cNvPicPr>
            <a:picLocks noChangeAspect="1"/>
          </p:cNvPicPr>
          <p:nvPr/>
        </p:nvPicPr>
        <p:blipFill>
          <a:blip r:embed="rId3"/>
          <a:stretch>
            <a:fillRect/>
          </a:stretch>
        </p:blipFill>
        <p:spPr>
          <a:xfrm>
            <a:off x="7772400" y="182880"/>
            <a:ext cx="914400" cy="914400"/>
          </a:xfrm>
          <a:prstGeom prst="rect">
            <a:avLst/>
          </a:prstGeom>
        </p:spPr>
      </p:pic>
      <p:sp>
        <p:nvSpPr>
          <p:cNvPr id="5" name="AutoShape 2" descr="Image chargée">
            <a:extLst>
              <a:ext uri="{FF2B5EF4-FFF2-40B4-BE49-F238E27FC236}">
                <a16:creationId xmlns:a16="http://schemas.microsoft.com/office/drawing/2014/main" id="{2D92A5F3-5994-CE31-38DE-5923A583955A}"/>
              </a:ext>
            </a:extLst>
          </p:cNvPr>
          <p:cNvSpPr>
            <a:spLocks noChangeAspect="1" noChangeArrowheads="1"/>
          </p:cNvSpPr>
          <p:nvPr/>
        </p:nvSpPr>
        <p:spPr bwMode="auto">
          <a:xfrm>
            <a:off x="4419600" y="3276600"/>
            <a:ext cx="2997200" cy="2997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8" name="Image 7">
            <a:extLst>
              <a:ext uri="{FF2B5EF4-FFF2-40B4-BE49-F238E27FC236}">
                <a16:creationId xmlns:a16="http://schemas.microsoft.com/office/drawing/2014/main" id="{5316DF17-E04A-BB86-3B2D-772EEF448129}"/>
              </a:ext>
            </a:extLst>
          </p:cNvPr>
          <p:cNvPicPr>
            <a:picLocks noChangeAspect="1"/>
          </p:cNvPicPr>
          <p:nvPr/>
        </p:nvPicPr>
        <p:blipFill>
          <a:blip r:embed="rId4"/>
          <a:stretch>
            <a:fillRect/>
          </a:stretch>
        </p:blipFill>
        <p:spPr>
          <a:xfrm>
            <a:off x="1404055" y="3825521"/>
            <a:ext cx="6335890" cy="2828006"/>
          </a:xfrm>
          <a:prstGeom prst="rect">
            <a:avLst/>
          </a:prstGeom>
        </p:spPr>
      </p:pic>
      <p:sp>
        <p:nvSpPr>
          <p:cNvPr id="11" name="Rectangle 5">
            <a:extLst>
              <a:ext uri="{FF2B5EF4-FFF2-40B4-BE49-F238E27FC236}">
                <a16:creationId xmlns:a16="http://schemas.microsoft.com/office/drawing/2014/main" id="{D4271F1C-CF42-A92E-8CB0-4F8309612038}"/>
              </a:ext>
            </a:extLst>
          </p:cNvPr>
          <p:cNvSpPr>
            <a:spLocks noChangeArrowheads="1"/>
          </p:cNvSpPr>
          <p:nvPr/>
        </p:nvSpPr>
        <p:spPr bwMode="auto">
          <a:xfrm>
            <a:off x="158750" y="1248413"/>
            <a:ext cx="8521700" cy="2523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b="1" i="0" u="none" strike="noStrike" cap="none" normalizeH="0" baseline="0" dirty="0">
                <a:ln>
                  <a:noFill/>
                </a:ln>
                <a:solidFill>
                  <a:schemeClr val="tx1"/>
                </a:solidFill>
                <a:effectLst/>
                <a:latin typeface="+mj-lt"/>
              </a:rPr>
              <a:t>🧰 Étapes clés illustrées par le workflow KNIME :</a:t>
            </a:r>
          </a:p>
          <a:p>
            <a:pPr lvl="1" defTabSz="914400" eaLnBrk="0" fontAlgn="base" hangingPunct="0">
              <a:spcBef>
                <a:spcPct val="0"/>
              </a:spcBef>
              <a:spcAft>
                <a:spcPct val="0"/>
              </a:spcAft>
              <a:buFontTx/>
              <a:buAutoNum type="arabicPeriod"/>
            </a:pPr>
            <a:r>
              <a:rPr kumimoji="0" lang="fr-FR" altLang="fr-FR" sz="1400" b="1" i="0" u="none" strike="noStrike" cap="none" normalizeH="0" baseline="0" dirty="0">
                <a:ln>
                  <a:noFill/>
                </a:ln>
                <a:solidFill>
                  <a:schemeClr val="tx1"/>
                </a:solidFill>
                <a:effectLst/>
                <a:latin typeface="+mj-lt"/>
              </a:rPr>
              <a:t>Import via CSV Reader</a:t>
            </a:r>
            <a:r>
              <a:rPr kumimoji="0" lang="fr-FR" altLang="fr-FR" sz="1400" b="0" i="0" u="none" strike="noStrike" cap="none" normalizeH="0" baseline="0" dirty="0">
                <a:ln>
                  <a:noFill/>
                </a:ln>
                <a:solidFill>
                  <a:schemeClr val="tx1"/>
                </a:solidFill>
                <a:effectLst/>
                <a:latin typeface="+mj-lt"/>
              </a:rPr>
              <a:t> des fichiers : </a:t>
            </a:r>
            <a:r>
              <a:rPr kumimoji="0" lang="fr-FR" altLang="fr-FR" sz="1400" b="0" i="1" u="none" strike="noStrike" cap="none" normalizeH="0" baseline="0" dirty="0">
                <a:ln>
                  <a:noFill/>
                </a:ln>
                <a:solidFill>
                  <a:schemeClr val="tx1"/>
                </a:solidFill>
                <a:effectLst/>
                <a:latin typeface="+mj-lt"/>
              </a:rPr>
              <a:t>Salaries</a:t>
            </a:r>
            <a:r>
              <a:rPr kumimoji="0" lang="fr-FR" altLang="fr-FR" sz="1400" b="0" i="0" u="none" strike="noStrike" cap="none" normalizeH="0" baseline="0" dirty="0">
                <a:ln>
                  <a:noFill/>
                </a:ln>
                <a:solidFill>
                  <a:schemeClr val="tx1"/>
                </a:solidFill>
                <a:effectLst/>
                <a:latin typeface="+mj-lt"/>
              </a:rPr>
              <a:t>, </a:t>
            </a:r>
            <a:r>
              <a:rPr kumimoji="0" lang="fr-FR" altLang="fr-FR" sz="1400" b="0" i="1" u="none" strike="noStrike" cap="none" normalizeH="0" baseline="0" dirty="0" err="1">
                <a:ln>
                  <a:noFill/>
                </a:ln>
                <a:solidFill>
                  <a:schemeClr val="tx1"/>
                </a:solidFill>
                <a:effectLst/>
                <a:latin typeface="+mj-lt"/>
              </a:rPr>
              <a:t>Remuneration</a:t>
            </a:r>
            <a:r>
              <a:rPr kumimoji="0" lang="fr-FR" altLang="fr-FR" sz="1400" b="0" i="0" u="none" strike="noStrike" cap="none" normalizeH="0" baseline="0" dirty="0">
                <a:ln>
                  <a:noFill/>
                </a:ln>
                <a:solidFill>
                  <a:schemeClr val="tx1"/>
                </a:solidFill>
                <a:effectLst/>
                <a:latin typeface="+mj-lt"/>
              </a:rPr>
              <a:t>, </a:t>
            </a:r>
            <a:r>
              <a:rPr kumimoji="0" lang="fr-FR" altLang="fr-FR" sz="1400" b="0" i="1" u="none" strike="noStrike" cap="none" normalizeH="0" baseline="0" dirty="0" err="1">
                <a:ln>
                  <a:noFill/>
                </a:ln>
                <a:solidFill>
                  <a:schemeClr val="tx1"/>
                </a:solidFill>
                <a:effectLst/>
                <a:latin typeface="+mj-lt"/>
              </a:rPr>
              <a:t>Info_Pro</a:t>
            </a:r>
            <a:endParaRPr kumimoji="0" lang="fr-FR" altLang="fr-FR" sz="1400" b="0" i="1" u="none" strike="noStrike" cap="none" normalizeH="0" baseline="0" dirty="0">
              <a:ln>
                <a:noFill/>
              </a:ln>
              <a:solidFill>
                <a:schemeClr val="tx1"/>
              </a:solidFill>
              <a:effectLst/>
              <a:latin typeface="+mj-lt"/>
            </a:endParaRPr>
          </a:p>
          <a:p>
            <a:pPr lvl="1" defTabSz="914400" eaLnBrk="0" fontAlgn="base" hangingPunct="0">
              <a:spcBef>
                <a:spcPct val="0"/>
              </a:spcBef>
              <a:spcAft>
                <a:spcPct val="0"/>
              </a:spcAft>
              <a:buFontTx/>
              <a:buAutoNum type="arabicPeriod" startAt="2"/>
            </a:pPr>
            <a:r>
              <a:rPr kumimoji="0" lang="fr-FR" altLang="fr-FR" sz="1400" b="1" i="0" u="none" strike="noStrike" cap="none" normalizeH="0" baseline="0" dirty="0">
                <a:ln>
                  <a:noFill/>
                </a:ln>
                <a:solidFill>
                  <a:schemeClr val="tx1"/>
                </a:solidFill>
                <a:effectLst/>
                <a:latin typeface="+mj-lt"/>
              </a:rPr>
              <a:t>Nettoyage</a:t>
            </a:r>
            <a:r>
              <a:rPr kumimoji="0" lang="fr-FR" altLang="fr-FR" sz="1400" b="0" i="0" u="none" strike="noStrike" cap="none" normalizeH="0" baseline="0" dirty="0">
                <a:ln>
                  <a:noFill/>
                </a:ln>
                <a:solidFill>
                  <a:schemeClr val="tx1"/>
                </a:solidFill>
                <a:effectLst/>
                <a:latin typeface="+mj-lt"/>
              </a:rPr>
              <a:t> : gestion des valeurs manquantes (</a:t>
            </a:r>
            <a:r>
              <a:rPr kumimoji="0" lang="fr-FR" altLang="fr-FR" sz="1400" b="0" i="0" u="none" strike="noStrike" cap="none" normalizeH="0" baseline="0" dirty="0" err="1">
                <a:ln>
                  <a:noFill/>
                </a:ln>
                <a:solidFill>
                  <a:schemeClr val="tx1"/>
                </a:solidFill>
                <a:effectLst/>
                <a:latin typeface="+mj-lt"/>
              </a:rPr>
              <a:t>Missing</a:t>
            </a:r>
            <a:r>
              <a:rPr kumimoji="0" lang="fr-FR" altLang="fr-FR" sz="1400" b="0" i="0" u="none" strike="noStrike" cap="none" normalizeH="0" baseline="0" dirty="0">
                <a:ln>
                  <a:noFill/>
                </a:ln>
                <a:solidFill>
                  <a:schemeClr val="tx1"/>
                </a:solidFill>
                <a:effectLst/>
                <a:latin typeface="+mj-lt"/>
              </a:rPr>
              <a:t> Value), uniformisation (String Replacer)</a:t>
            </a:r>
          </a:p>
          <a:p>
            <a:pPr lvl="1" defTabSz="914400" eaLnBrk="0" fontAlgn="base" hangingPunct="0">
              <a:spcBef>
                <a:spcPct val="0"/>
              </a:spcBef>
              <a:spcAft>
                <a:spcPct val="0"/>
              </a:spcAft>
              <a:buFontTx/>
              <a:buAutoNum type="arabicPeriod" startAt="3"/>
            </a:pPr>
            <a:r>
              <a:rPr kumimoji="0" lang="fr-FR" altLang="fr-FR" sz="1400" b="1" i="0" u="none" strike="noStrike" cap="none" normalizeH="0" baseline="0" dirty="0">
                <a:ln>
                  <a:noFill/>
                </a:ln>
                <a:solidFill>
                  <a:schemeClr val="tx1"/>
                </a:solidFill>
                <a:effectLst/>
                <a:latin typeface="+mj-lt"/>
              </a:rPr>
              <a:t>Jointures</a:t>
            </a:r>
            <a:r>
              <a:rPr kumimoji="0" lang="fr-FR" altLang="fr-FR" sz="1400" b="0" i="0" u="none" strike="noStrike" cap="none" normalizeH="0" baseline="0" dirty="0">
                <a:ln>
                  <a:noFill/>
                </a:ln>
                <a:solidFill>
                  <a:schemeClr val="tx1"/>
                </a:solidFill>
                <a:effectLst/>
                <a:latin typeface="+mj-lt"/>
              </a:rPr>
              <a:t> des fichiers sur </a:t>
            </a:r>
            <a:r>
              <a:rPr kumimoji="0" lang="fr-FR" altLang="fr-FR" sz="1400" b="0" i="0" u="none" strike="noStrike" cap="none" normalizeH="0" baseline="0" dirty="0" err="1">
                <a:ln>
                  <a:noFill/>
                </a:ln>
                <a:solidFill>
                  <a:schemeClr val="tx1"/>
                </a:solidFill>
                <a:effectLst/>
                <a:latin typeface="+mj-lt"/>
              </a:rPr>
              <a:t>id_salarié</a:t>
            </a:r>
            <a:r>
              <a:rPr kumimoji="0" lang="fr-FR" altLang="fr-FR" sz="1400" b="0" i="0" u="none" strike="noStrike" cap="none" normalizeH="0" baseline="0" dirty="0">
                <a:ln>
                  <a:noFill/>
                </a:ln>
                <a:solidFill>
                  <a:schemeClr val="tx1"/>
                </a:solidFill>
                <a:effectLst/>
                <a:latin typeface="+mj-lt"/>
              </a:rPr>
              <a:t> (</a:t>
            </a:r>
            <a:r>
              <a:rPr kumimoji="0" lang="fr-FR" altLang="fr-FR" sz="1400" b="0" i="0" u="none" strike="noStrike" cap="none" normalizeH="0" baseline="0" dirty="0" err="1">
                <a:ln>
                  <a:noFill/>
                </a:ln>
                <a:solidFill>
                  <a:schemeClr val="tx1"/>
                </a:solidFill>
                <a:effectLst/>
                <a:latin typeface="+mj-lt"/>
              </a:rPr>
              <a:t>Joiner</a:t>
            </a:r>
            <a:r>
              <a:rPr kumimoji="0" lang="fr-FR" altLang="fr-FR" sz="1400" b="0" i="0" u="none" strike="noStrike" cap="none" normalizeH="0" baseline="0" dirty="0">
                <a:ln>
                  <a:noFill/>
                </a:ln>
                <a:solidFill>
                  <a:schemeClr val="tx1"/>
                </a:solidFill>
                <a:effectLst/>
                <a:latin typeface="+mj-lt"/>
              </a:rPr>
              <a:t>)</a:t>
            </a:r>
          </a:p>
          <a:p>
            <a:pPr lvl="1" defTabSz="914400" eaLnBrk="0" fontAlgn="base" hangingPunct="0">
              <a:spcBef>
                <a:spcPct val="0"/>
              </a:spcBef>
              <a:spcAft>
                <a:spcPct val="0"/>
              </a:spcAft>
              <a:buFontTx/>
              <a:buAutoNum type="arabicPeriod" startAt="4"/>
            </a:pPr>
            <a:r>
              <a:rPr kumimoji="0" lang="fr-FR" altLang="fr-FR" sz="1400" b="1" i="0" u="none" strike="noStrike" cap="none" normalizeH="0" baseline="0" dirty="0">
                <a:ln>
                  <a:noFill/>
                </a:ln>
                <a:solidFill>
                  <a:schemeClr val="tx1"/>
                </a:solidFill>
                <a:effectLst/>
                <a:latin typeface="+mj-lt"/>
              </a:rPr>
              <a:t>Transformation </a:t>
            </a:r>
            <a:r>
              <a:rPr lang="fr-FR" sz="1400" b="1" dirty="0"/>
              <a:t>&amp; enrichissement des variables</a:t>
            </a:r>
            <a:r>
              <a:rPr kumimoji="0" lang="fr-FR" altLang="fr-FR" sz="1400" b="1" i="0" u="none" strike="noStrike" cap="none" normalizeH="0" baseline="0" dirty="0">
                <a:ln>
                  <a:noFill/>
                </a:ln>
                <a:solidFill>
                  <a:schemeClr val="tx1"/>
                </a:solidFill>
                <a:effectLst/>
                <a:latin typeface="+mj-lt"/>
              </a:rPr>
              <a:t> :</a:t>
            </a:r>
          </a:p>
          <a:p>
            <a:pPr lvl="2" defTabSz="914400" eaLnBrk="0" fontAlgn="base" hangingPunct="0">
              <a:spcBef>
                <a:spcPct val="0"/>
              </a:spcBef>
              <a:spcAft>
                <a:spcPct val="0"/>
              </a:spcAft>
              <a:buFontTx/>
              <a:buChar char="•"/>
            </a:pPr>
            <a:r>
              <a:rPr kumimoji="0" lang="fr-FR" altLang="fr-FR" sz="1400" b="0" i="0" u="none" strike="noStrike" cap="none" normalizeH="0" baseline="0" dirty="0">
                <a:ln>
                  <a:noFill/>
                </a:ln>
                <a:solidFill>
                  <a:schemeClr val="tx1"/>
                </a:solidFill>
                <a:effectLst/>
                <a:latin typeface="+mj-lt"/>
              </a:rPr>
              <a:t>Conversion de date (String to </a:t>
            </a:r>
            <a:r>
              <a:rPr kumimoji="0" lang="fr-FR" altLang="fr-FR" sz="1400" b="0" i="0" u="none" strike="noStrike" cap="none" normalizeH="0" baseline="0" dirty="0" err="1">
                <a:ln>
                  <a:noFill/>
                </a:ln>
                <a:solidFill>
                  <a:schemeClr val="tx1"/>
                </a:solidFill>
                <a:effectLst/>
                <a:latin typeface="+mj-lt"/>
              </a:rPr>
              <a:t>Date&amp;Time</a:t>
            </a:r>
            <a:r>
              <a:rPr kumimoji="0" lang="fr-FR" altLang="fr-FR" sz="1400" b="0" i="0" u="none" strike="noStrike" cap="none" normalizeH="0" baseline="0" dirty="0">
                <a:ln>
                  <a:noFill/>
                </a:ln>
                <a:solidFill>
                  <a:schemeClr val="tx1"/>
                </a:solidFill>
                <a:effectLst/>
                <a:latin typeface="+mj-lt"/>
              </a:rPr>
              <a:t>)</a:t>
            </a:r>
          </a:p>
          <a:p>
            <a:pPr lvl="2" defTabSz="914400" eaLnBrk="0" fontAlgn="base" hangingPunct="0">
              <a:spcBef>
                <a:spcPct val="0"/>
              </a:spcBef>
              <a:spcAft>
                <a:spcPct val="0"/>
              </a:spcAft>
              <a:buFontTx/>
              <a:buChar char="•"/>
            </a:pPr>
            <a:r>
              <a:rPr kumimoji="0" lang="fr-FR" altLang="fr-FR" sz="1400" b="0" i="0" u="none" strike="noStrike" cap="none" normalizeH="0" baseline="0" dirty="0">
                <a:ln>
                  <a:noFill/>
                </a:ln>
                <a:solidFill>
                  <a:schemeClr val="tx1"/>
                </a:solidFill>
                <a:effectLst/>
                <a:latin typeface="+mj-lt"/>
              </a:rPr>
              <a:t>Calcul de l’âge (</a:t>
            </a:r>
            <a:r>
              <a:rPr kumimoji="0" lang="fr-FR" altLang="fr-FR" sz="1400" b="0" i="0" u="none" strike="noStrike" cap="none" normalizeH="0" baseline="0" dirty="0" err="1">
                <a:ln>
                  <a:noFill/>
                </a:ln>
                <a:solidFill>
                  <a:schemeClr val="tx1"/>
                </a:solidFill>
                <a:effectLst/>
                <a:latin typeface="+mj-lt"/>
              </a:rPr>
              <a:t>Date&amp;Time</a:t>
            </a:r>
            <a:r>
              <a:rPr kumimoji="0" lang="fr-FR" altLang="fr-FR" sz="1400" b="0" i="0" u="none" strike="noStrike" cap="none" normalizeH="0" baseline="0" dirty="0">
                <a:ln>
                  <a:noFill/>
                </a:ln>
                <a:solidFill>
                  <a:schemeClr val="tx1"/>
                </a:solidFill>
                <a:effectLst/>
                <a:latin typeface="+mj-lt"/>
              </a:rPr>
              <a:t> </a:t>
            </a:r>
            <a:r>
              <a:rPr kumimoji="0" lang="fr-FR" altLang="fr-FR" sz="1400" b="0" i="0" u="none" strike="noStrike" cap="none" normalizeH="0" baseline="0" dirty="0" err="1">
                <a:ln>
                  <a:noFill/>
                </a:ln>
                <a:solidFill>
                  <a:schemeClr val="tx1"/>
                </a:solidFill>
                <a:effectLst/>
                <a:latin typeface="+mj-lt"/>
              </a:rPr>
              <a:t>Difference</a:t>
            </a:r>
            <a:r>
              <a:rPr kumimoji="0" lang="fr-FR" altLang="fr-FR" sz="1400" b="0" i="0" u="none" strike="noStrike" cap="none" normalizeH="0" baseline="0" dirty="0">
                <a:ln>
                  <a:noFill/>
                </a:ln>
                <a:solidFill>
                  <a:schemeClr val="tx1"/>
                </a:solidFill>
                <a:effectLst/>
                <a:latin typeface="+mj-lt"/>
              </a:rPr>
              <a:t>)</a:t>
            </a:r>
          </a:p>
          <a:p>
            <a:pPr lvl="2" defTabSz="914400" eaLnBrk="0" fontAlgn="base" hangingPunct="0">
              <a:spcBef>
                <a:spcPct val="0"/>
              </a:spcBef>
              <a:spcAft>
                <a:spcPct val="0"/>
              </a:spcAft>
              <a:buFontTx/>
              <a:buChar char="•"/>
            </a:pPr>
            <a:r>
              <a:rPr kumimoji="0" lang="fr-FR" altLang="fr-FR" sz="1400" b="0" i="0" u="none" strike="noStrike" cap="none" normalizeH="0" baseline="0" dirty="0">
                <a:ln>
                  <a:noFill/>
                </a:ln>
                <a:solidFill>
                  <a:schemeClr val="tx1"/>
                </a:solidFill>
                <a:effectLst/>
                <a:latin typeface="+mj-lt"/>
              </a:rPr>
              <a:t>Création des </a:t>
            </a:r>
            <a:r>
              <a:rPr kumimoji="0" lang="fr-FR" altLang="fr-FR" sz="1400" b="1" i="0" u="none" strike="noStrike" cap="none" normalizeH="0" baseline="0" dirty="0">
                <a:ln>
                  <a:noFill/>
                </a:ln>
                <a:solidFill>
                  <a:schemeClr val="tx1"/>
                </a:solidFill>
                <a:effectLst/>
                <a:latin typeface="+mj-lt"/>
              </a:rPr>
              <a:t>tranches d’âge et d’ancienneté</a:t>
            </a:r>
            <a:r>
              <a:rPr kumimoji="0" lang="fr-FR" altLang="fr-FR" sz="1400" b="0" i="0" u="none" strike="noStrike" cap="none" normalizeH="0" baseline="0" dirty="0">
                <a:ln>
                  <a:noFill/>
                </a:ln>
                <a:solidFill>
                  <a:schemeClr val="tx1"/>
                </a:solidFill>
                <a:effectLst/>
                <a:latin typeface="+mj-lt"/>
              </a:rPr>
              <a:t> (Rule Engine)</a:t>
            </a:r>
          </a:p>
          <a:p>
            <a:pPr lvl="2" defTabSz="914400" eaLnBrk="0" fontAlgn="base" hangingPunct="0">
              <a:spcBef>
                <a:spcPct val="0"/>
              </a:spcBef>
              <a:spcAft>
                <a:spcPct val="0"/>
              </a:spcAft>
              <a:buFontTx/>
              <a:buChar char="•"/>
            </a:pPr>
            <a:r>
              <a:rPr kumimoji="0" lang="fr-FR" altLang="fr-FR" sz="1400" b="0" i="0" u="none" strike="noStrike" cap="none" normalizeH="0" baseline="0" dirty="0">
                <a:ln>
                  <a:noFill/>
                </a:ln>
                <a:solidFill>
                  <a:schemeClr val="tx1"/>
                </a:solidFill>
                <a:effectLst/>
                <a:latin typeface="+mj-lt"/>
              </a:rPr>
              <a:t>Calcul des </a:t>
            </a:r>
            <a:r>
              <a:rPr kumimoji="0" lang="fr-FR" altLang="fr-FR" sz="1400" b="1" i="0" u="none" strike="noStrike" cap="none" normalizeH="0" baseline="0" dirty="0">
                <a:ln>
                  <a:noFill/>
                </a:ln>
                <a:solidFill>
                  <a:schemeClr val="tx1"/>
                </a:solidFill>
                <a:effectLst/>
                <a:latin typeface="+mj-lt"/>
              </a:rPr>
              <a:t>rémunérations annuelles et ETP</a:t>
            </a:r>
            <a:r>
              <a:rPr kumimoji="0" lang="fr-FR" altLang="fr-FR" sz="1400" b="0" i="0" u="none" strike="noStrike" cap="none" normalizeH="0" baseline="0" dirty="0">
                <a:ln>
                  <a:noFill/>
                </a:ln>
                <a:solidFill>
                  <a:schemeClr val="tx1"/>
                </a:solidFill>
                <a:effectLst/>
                <a:latin typeface="+mj-lt"/>
              </a:rPr>
              <a:t> (Math Formula)</a:t>
            </a:r>
          </a:p>
          <a:p>
            <a:pPr lvl="2" defTabSz="914400" eaLnBrk="0" fontAlgn="base" hangingPunct="0">
              <a:spcBef>
                <a:spcPct val="0"/>
              </a:spcBef>
              <a:spcAft>
                <a:spcPct val="0"/>
              </a:spcAft>
              <a:buFontTx/>
              <a:buChar char="•"/>
            </a:pPr>
            <a:r>
              <a:rPr kumimoji="0" lang="fr-FR" altLang="fr-FR" sz="1400" b="0" i="0" u="none" strike="noStrike" cap="none" normalizeH="0" baseline="0" dirty="0">
                <a:ln>
                  <a:noFill/>
                </a:ln>
                <a:solidFill>
                  <a:schemeClr val="tx1"/>
                </a:solidFill>
                <a:effectLst/>
                <a:latin typeface="+mj-lt"/>
              </a:rPr>
              <a:t>Création de la variable CSP (Rule Engine)</a:t>
            </a:r>
          </a:p>
          <a:p>
            <a:pPr lvl="1" defTabSz="914400" eaLnBrk="0" fontAlgn="base" hangingPunct="0">
              <a:spcBef>
                <a:spcPct val="0"/>
              </a:spcBef>
              <a:spcAft>
                <a:spcPct val="0"/>
              </a:spcAft>
              <a:buFontTx/>
              <a:buAutoNum type="arabicPeriod" startAt="5"/>
            </a:pPr>
            <a:r>
              <a:rPr kumimoji="0" lang="fr-FR" altLang="fr-FR" sz="1400" b="1" i="0" u="none" strike="noStrike" cap="none" normalizeH="0" baseline="0" dirty="0">
                <a:ln>
                  <a:noFill/>
                </a:ln>
                <a:solidFill>
                  <a:schemeClr val="tx1"/>
                </a:solidFill>
                <a:effectLst/>
                <a:latin typeface="+mj-lt"/>
              </a:rPr>
              <a:t>Anonymisation</a:t>
            </a:r>
            <a:r>
              <a:rPr kumimoji="0" lang="fr-FR" altLang="fr-FR" sz="1400" b="0" i="0" u="none" strike="noStrike" cap="none" normalizeH="0" baseline="0" dirty="0">
                <a:ln>
                  <a:noFill/>
                </a:ln>
                <a:solidFill>
                  <a:schemeClr val="tx1"/>
                </a:solidFill>
                <a:effectLst/>
                <a:latin typeface="+mj-lt"/>
              </a:rPr>
              <a:t> : suppression des champs sensibles via </a:t>
            </a:r>
            <a:r>
              <a:rPr kumimoji="0" lang="fr-FR" altLang="fr-FR" sz="1400" b="0" i="0" u="none" strike="noStrike" cap="none" normalizeH="0" baseline="0" dirty="0" err="1">
                <a:ln>
                  <a:noFill/>
                </a:ln>
                <a:solidFill>
                  <a:schemeClr val="tx1"/>
                </a:solidFill>
                <a:effectLst/>
                <a:latin typeface="+mj-lt"/>
              </a:rPr>
              <a:t>Column</a:t>
            </a:r>
            <a:r>
              <a:rPr kumimoji="0" lang="fr-FR" altLang="fr-FR" sz="1400" b="0" i="0" u="none" strike="noStrike" cap="none" normalizeH="0" baseline="0" dirty="0">
                <a:ln>
                  <a:noFill/>
                </a:ln>
                <a:solidFill>
                  <a:schemeClr val="tx1"/>
                </a:solidFill>
                <a:effectLst/>
                <a:latin typeface="+mj-lt"/>
              </a:rPr>
              <a:t> </a:t>
            </a:r>
            <a:r>
              <a:rPr kumimoji="0" lang="fr-FR" altLang="fr-FR" sz="1400" b="0" i="0" u="none" strike="noStrike" cap="none" normalizeH="0" baseline="0" dirty="0" err="1">
                <a:ln>
                  <a:noFill/>
                </a:ln>
                <a:solidFill>
                  <a:schemeClr val="tx1"/>
                </a:solidFill>
                <a:effectLst/>
                <a:latin typeface="+mj-lt"/>
              </a:rPr>
              <a:t>Filter</a:t>
            </a:r>
            <a:endParaRPr kumimoji="0" lang="fr-FR" altLang="fr-FR" sz="1400" b="0" i="0" u="none" strike="noStrike" cap="none" normalizeH="0" baseline="0" dirty="0">
              <a:ln>
                <a:noFill/>
              </a:ln>
              <a:solidFill>
                <a:schemeClr val="tx1"/>
              </a:solidFill>
              <a:effectLst/>
              <a:latin typeface="+mj-lt"/>
            </a:endParaRPr>
          </a:p>
        </p:txBody>
      </p:sp>
      <p:sp>
        <p:nvSpPr>
          <p:cNvPr id="14" name="Espace réservé du numéro de diapositive 13">
            <a:extLst>
              <a:ext uri="{FF2B5EF4-FFF2-40B4-BE49-F238E27FC236}">
                <a16:creationId xmlns:a16="http://schemas.microsoft.com/office/drawing/2014/main" id="{6D58AC2A-06ED-AB9A-B65E-96C81A013FCF}"/>
              </a:ext>
            </a:extLst>
          </p:cNvPr>
          <p:cNvSpPr>
            <a:spLocks noGrp="1"/>
          </p:cNvSpPr>
          <p:nvPr>
            <p:ph type="sldNum" sz="quarter" idx="12"/>
          </p:nvPr>
        </p:nvSpPr>
        <p:spPr/>
        <p:txBody>
          <a:bodyPr/>
          <a:lstStyle/>
          <a:p>
            <a:fld id="{C1FF6DA9-008F-8B48-92A6-B652298478BF}"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914400"/>
          </a:xfrm>
          <a:prstGeom prst="rect">
            <a:avLst/>
          </a:prstGeom>
          <a:solidFill>
            <a:srgbClr val="1A2A44"/>
          </a:solidFill>
        </p:spPr>
        <p:style>
          <a:lnRef idx="1">
            <a:schemeClr val="accent1"/>
          </a:lnRef>
          <a:fillRef idx="3">
            <a:schemeClr val="accent1"/>
          </a:fillRef>
          <a:effectRef idx="2">
            <a:schemeClr val="accent1"/>
          </a:effectRef>
          <a:fontRef idx="minor">
            <a:schemeClr val="lt1"/>
          </a:fontRef>
        </p:style>
        <p:txBody>
          <a:bodyPr rtlCol="0" anchor="ctr"/>
          <a:lstStyle/>
          <a:p>
            <a:pPr>
              <a:defRPr sz="2400" b="1">
                <a:solidFill>
                  <a:srgbClr val="FFFFFF"/>
                </a:solidFill>
              </a:defRPr>
            </a:pPr>
            <a:r>
              <a:rPr dirty="0" err="1"/>
              <a:t>Fichier</a:t>
            </a:r>
            <a:r>
              <a:rPr dirty="0"/>
              <a:t> .csv final : structure &amp; </a:t>
            </a:r>
            <a:r>
              <a:rPr lang="fr-FR" dirty="0"/>
              <a:t>conformité </a:t>
            </a:r>
            <a:r>
              <a:rPr dirty="0"/>
              <a:t>RGPD</a:t>
            </a:r>
          </a:p>
        </p:txBody>
      </p:sp>
      <p:pic>
        <p:nvPicPr>
          <p:cNvPr id="4" name="Picture 3" descr="image.png"/>
          <p:cNvPicPr>
            <a:picLocks noChangeAspect="1"/>
          </p:cNvPicPr>
          <p:nvPr/>
        </p:nvPicPr>
        <p:blipFill>
          <a:blip r:embed="rId3"/>
          <a:stretch>
            <a:fillRect/>
          </a:stretch>
        </p:blipFill>
        <p:spPr>
          <a:xfrm>
            <a:off x="7772400" y="182880"/>
            <a:ext cx="914400" cy="914400"/>
          </a:xfrm>
          <a:prstGeom prst="rect">
            <a:avLst/>
          </a:prstGeom>
        </p:spPr>
      </p:pic>
      <p:sp>
        <p:nvSpPr>
          <p:cNvPr id="5" name="Rectangle 1">
            <a:extLst>
              <a:ext uri="{FF2B5EF4-FFF2-40B4-BE49-F238E27FC236}">
                <a16:creationId xmlns:a16="http://schemas.microsoft.com/office/drawing/2014/main" id="{3FD4B441-CC7A-AA69-9774-D639A36D149A}"/>
              </a:ext>
            </a:extLst>
          </p:cNvPr>
          <p:cNvSpPr>
            <a:spLocks noChangeArrowheads="1"/>
          </p:cNvSpPr>
          <p:nvPr/>
        </p:nvSpPr>
        <p:spPr bwMode="auto">
          <a:xfrm>
            <a:off x="457200" y="1420211"/>
            <a:ext cx="4857279"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b="1" i="0" u="none" strike="noStrike" cap="none" normalizeH="0" baseline="0" dirty="0">
                <a:ln>
                  <a:noFill/>
                </a:ln>
                <a:solidFill>
                  <a:schemeClr val="tx1"/>
                </a:solidFill>
                <a:effectLst/>
              </a:rPr>
              <a:t>📁 Structure du fichier généré avec KNIME :</a:t>
            </a:r>
          </a:p>
          <a:p>
            <a:pPr marL="622300" indent="-266700" defTabSz="914400" eaLnBrk="0" fontAlgn="base" hangingPunct="0">
              <a:spcBef>
                <a:spcPct val="0"/>
              </a:spcBef>
              <a:spcAft>
                <a:spcPct val="0"/>
              </a:spcAft>
            </a:pPr>
            <a:r>
              <a:rPr lang="fr-FR" altLang="fr-FR" sz="1400" dirty="0"/>
              <a:t>Format .csv standardisé et encodé UTF-8</a:t>
            </a:r>
          </a:p>
          <a:p>
            <a:pPr marL="622300" marR="0" lvl="0" indent="-266700" algn="l" defTabSz="914400" rtl="0" eaLnBrk="0" fontAlgn="base" latinLnBrk="0" hangingPunct="0">
              <a:lnSpc>
                <a:spcPct val="100000"/>
              </a:lnSpc>
              <a:spcBef>
                <a:spcPct val="0"/>
              </a:spcBef>
              <a:spcAft>
                <a:spcPct val="0"/>
              </a:spcAft>
              <a:buClrTx/>
              <a:buSzTx/>
              <a:buFontTx/>
              <a:buNone/>
              <a:tabLst/>
            </a:pPr>
            <a:r>
              <a:rPr lang="fr-FR" sz="1400" dirty="0"/>
              <a:t>Intégrable directement dans un notebook</a:t>
            </a:r>
          </a:p>
          <a:p>
            <a:pPr marL="622300" marR="0" lvl="0" indent="-266700" algn="l" defTabSz="914400" rtl="0" eaLnBrk="0" fontAlgn="base" latinLnBrk="0" hangingPunct="0">
              <a:lnSpc>
                <a:spcPct val="100000"/>
              </a:lnSpc>
              <a:spcBef>
                <a:spcPct val="0"/>
              </a:spcBef>
              <a:spcAft>
                <a:spcPct val="0"/>
              </a:spcAft>
              <a:buClrTx/>
              <a:buSzTx/>
              <a:buFontTx/>
              <a:buNone/>
              <a:tabLst/>
            </a:pPr>
            <a:endParaRPr lang="fr-FR" altLang="fr-FR" sz="1400" dirty="0"/>
          </a:p>
          <a:p>
            <a:pPr marL="622300" marR="0" lvl="0" indent="-266700" algn="l" defTabSz="914400" rtl="0" eaLnBrk="0" fontAlgn="base" latinLnBrk="0" hangingPunct="0">
              <a:lnSpc>
                <a:spcPct val="100000"/>
              </a:lnSpc>
              <a:spcBef>
                <a:spcPct val="0"/>
              </a:spcBef>
              <a:spcAft>
                <a:spcPct val="0"/>
              </a:spcAft>
              <a:buClrTx/>
              <a:buSzTx/>
              <a:buFontTx/>
              <a:buNone/>
              <a:tabLst/>
            </a:pPr>
            <a:r>
              <a:rPr lang="fr-FR" altLang="fr-FR" sz="1400" dirty="0"/>
              <a:t>Le fichier contient 22 variables consolidées, dont :</a:t>
            </a:r>
          </a:p>
          <a:p>
            <a:pPr marL="622300" marR="0" lvl="0" indent="-266700" algn="l" defTabSz="914400" rtl="0" eaLnBrk="0" fontAlgn="base" latinLnBrk="0" hangingPunct="0">
              <a:lnSpc>
                <a:spcPct val="100000"/>
              </a:lnSpc>
              <a:spcBef>
                <a:spcPct val="0"/>
              </a:spcBef>
              <a:spcAft>
                <a:spcPct val="0"/>
              </a:spcAft>
              <a:buClrTx/>
              <a:buSzTx/>
              <a:buFontTx/>
              <a:buNone/>
              <a:tabLst/>
            </a:pPr>
            <a:endParaRPr kumimoji="0" lang="fr-FR" altLang="fr-FR" sz="1400" b="1" i="0" u="none" strike="noStrike" cap="none" normalizeH="0" baseline="0" dirty="0">
              <a:ln>
                <a:noFill/>
              </a:ln>
              <a:solidFill>
                <a:schemeClr val="tx1"/>
              </a:solidFill>
              <a:effectLst/>
            </a:endParaRPr>
          </a:p>
          <a:p>
            <a:pPr marL="622300" marR="0" lvl="0" indent="-266700" algn="l" defTabSz="914400" rtl="0" eaLnBrk="0" fontAlgn="base" latinLnBrk="0" hangingPunct="0">
              <a:lnSpc>
                <a:spcPct val="100000"/>
              </a:lnSpc>
              <a:spcBef>
                <a:spcPct val="0"/>
              </a:spcBef>
              <a:spcAft>
                <a:spcPct val="0"/>
              </a:spcAft>
              <a:buClrTx/>
              <a:buSzTx/>
              <a:buFontTx/>
              <a:buNone/>
              <a:tabLst/>
            </a:pPr>
            <a:r>
              <a:rPr kumimoji="0" lang="fr-FR" altLang="fr-FR" sz="1400" b="1" i="0" u="none" strike="noStrike" cap="none" normalizeH="0" baseline="0" dirty="0">
                <a:ln>
                  <a:noFill/>
                </a:ln>
                <a:solidFill>
                  <a:schemeClr val="tx1"/>
                </a:solidFill>
                <a:effectLst/>
              </a:rPr>
              <a:t>Données RH &amp; personnelles anonymisées :</a:t>
            </a:r>
            <a:endParaRPr kumimoji="0" lang="fr-FR" altLang="fr-FR" sz="1400" b="0" i="0" u="none" strike="noStrike" cap="none" normalizeH="0" baseline="0" dirty="0">
              <a:ln>
                <a:noFill/>
              </a:ln>
              <a:solidFill>
                <a:schemeClr val="tx1"/>
              </a:solidFill>
              <a:effectLst/>
            </a:endParaRPr>
          </a:p>
          <a:p>
            <a:pPr marL="901700" lvl="1" indent="-266700" defTabSz="914400" eaLnBrk="0" fontAlgn="base" hangingPunct="0">
              <a:spcBef>
                <a:spcPct val="0"/>
              </a:spcBef>
              <a:spcAft>
                <a:spcPct val="0"/>
              </a:spcAft>
              <a:buFontTx/>
              <a:buChar char="•"/>
            </a:pPr>
            <a:r>
              <a:rPr kumimoji="0" lang="fr-FR" altLang="fr-FR" sz="1400" b="0" i="0" u="none" strike="noStrike" cap="none" normalizeH="0" baseline="0" dirty="0">
                <a:ln>
                  <a:noFill/>
                </a:ln>
                <a:solidFill>
                  <a:schemeClr val="tx1"/>
                </a:solidFill>
                <a:effectLst/>
              </a:rPr>
              <a:t>Sexe, État Civil, Congé maternité A-1, Enfants</a:t>
            </a:r>
          </a:p>
          <a:p>
            <a:pPr marL="622300" marR="0" lvl="0" indent="-266700" algn="l" defTabSz="914400" rtl="0" eaLnBrk="0" fontAlgn="base" latinLnBrk="0" hangingPunct="0">
              <a:lnSpc>
                <a:spcPct val="100000"/>
              </a:lnSpc>
              <a:spcBef>
                <a:spcPct val="0"/>
              </a:spcBef>
              <a:spcAft>
                <a:spcPct val="0"/>
              </a:spcAft>
              <a:buClrTx/>
              <a:buSzTx/>
              <a:buFontTx/>
              <a:buNone/>
              <a:tabLst/>
            </a:pPr>
            <a:r>
              <a:rPr kumimoji="0" lang="fr-FR" altLang="fr-FR" sz="1400" b="1" i="0" u="none" strike="noStrike" cap="none" normalizeH="0" baseline="0" dirty="0">
                <a:ln>
                  <a:noFill/>
                </a:ln>
                <a:solidFill>
                  <a:schemeClr val="tx1"/>
                </a:solidFill>
                <a:effectLst/>
              </a:rPr>
              <a:t>Données contractuelles &amp; salariales :</a:t>
            </a:r>
            <a:endParaRPr kumimoji="0" lang="fr-FR" altLang="fr-FR" sz="1400" b="0" i="0" u="none" strike="noStrike" cap="none" normalizeH="0" baseline="0" dirty="0">
              <a:ln>
                <a:noFill/>
              </a:ln>
              <a:solidFill>
                <a:schemeClr val="tx1"/>
              </a:solidFill>
              <a:effectLst/>
            </a:endParaRPr>
          </a:p>
          <a:p>
            <a:pPr marL="901700" marR="0" lvl="0" indent="-266700" algn="l" defTabSz="914400" rtl="0" eaLnBrk="0" fontAlgn="base" latinLnBrk="0" hangingPunct="0">
              <a:lnSpc>
                <a:spcPct val="100000"/>
              </a:lnSpc>
              <a:spcBef>
                <a:spcPct val="0"/>
              </a:spcBef>
              <a:spcAft>
                <a:spcPct val="0"/>
              </a:spcAft>
              <a:buClrTx/>
              <a:buSzTx/>
              <a:buFontTx/>
              <a:buChar char="•"/>
              <a:tabLst/>
            </a:pPr>
            <a:r>
              <a:rPr lang="fr-FR" altLang="fr-FR" sz="1400" dirty="0"/>
              <a:t>Contrat</a:t>
            </a:r>
            <a:r>
              <a:rPr kumimoji="0" lang="fr-FR" altLang="fr-FR" sz="1400" b="0" i="0" u="none" strike="noStrike" cap="none" normalizeH="0" baseline="0" dirty="0">
                <a:ln>
                  <a:noFill/>
                </a:ln>
                <a:solidFill>
                  <a:schemeClr val="tx1"/>
                </a:solidFill>
                <a:effectLst/>
              </a:rPr>
              <a:t>, Salaire base mensuel, % variable moyen, Durée hebdo, Augmentation, Promotion, Service</a:t>
            </a:r>
          </a:p>
          <a:p>
            <a:pPr marL="622300" marR="0" lvl="0" indent="-266700" algn="l" defTabSz="914400" rtl="0" eaLnBrk="0" fontAlgn="base" latinLnBrk="0" hangingPunct="0">
              <a:lnSpc>
                <a:spcPct val="100000"/>
              </a:lnSpc>
              <a:spcBef>
                <a:spcPct val="0"/>
              </a:spcBef>
              <a:spcAft>
                <a:spcPct val="0"/>
              </a:spcAft>
              <a:buClrTx/>
              <a:buSzTx/>
              <a:buFontTx/>
              <a:buNone/>
              <a:tabLst/>
            </a:pPr>
            <a:r>
              <a:rPr kumimoji="0" lang="fr-FR" altLang="fr-FR" sz="1400" b="1" i="0" u="none" strike="noStrike" cap="none" normalizeH="0" baseline="0" dirty="0">
                <a:ln>
                  <a:noFill/>
                </a:ln>
                <a:solidFill>
                  <a:schemeClr val="tx1"/>
                </a:solidFill>
                <a:effectLst/>
              </a:rPr>
              <a:t>Données enrichies :</a:t>
            </a:r>
            <a:endParaRPr kumimoji="0" lang="fr-FR" altLang="fr-FR" sz="1400" b="0" i="0" u="none" strike="noStrike" cap="none" normalizeH="0" baseline="0" dirty="0">
              <a:ln>
                <a:noFill/>
              </a:ln>
              <a:solidFill>
                <a:schemeClr val="tx1"/>
              </a:solidFill>
              <a:effectLst/>
            </a:endParaRPr>
          </a:p>
          <a:p>
            <a:pPr marL="901700" marR="0" lvl="0" indent="-266700" algn="l" defTabSz="914400" rtl="0" eaLnBrk="0" fontAlgn="base" latinLnBrk="0" hangingPunct="0">
              <a:lnSpc>
                <a:spcPct val="100000"/>
              </a:lnSpc>
              <a:spcBef>
                <a:spcPct val="0"/>
              </a:spcBef>
              <a:spcAft>
                <a:spcPct val="0"/>
              </a:spcAft>
              <a:buClrTx/>
              <a:buSzTx/>
              <a:buFontTx/>
              <a:buChar char="•"/>
              <a:tabLst/>
            </a:pPr>
            <a:r>
              <a:rPr kumimoji="0" lang="fr-FR" altLang="fr-FR" sz="1400" b="0" i="0" u="none" strike="noStrike" cap="none" normalizeH="0" baseline="0" dirty="0">
                <a:ln>
                  <a:noFill/>
                </a:ln>
                <a:solidFill>
                  <a:schemeClr val="tx1"/>
                </a:solidFill>
                <a:effectLst/>
              </a:rPr>
              <a:t>Âge, </a:t>
            </a:r>
            <a:r>
              <a:rPr kumimoji="0" lang="fr-FR" altLang="fr-FR" sz="1400" b="0" i="0" u="none" strike="noStrike" cap="none" normalizeH="0" baseline="0" dirty="0" err="1">
                <a:ln>
                  <a:noFill/>
                </a:ln>
                <a:solidFill>
                  <a:schemeClr val="tx1"/>
                </a:solidFill>
                <a:effectLst/>
              </a:rPr>
              <a:t>Catégorie_Âge</a:t>
            </a:r>
            <a:r>
              <a:rPr kumimoji="0" lang="fr-FR" altLang="fr-FR" sz="1400" b="0" i="0" u="none" strike="noStrike" cap="none" normalizeH="0" baseline="0" dirty="0">
                <a:ln>
                  <a:noFill/>
                </a:ln>
                <a:solidFill>
                  <a:schemeClr val="tx1"/>
                </a:solidFill>
                <a:effectLst/>
              </a:rPr>
              <a:t>, </a:t>
            </a:r>
            <a:r>
              <a:rPr kumimoji="0" lang="fr-FR" altLang="fr-FR" sz="1400" b="0" i="0" u="none" strike="noStrike" cap="none" normalizeH="0" baseline="0" dirty="0" err="1">
                <a:ln>
                  <a:noFill/>
                </a:ln>
                <a:solidFill>
                  <a:schemeClr val="tx1"/>
                </a:solidFill>
                <a:effectLst/>
              </a:rPr>
              <a:t>Ancienneté_an</a:t>
            </a:r>
            <a:r>
              <a:rPr kumimoji="0" lang="fr-FR" altLang="fr-FR" sz="1400" b="0" i="0" u="none" strike="noStrike" cap="none" normalizeH="0" baseline="0" dirty="0">
                <a:ln>
                  <a:noFill/>
                </a:ln>
                <a:solidFill>
                  <a:schemeClr val="tx1"/>
                </a:solidFill>
                <a:effectLst/>
              </a:rPr>
              <a:t>, </a:t>
            </a:r>
            <a:r>
              <a:rPr kumimoji="0" lang="fr-FR" altLang="fr-FR" sz="1400" b="0" i="0" u="none" strike="noStrike" cap="none" normalizeH="0" baseline="0" dirty="0" err="1">
                <a:ln>
                  <a:noFill/>
                </a:ln>
                <a:solidFill>
                  <a:schemeClr val="tx1"/>
                </a:solidFill>
                <a:effectLst/>
              </a:rPr>
              <a:t>categorie_ancienneté</a:t>
            </a:r>
            <a:r>
              <a:rPr kumimoji="0" lang="fr-FR" altLang="fr-FR" sz="1400" b="0" i="0" u="none" strike="noStrike" cap="none" normalizeH="0" baseline="0" dirty="0">
                <a:ln>
                  <a:noFill/>
                </a:ln>
                <a:solidFill>
                  <a:schemeClr val="tx1"/>
                </a:solidFill>
                <a:effectLst/>
              </a:rPr>
              <a:t>, Distance domicile/Travail</a:t>
            </a:r>
          </a:p>
          <a:p>
            <a:pPr marL="901700" marR="0" lvl="0" indent="-266700" algn="l" defTabSz="914400" rtl="0" eaLnBrk="0" fontAlgn="base" latinLnBrk="0" hangingPunct="0">
              <a:lnSpc>
                <a:spcPct val="100000"/>
              </a:lnSpc>
              <a:spcBef>
                <a:spcPct val="0"/>
              </a:spcBef>
              <a:spcAft>
                <a:spcPct val="0"/>
              </a:spcAft>
              <a:buClrTx/>
              <a:buSzTx/>
              <a:buFontTx/>
              <a:buChar char="•"/>
              <a:tabLst/>
            </a:pPr>
            <a:r>
              <a:rPr kumimoji="0" lang="fr-FR" altLang="fr-FR" sz="1400" b="0" i="0" u="none" strike="noStrike" cap="none" normalizeH="0" baseline="0" dirty="0" err="1">
                <a:ln>
                  <a:noFill/>
                </a:ln>
                <a:solidFill>
                  <a:schemeClr val="tx1"/>
                </a:solidFill>
                <a:effectLst/>
              </a:rPr>
              <a:t>Work_accident</a:t>
            </a:r>
            <a:r>
              <a:rPr kumimoji="0" lang="fr-FR" altLang="fr-FR" sz="1400" b="0" i="0" u="none" strike="noStrike" cap="none" normalizeH="0" baseline="0" dirty="0">
                <a:ln>
                  <a:noFill/>
                </a:ln>
                <a:solidFill>
                  <a:schemeClr val="tx1"/>
                </a:solidFill>
                <a:effectLst/>
              </a:rPr>
              <a:t>, Niveau de satisfaction, CSP</a:t>
            </a:r>
          </a:p>
          <a:p>
            <a:pPr marL="901700" marR="0" lvl="0" indent="-266700" algn="l" defTabSz="914400" rtl="0" eaLnBrk="0" fontAlgn="base" latinLnBrk="0" hangingPunct="0">
              <a:lnSpc>
                <a:spcPct val="100000"/>
              </a:lnSpc>
              <a:spcBef>
                <a:spcPct val="0"/>
              </a:spcBef>
              <a:spcAft>
                <a:spcPct val="0"/>
              </a:spcAft>
              <a:buClrTx/>
              <a:buSzTx/>
              <a:buFontTx/>
              <a:buChar char="•"/>
              <a:tabLst/>
            </a:pPr>
            <a:r>
              <a:rPr kumimoji="0" lang="fr-FR" altLang="fr-FR" sz="1400" b="0" i="0" u="none" strike="noStrike" cap="none" normalizeH="0" baseline="0" dirty="0">
                <a:ln>
                  <a:noFill/>
                </a:ln>
                <a:solidFill>
                  <a:schemeClr val="tx1"/>
                </a:solidFill>
                <a:effectLst/>
              </a:rPr>
              <a:t>Salaire ETP, Rémunération annuelle totale</a:t>
            </a:r>
          </a:p>
        </p:txBody>
      </p:sp>
      <p:sp>
        <p:nvSpPr>
          <p:cNvPr id="6" name="Rectangle 2">
            <a:extLst>
              <a:ext uri="{FF2B5EF4-FFF2-40B4-BE49-F238E27FC236}">
                <a16:creationId xmlns:a16="http://schemas.microsoft.com/office/drawing/2014/main" id="{C5532D1F-91B7-37CA-60DA-7861EFDA3DE7}"/>
              </a:ext>
            </a:extLst>
          </p:cNvPr>
          <p:cNvSpPr>
            <a:spLocks noChangeArrowheads="1"/>
          </p:cNvSpPr>
          <p:nvPr/>
        </p:nvSpPr>
        <p:spPr bwMode="auto">
          <a:xfrm>
            <a:off x="457200" y="5389497"/>
            <a:ext cx="82296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fr-FR" b="1" dirty="0"/>
              <a:t>🔐</a:t>
            </a:r>
            <a:r>
              <a:rPr kumimoji="0" lang="fr-FR" altLang="fr-FR" b="1" i="0" u="none" strike="noStrike" cap="none" normalizeH="0" baseline="0" dirty="0">
                <a:ln>
                  <a:noFill/>
                </a:ln>
                <a:solidFill>
                  <a:schemeClr val="tx1"/>
                </a:solidFill>
                <a:effectLst/>
              </a:rPr>
              <a:t> Respect du RGPD :</a:t>
            </a:r>
          </a:p>
          <a:p>
            <a:pPr marL="533400" marR="0" lvl="0" indent="-26670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a:ln>
                  <a:noFill/>
                </a:ln>
                <a:solidFill>
                  <a:schemeClr val="tx1"/>
                </a:solidFill>
                <a:effectLst/>
              </a:rPr>
              <a:t>✔️ </a:t>
            </a:r>
            <a:r>
              <a:rPr kumimoji="0" lang="fr-FR" altLang="fr-FR" sz="1400" b="1" i="0" u="none" strike="noStrike" cap="none" normalizeH="0" baseline="0" dirty="0">
                <a:ln>
                  <a:noFill/>
                </a:ln>
                <a:solidFill>
                  <a:schemeClr val="tx1"/>
                </a:solidFill>
                <a:effectLst/>
              </a:rPr>
              <a:t>Données supprimées</a:t>
            </a:r>
            <a:r>
              <a:rPr kumimoji="0" lang="fr-FR" altLang="fr-FR" sz="1400" b="0" i="0" u="none" strike="noStrike" cap="none" normalizeH="0" baseline="0" dirty="0">
                <a:ln>
                  <a:noFill/>
                </a:ln>
                <a:solidFill>
                  <a:schemeClr val="tx1"/>
                </a:solidFill>
                <a:effectLst/>
              </a:rPr>
              <a:t> : Nom, Prénom, Téléphone, Date de naissance</a:t>
            </a:r>
          </a:p>
          <a:p>
            <a:pPr marL="533400" marR="0" lvl="0" indent="-26670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a:ln>
                  <a:noFill/>
                </a:ln>
                <a:solidFill>
                  <a:schemeClr val="tx1"/>
                </a:solidFill>
                <a:effectLst/>
              </a:rPr>
              <a:t>✔️ </a:t>
            </a:r>
            <a:r>
              <a:rPr kumimoji="0" lang="fr-FR" altLang="fr-FR" sz="1400" b="1" i="0" u="none" strike="noStrike" cap="none" normalizeH="0" baseline="0" dirty="0">
                <a:ln>
                  <a:noFill/>
                </a:ln>
                <a:solidFill>
                  <a:schemeClr val="tx1"/>
                </a:solidFill>
                <a:effectLst/>
              </a:rPr>
              <a:t>Colonnes agrégées uniquement analysées</a:t>
            </a:r>
            <a:endParaRPr lang="fr-FR" altLang="fr-FR" sz="1400" dirty="0"/>
          </a:p>
          <a:p>
            <a:pPr marL="533400" marR="0" lvl="0" indent="-26670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a:ln>
                  <a:noFill/>
                </a:ln>
                <a:solidFill>
                  <a:schemeClr val="tx1"/>
                </a:solidFill>
                <a:effectLst/>
              </a:rPr>
              <a:t>✔️ </a:t>
            </a:r>
            <a:r>
              <a:rPr kumimoji="0" lang="fr-FR" altLang="fr-FR" sz="1400" b="1" i="0" u="none" strike="noStrike" cap="none" normalizeH="0" baseline="0" dirty="0">
                <a:ln>
                  <a:noFill/>
                </a:ln>
                <a:solidFill>
                  <a:schemeClr val="tx1"/>
                </a:solidFill>
                <a:effectLst/>
              </a:rPr>
              <a:t>Prêt à être diffusé ou partagé en interne en toute sécurité</a:t>
            </a:r>
            <a:endParaRPr kumimoji="0" lang="fr-FR" altLang="fr-FR" sz="1400" b="0" i="0" u="none" strike="noStrike" cap="none" normalizeH="0" baseline="0" dirty="0">
              <a:ln>
                <a:noFill/>
              </a:ln>
              <a:solidFill>
                <a:schemeClr val="tx1"/>
              </a:solidFill>
              <a:effectLst/>
            </a:endParaRPr>
          </a:p>
        </p:txBody>
      </p:sp>
      <p:pic>
        <p:nvPicPr>
          <p:cNvPr id="10" name="Image 9">
            <a:extLst>
              <a:ext uri="{FF2B5EF4-FFF2-40B4-BE49-F238E27FC236}">
                <a16:creationId xmlns:a16="http://schemas.microsoft.com/office/drawing/2014/main" id="{AE925EA7-FAAD-EBCF-CCB9-A0C1B12B91C1}"/>
              </a:ext>
            </a:extLst>
          </p:cNvPr>
          <p:cNvPicPr>
            <a:picLocks noChangeAspect="1"/>
          </p:cNvPicPr>
          <p:nvPr/>
        </p:nvPicPr>
        <p:blipFill>
          <a:blip r:embed="rId4"/>
          <a:stretch>
            <a:fillRect/>
          </a:stretch>
        </p:blipFill>
        <p:spPr>
          <a:xfrm>
            <a:off x="5552839" y="1274123"/>
            <a:ext cx="3372321" cy="4115374"/>
          </a:xfrm>
          <a:prstGeom prst="rect">
            <a:avLst/>
          </a:prstGeom>
        </p:spPr>
      </p:pic>
      <p:sp>
        <p:nvSpPr>
          <p:cNvPr id="11" name="Espace réservé du numéro de diapositive 10">
            <a:extLst>
              <a:ext uri="{FF2B5EF4-FFF2-40B4-BE49-F238E27FC236}">
                <a16:creationId xmlns:a16="http://schemas.microsoft.com/office/drawing/2014/main" id="{010E34F7-9945-C964-A46B-7E32E710BED3}"/>
              </a:ext>
            </a:extLst>
          </p:cNvPr>
          <p:cNvSpPr>
            <a:spLocks noGrp="1"/>
          </p:cNvSpPr>
          <p:nvPr>
            <p:ph type="sldNum" sz="quarter" idx="12"/>
          </p:nvPr>
        </p:nvSpPr>
        <p:spPr/>
        <p:txBody>
          <a:bodyPr/>
          <a:lstStyle/>
          <a:p>
            <a:fld id="{C1FF6DA9-008F-8B48-92A6-B652298478BF}"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914400"/>
          </a:xfrm>
          <a:prstGeom prst="rect">
            <a:avLst/>
          </a:prstGeom>
          <a:solidFill>
            <a:srgbClr val="1A2A44"/>
          </a:solidFill>
        </p:spPr>
        <p:style>
          <a:lnRef idx="1">
            <a:schemeClr val="accent1"/>
          </a:lnRef>
          <a:fillRef idx="3">
            <a:schemeClr val="accent1"/>
          </a:fillRef>
          <a:effectRef idx="2">
            <a:schemeClr val="accent1"/>
          </a:effectRef>
          <a:fontRef idx="minor">
            <a:schemeClr val="lt1"/>
          </a:fontRef>
        </p:style>
        <p:txBody>
          <a:bodyPr rtlCol="0" anchor="ctr"/>
          <a:lstStyle/>
          <a:p>
            <a:pPr>
              <a:defRPr sz="2400" b="1">
                <a:solidFill>
                  <a:srgbClr val="FFFFFF"/>
                </a:solidFill>
              </a:defRPr>
            </a:pPr>
            <a:r>
              <a:rPr dirty="0" err="1"/>
              <a:t>Statistiques</a:t>
            </a:r>
            <a:r>
              <a:rPr dirty="0"/>
              <a:t> descriptives</a:t>
            </a:r>
            <a:r>
              <a:rPr lang="fr-FR" dirty="0"/>
              <a:t> globales</a:t>
            </a:r>
            <a:endParaRPr dirty="0"/>
          </a:p>
        </p:txBody>
      </p:sp>
      <p:pic>
        <p:nvPicPr>
          <p:cNvPr id="4" name="Picture 3" descr="image.png"/>
          <p:cNvPicPr>
            <a:picLocks noChangeAspect="1"/>
          </p:cNvPicPr>
          <p:nvPr/>
        </p:nvPicPr>
        <p:blipFill>
          <a:blip r:embed="rId3"/>
          <a:stretch>
            <a:fillRect/>
          </a:stretch>
        </p:blipFill>
        <p:spPr>
          <a:xfrm>
            <a:off x="7772400" y="182880"/>
            <a:ext cx="914400" cy="914400"/>
          </a:xfrm>
          <a:prstGeom prst="rect">
            <a:avLst/>
          </a:prstGeom>
        </p:spPr>
      </p:pic>
      <p:sp>
        <p:nvSpPr>
          <p:cNvPr id="5" name="Espace réservé du numéro de diapositive 4">
            <a:extLst>
              <a:ext uri="{FF2B5EF4-FFF2-40B4-BE49-F238E27FC236}">
                <a16:creationId xmlns:a16="http://schemas.microsoft.com/office/drawing/2014/main" id="{3740BC9F-32B0-EFEF-D86D-CB1F149838B6}"/>
              </a:ext>
            </a:extLst>
          </p:cNvPr>
          <p:cNvSpPr>
            <a:spLocks noGrp="1"/>
          </p:cNvSpPr>
          <p:nvPr>
            <p:ph type="sldNum" sz="quarter" idx="12"/>
          </p:nvPr>
        </p:nvSpPr>
        <p:spPr/>
        <p:txBody>
          <a:bodyPr/>
          <a:lstStyle/>
          <a:p>
            <a:fld id="{C1FF6DA9-008F-8B48-92A6-B652298478BF}" type="slidenum">
              <a:rPr lang="en-US" smtClean="0"/>
              <a:t>7</a:t>
            </a:fld>
            <a:endParaRPr lang="en-US"/>
          </a:p>
        </p:txBody>
      </p:sp>
      <p:sp>
        <p:nvSpPr>
          <p:cNvPr id="7" name="ZoneTexte 6">
            <a:extLst>
              <a:ext uri="{FF2B5EF4-FFF2-40B4-BE49-F238E27FC236}">
                <a16:creationId xmlns:a16="http://schemas.microsoft.com/office/drawing/2014/main" id="{016B8D7F-1634-8EDE-BBC8-0694A0B93DA2}"/>
              </a:ext>
            </a:extLst>
          </p:cNvPr>
          <p:cNvSpPr txBox="1"/>
          <p:nvPr/>
        </p:nvSpPr>
        <p:spPr>
          <a:xfrm>
            <a:off x="314325" y="1112610"/>
            <a:ext cx="8515350" cy="1138773"/>
          </a:xfrm>
          <a:prstGeom prst="rect">
            <a:avLst/>
          </a:prstGeom>
          <a:noFill/>
        </p:spPr>
        <p:txBody>
          <a:bodyPr wrap="square">
            <a:spAutoFit/>
          </a:bodyPr>
          <a:lstStyle/>
          <a:p>
            <a:pPr>
              <a:buNone/>
            </a:pPr>
            <a:r>
              <a:rPr lang="fr-FR" b="1" dirty="0"/>
              <a:t>🎯 </a:t>
            </a:r>
            <a:r>
              <a:rPr lang="fr-FR" b="1" u="sng" dirty="0"/>
              <a:t>Objectifs de cette phase exploratoire :</a:t>
            </a:r>
          </a:p>
          <a:p>
            <a:pPr marL="898525" lvl="1" indent="-441325">
              <a:tabLst>
                <a:tab pos="898525" algn="l"/>
              </a:tabLst>
            </a:pPr>
            <a:r>
              <a:rPr lang="fr-FR" sz="1600" dirty="0"/>
              <a:t>📌 	</a:t>
            </a:r>
            <a:r>
              <a:rPr lang="fr-FR" sz="1600" b="1" dirty="0"/>
              <a:t>Vérifier la qualité et la cohérence</a:t>
            </a:r>
            <a:r>
              <a:rPr lang="fr-FR" sz="1600" dirty="0"/>
              <a:t> des données avant tout calcul</a:t>
            </a:r>
          </a:p>
          <a:p>
            <a:pPr marL="898525" lvl="1" indent="-441325">
              <a:tabLst>
                <a:tab pos="898525" algn="l"/>
              </a:tabLst>
            </a:pPr>
            <a:r>
              <a:rPr lang="fr-FR" sz="1600" dirty="0"/>
              <a:t>📌 	</a:t>
            </a:r>
            <a:r>
              <a:rPr lang="fr-FR" sz="1600" b="1" dirty="0"/>
              <a:t>Repérer les distributions</a:t>
            </a:r>
            <a:r>
              <a:rPr lang="fr-FR" sz="1600" dirty="0"/>
              <a:t> atypiques, déséquilibres ou effets de seuil</a:t>
            </a:r>
          </a:p>
          <a:p>
            <a:pPr marL="898525" lvl="1" indent="-441325">
              <a:tabLst>
                <a:tab pos="898525" algn="l"/>
              </a:tabLst>
            </a:pPr>
            <a:r>
              <a:rPr lang="fr-FR" sz="1600" dirty="0"/>
              <a:t>📌 	</a:t>
            </a:r>
            <a:r>
              <a:rPr lang="fr-FR" sz="1600" b="1" dirty="0"/>
              <a:t>Préparer les agrégations</a:t>
            </a:r>
            <a:r>
              <a:rPr lang="fr-FR" sz="1600" dirty="0"/>
              <a:t> pour les indicateurs (par sexe, CSP, ancienneté…)</a:t>
            </a:r>
          </a:p>
        </p:txBody>
      </p:sp>
      <p:pic>
        <p:nvPicPr>
          <p:cNvPr id="11" name="Image 10" descr="Une image contenant diagramme, cercle, capture d’écran, Graphique&#10;&#10;Le contenu généré par l’IA peut être incorrect.">
            <a:extLst>
              <a:ext uri="{FF2B5EF4-FFF2-40B4-BE49-F238E27FC236}">
                <a16:creationId xmlns:a16="http://schemas.microsoft.com/office/drawing/2014/main" id="{5C2D9CE8-9320-8A9C-FBD2-4DC1852A2903}"/>
              </a:ext>
            </a:extLst>
          </p:cNvPr>
          <p:cNvPicPr>
            <a:picLocks noChangeAspect="1"/>
          </p:cNvPicPr>
          <p:nvPr/>
        </p:nvPicPr>
        <p:blipFill>
          <a:blip r:embed="rId4"/>
          <a:srcRect l="17846" t="5541" r="18229"/>
          <a:stretch/>
        </p:blipFill>
        <p:spPr>
          <a:xfrm>
            <a:off x="314325" y="2620348"/>
            <a:ext cx="2996431" cy="3234241"/>
          </a:xfrm>
          <a:prstGeom prst="rect">
            <a:avLst/>
          </a:prstGeom>
        </p:spPr>
      </p:pic>
      <p:sp>
        <p:nvSpPr>
          <p:cNvPr id="12" name="ZoneTexte 11">
            <a:extLst>
              <a:ext uri="{FF2B5EF4-FFF2-40B4-BE49-F238E27FC236}">
                <a16:creationId xmlns:a16="http://schemas.microsoft.com/office/drawing/2014/main" id="{1E65363C-585D-87B0-905E-AB1AB1597B14}"/>
              </a:ext>
            </a:extLst>
          </p:cNvPr>
          <p:cNvSpPr txBox="1"/>
          <p:nvPr/>
        </p:nvSpPr>
        <p:spPr>
          <a:xfrm>
            <a:off x="314325" y="5810082"/>
            <a:ext cx="3515360" cy="307777"/>
          </a:xfrm>
          <a:prstGeom prst="rect">
            <a:avLst/>
          </a:prstGeom>
          <a:noFill/>
        </p:spPr>
        <p:txBody>
          <a:bodyPr wrap="square">
            <a:spAutoFit/>
          </a:bodyPr>
          <a:lstStyle/>
          <a:p>
            <a:r>
              <a:rPr lang="fr-FR" sz="1400" b="1" i="1" dirty="0"/>
              <a:t>Répartition des Effectifs par Sexe</a:t>
            </a:r>
          </a:p>
        </p:txBody>
      </p:sp>
      <p:pic>
        <p:nvPicPr>
          <p:cNvPr id="3" name="Image 2" descr="Une image contenant texte, capture d’écran, diagramme, Tracé&#10;&#10;Le contenu généré par l’IA peut être incorrect.">
            <a:extLst>
              <a:ext uri="{FF2B5EF4-FFF2-40B4-BE49-F238E27FC236}">
                <a16:creationId xmlns:a16="http://schemas.microsoft.com/office/drawing/2014/main" id="{E432B0FD-9C8B-1A66-69D8-4A0604799463}"/>
              </a:ext>
            </a:extLst>
          </p:cNvPr>
          <p:cNvPicPr>
            <a:picLocks noChangeAspect="1"/>
          </p:cNvPicPr>
          <p:nvPr/>
        </p:nvPicPr>
        <p:blipFill>
          <a:blip r:embed="rId5"/>
          <a:stretch>
            <a:fillRect/>
          </a:stretch>
        </p:blipFill>
        <p:spPr>
          <a:xfrm>
            <a:off x="3619500" y="2422321"/>
            <a:ext cx="5355924" cy="3912292"/>
          </a:xfrm>
          <a:prstGeom prst="rect">
            <a:avLst/>
          </a:prstGeom>
        </p:spPr>
      </p:pic>
      <p:sp>
        <p:nvSpPr>
          <p:cNvPr id="6" name="ZoneTexte 5">
            <a:extLst>
              <a:ext uri="{FF2B5EF4-FFF2-40B4-BE49-F238E27FC236}">
                <a16:creationId xmlns:a16="http://schemas.microsoft.com/office/drawing/2014/main" id="{82DB59AF-173C-3F79-1DEB-89A86D49DBAC}"/>
              </a:ext>
            </a:extLst>
          </p:cNvPr>
          <p:cNvSpPr txBox="1"/>
          <p:nvPr/>
        </p:nvSpPr>
        <p:spPr>
          <a:xfrm>
            <a:off x="4158615" y="6428138"/>
            <a:ext cx="4671060" cy="307777"/>
          </a:xfrm>
          <a:prstGeom prst="rect">
            <a:avLst/>
          </a:prstGeom>
          <a:noFill/>
        </p:spPr>
        <p:txBody>
          <a:bodyPr wrap="square">
            <a:spAutoFit/>
          </a:bodyPr>
          <a:lstStyle/>
          <a:p>
            <a:r>
              <a:rPr lang="fr-FR" sz="1400" b="1" i="1" dirty="0"/>
              <a:t>Comparaison des Salaires par Sexe et CSP</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914400"/>
          </a:xfrm>
          <a:prstGeom prst="rect">
            <a:avLst/>
          </a:prstGeom>
          <a:solidFill>
            <a:srgbClr val="1A2A44"/>
          </a:solidFill>
        </p:spPr>
        <p:style>
          <a:lnRef idx="1">
            <a:schemeClr val="accent1"/>
          </a:lnRef>
          <a:fillRef idx="3">
            <a:schemeClr val="accent1"/>
          </a:fillRef>
          <a:effectRef idx="2">
            <a:schemeClr val="accent1"/>
          </a:effectRef>
          <a:fontRef idx="minor">
            <a:schemeClr val="lt1"/>
          </a:fontRef>
        </p:style>
        <p:txBody>
          <a:bodyPr rtlCol="0" anchor="ctr"/>
          <a:lstStyle/>
          <a:p>
            <a:pPr>
              <a:defRPr sz="2400" b="1">
                <a:solidFill>
                  <a:srgbClr val="FFFFFF"/>
                </a:solidFill>
              </a:defRPr>
            </a:pPr>
            <a:r>
              <a:rPr dirty="0" err="1"/>
              <a:t>Indicateur</a:t>
            </a:r>
            <a:r>
              <a:rPr dirty="0"/>
              <a:t> 1 – </a:t>
            </a:r>
            <a:r>
              <a:rPr dirty="0" err="1"/>
              <a:t>Écart</a:t>
            </a:r>
            <a:r>
              <a:rPr dirty="0"/>
              <a:t> de </a:t>
            </a:r>
            <a:r>
              <a:rPr dirty="0" err="1"/>
              <a:t>rémunération</a:t>
            </a:r>
            <a:r>
              <a:rPr lang="fr-FR" dirty="0"/>
              <a:t> F / H</a:t>
            </a:r>
            <a:endParaRPr dirty="0"/>
          </a:p>
        </p:txBody>
      </p:sp>
      <p:pic>
        <p:nvPicPr>
          <p:cNvPr id="4" name="Picture 3" descr="image.png"/>
          <p:cNvPicPr>
            <a:picLocks noChangeAspect="1"/>
          </p:cNvPicPr>
          <p:nvPr/>
        </p:nvPicPr>
        <p:blipFill>
          <a:blip r:embed="rId3"/>
          <a:stretch>
            <a:fillRect/>
          </a:stretch>
        </p:blipFill>
        <p:spPr>
          <a:xfrm>
            <a:off x="7772400" y="182880"/>
            <a:ext cx="914400" cy="914400"/>
          </a:xfrm>
          <a:prstGeom prst="rect">
            <a:avLst/>
          </a:prstGeom>
        </p:spPr>
      </p:pic>
      <p:pic>
        <p:nvPicPr>
          <p:cNvPr id="11" name="Image 10">
            <a:extLst>
              <a:ext uri="{FF2B5EF4-FFF2-40B4-BE49-F238E27FC236}">
                <a16:creationId xmlns:a16="http://schemas.microsoft.com/office/drawing/2014/main" id="{D3A93018-9819-5432-BE41-A1A609E979D8}"/>
              </a:ext>
            </a:extLst>
          </p:cNvPr>
          <p:cNvPicPr>
            <a:picLocks noChangeAspect="1"/>
          </p:cNvPicPr>
          <p:nvPr/>
        </p:nvPicPr>
        <p:blipFill>
          <a:blip r:embed="rId4"/>
          <a:stretch>
            <a:fillRect/>
          </a:stretch>
        </p:blipFill>
        <p:spPr>
          <a:xfrm>
            <a:off x="438150" y="4431530"/>
            <a:ext cx="8267700" cy="2209541"/>
          </a:xfrm>
          <a:prstGeom prst="rect">
            <a:avLst/>
          </a:prstGeom>
          <a:ln>
            <a:solidFill>
              <a:schemeClr val="accent6"/>
            </a:solidFill>
          </a:ln>
        </p:spPr>
      </p:pic>
      <p:sp>
        <p:nvSpPr>
          <p:cNvPr id="14" name="ZoneTexte 13">
            <a:extLst>
              <a:ext uri="{FF2B5EF4-FFF2-40B4-BE49-F238E27FC236}">
                <a16:creationId xmlns:a16="http://schemas.microsoft.com/office/drawing/2014/main" id="{628F774C-B922-F4D8-8F2F-D9C9DBE675A6}"/>
              </a:ext>
            </a:extLst>
          </p:cNvPr>
          <p:cNvSpPr txBox="1"/>
          <p:nvPr/>
        </p:nvSpPr>
        <p:spPr>
          <a:xfrm>
            <a:off x="215900" y="1567965"/>
            <a:ext cx="3009900" cy="646331"/>
          </a:xfrm>
          <a:prstGeom prst="rect">
            <a:avLst/>
          </a:prstGeom>
          <a:noFill/>
        </p:spPr>
        <p:txBody>
          <a:bodyPr wrap="square">
            <a:spAutoFit/>
          </a:bodyPr>
          <a:lstStyle/>
          <a:p>
            <a:pPr marL="0" lvl="2" algn="ctr" defTabSz="914400" eaLnBrk="0" fontAlgn="base" hangingPunct="0">
              <a:spcBef>
                <a:spcPct val="0"/>
              </a:spcBef>
              <a:spcAft>
                <a:spcPct val="0"/>
              </a:spcAft>
            </a:pPr>
            <a:r>
              <a:rPr kumimoji="0" lang="fr-FR" altLang="fr-FR" sz="1800" b="1" i="0" u="none" strike="noStrike" cap="none" normalizeH="0" baseline="0" dirty="0">
                <a:ln>
                  <a:noFill/>
                </a:ln>
                <a:solidFill>
                  <a:schemeClr val="tx1"/>
                </a:solidFill>
                <a:effectLst/>
                <a:latin typeface="+mj-lt"/>
              </a:rPr>
              <a:t>Note </a:t>
            </a:r>
            <a:r>
              <a:rPr lang="fr-FR" altLang="fr-FR" b="1" dirty="0">
                <a:latin typeface="+mj-lt"/>
              </a:rPr>
              <a:t>(</a:t>
            </a:r>
            <a:r>
              <a:rPr kumimoji="0" lang="fr-FR" altLang="fr-FR" sz="1800" b="1" i="0" u="none" strike="noStrike" cap="none" normalizeH="0" baseline="0" dirty="0">
                <a:ln>
                  <a:noFill/>
                </a:ln>
                <a:solidFill>
                  <a:schemeClr val="tx1"/>
                </a:solidFill>
                <a:effectLst/>
                <a:latin typeface="+mj-lt"/>
              </a:rPr>
              <a:t>barème officiel)</a:t>
            </a:r>
            <a:br>
              <a:rPr kumimoji="0" lang="fr-FR" altLang="fr-FR" sz="1800" b="0" i="0" u="none" strike="noStrike" cap="none" normalizeH="0" baseline="0" dirty="0">
                <a:ln>
                  <a:noFill/>
                </a:ln>
                <a:solidFill>
                  <a:schemeClr val="tx1"/>
                </a:solidFill>
                <a:effectLst/>
                <a:latin typeface="+mj-lt"/>
              </a:rPr>
            </a:br>
            <a:endParaRPr kumimoji="0" lang="fr-FR" altLang="fr-FR" sz="1800" b="0" i="0" u="none" strike="noStrike" cap="none" normalizeH="0" baseline="0" dirty="0">
              <a:ln>
                <a:noFill/>
              </a:ln>
              <a:solidFill>
                <a:schemeClr val="tx1"/>
              </a:solidFill>
              <a:effectLst/>
              <a:latin typeface="+mj-lt"/>
            </a:endParaRPr>
          </a:p>
        </p:txBody>
      </p:sp>
      <p:sp>
        <p:nvSpPr>
          <p:cNvPr id="15" name="ZoneTexte 14">
            <a:extLst>
              <a:ext uri="{FF2B5EF4-FFF2-40B4-BE49-F238E27FC236}">
                <a16:creationId xmlns:a16="http://schemas.microsoft.com/office/drawing/2014/main" id="{3895160B-9238-0DE4-91B4-9E50C473CC20}"/>
              </a:ext>
            </a:extLst>
          </p:cNvPr>
          <p:cNvSpPr txBox="1"/>
          <p:nvPr/>
        </p:nvSpPr>
        <p:spPr>
          <a:xfrm>
            <a:off x="298450" y="1983463"/>
            <a:ext cx="2844800" cy="1107996"/>
          </a:xfrm>
          <a:prstGeom prst="rect">
            <a:avLst/>
          </a:prstGeom>
          <a:noFill/>
        </p:spPr>
        <p:txBody>
          <a:bodyPr wrap="square">
            <a:spAutoFit/>
          </a:bodyPr>
          <a:lstStyle/>
          <a:p>
            <a:pPr algn="ctr"/>
            <a:r>
              <a:rPr kumimoji="0" lang="fr-FR" altLang="fr-FR" sz="6600" b="1" i="0" u="none" strike="noStrike" cap="none" normalizeH="0" baseline="0" dirty="0">
                <a:ln>
                  <a:noFill/>
                </a:ln>
                <a:solidFill>
                  <a:schemeClr val="accent6"/>
                </a:solidFill>
                <a:effectLst/>
                <a:latin typeface="+mj-lt"/>
              </a:rPr>
              <a:t>36 </a:t>
            </a:r>
            <a:r>
              <a:rPr kumimoji="0" lang="fr-FR" altLang="fr-FR" sz="6600" i="0" u="none" strike="noStrike" cap="none" normalizeH="0" baseline="0" dirty="0">
                <a:ln>
                  <a:noFill/>
                </a:ln>
                <a:effectLst/>
                <a:latin typeface="+mj-lt"/>
              </a:rPr>
              <a:t>/ 40</a:t>
            </a:r>
            <a:endParaRPr lang="fr-FR" sz="5400" dirty="0"/>
          </a:p>
        </p:txBody>
      </p:sp>
      <p:sp>
        <p:nvSpPr>
          <p:cNvPr id="7" name="Rectangle 1">
            <a:extLst>
              <a:ext uri="{FF2B5EF4-FFF2-40B4-BE49-F238E27FC236}">
                <a16:creationId xmlns:a16="http://schemas.microsoft.com/office/drawing/2014/main" id="{D2FADABC-D590-9731-4715-7DAFD5E15BA2}"/>
              </a:ext>
            </a:extLst>
          </p:cNvPr>
          <p:cNvSpPr>
            <a:spLocks noChangeArrowheads="1"/>
          </p:cNvSpPr>
          <p:nvPr/>
        </p:nvSpPr>
        <p:spPr bwMode="auto">
          <a:xfrm>
            <a:off x="3632200" y="1668613"/>
            <a:ext cx="5295900" cy="2092881"/>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fr-FR" altLang="fr-FR" b="1" dirty="0">
                <a:latin typeface="+mj-lt"/>
              </a:rPr>
              <a:t>📐 Méthodologie (Index Égalité Professionnelle) :</a:t>
            </a:r>
          </a:p>
          <a:p>
            <a:pPr lvl="1" indent="-190500" defTabSz="914400" eaLnBrk="0" fontAlgn="base" hangingPunct="0">
              <a:spcBef>
                <a:spcPct val="0"/>
              </a:spcBef>
              <a:spcAft>
                <a:spcPct val="0"/>
              </a:spcAft>
              <a:buFontTx/>
              <a:buAutoNum type="arabicPeriod"/>
            </a:pPr>
            <a:r>
              <a:rPr lang="fr-FR" altLang="fr-FR" sz="1400" dirty="0"/>
              <a:t>Calcul de la rémunération annuelle moyenne (ETP)</a:t>
            </a:r>
          </a:p>
          <a:p>
            <a:pPr marL="723900" lvl="2" defTabSz="914400" eaLnBrk="0" fontAlgn="base" hangingPunct="0">
              <a:spcBef>
                <a:spcPct val="0"/>
              </a:spcBef>
              <a:spcAft>
                <a:spcPct val="0"/>
              </a:spcAft>
            </a:pPr>
            <a:r>
              <a:rPr lang="fr-FR" altLang="fr-FR" sz="1400" dirty="0">
                <a:latin typeface="+mj-lt"/>
              </a:rPr>
              <a:t>➤ Par CSP et tranche d’âge (pour les F et les H)</a:t>
            </a:r>
          </a:p>
          <a:p>
            <a:pPr lvl="1" indent="-190500" defTabSz="914400" eaLnBrk="0" fontAlgn="base" hangingPunct="0">
              <a:spcBef>
                <a:spcPct val="0"/>
              </a:spcBef>
              <a:spcAft>
                <a:spcPct val="0"/>
              </a:spcAft>
              <a:buFontTx/>
              <a:buAutoNum type="arabicPeriod"/>
            </a:pPr>
            <a:r>
              <a:rPr lang="fr-FR" altLang="fr-FR" sz="1400" dirty="0"/>
              <a:t>Écart H/F par groupe</a:t>
            </a:r>
          </a:p>
          <a:p>
            <a:pPr marL="723900" lvl="2" defTabSz="914400" eaLnBrk="0" fontAlgn="base" hangingPunct="0">
              <a:spcBef>
                <a:spcPct val="0"/>
              </a:spcBef>
              <a:spcAft>
                <a:spcPct val="0"/>
              </a:spcAft>
            </a:pPr>
            <a:r>
              <a:rPr lang="fr-FR" altLang="fr-FR" sz="1400" dirty="0">
                <a:latin typeface="+mj-lt"/>
              </a:rPr>
              <a:t>➤ Formule : ((H - F) / H) × 100</a:t>
            </a:r>
          </a:p>
          <a:p>
            <a:pPr lvl="1" indent="-190500" defTabSz="914400" eaLnBrk="0" fontAlgn="base" hangingPunct="0">
              <a:spcBef>
                <a:spcPct val="0"/>
              </a:spcBef>
              <a:spcAft>
                <a:spcPct val="0"/>
              </a:spcAft>
              <a:buFontTx/>
              <a:buAutoNum type="arabicPeriod"/>
            </a:pPr>
            <a:r>
              <a:rPr lang="fr-FR" altLang="fr-FR" sz="1400" dirty="0"/>
              <a:t>Pondération de chaque écart selon le poids de chaque groupe</a:t>
            </a:r>
          </a:p>
          <a:p>
            <a:pPr lvl="1" indent="-190500" defTabSz="914400" eaLnBrk="0" fontAlgn="base" hangingPunct="0">
              <a:spcBef>
                <a:spcPct val="0"/>
              </a:spcBef>
              <a:spcAft>
                <a:spcPct val="0"/>
              </a:spcAft>
              <a:buFontTx/>
              <a:buAutoNum type="arabicPeriod"/>
            </a:pPr>
            <a:r>
              <a:rPr lang="fr-FR" altLang="fr-FR" sz="1400" dirty="0"/>
              <a:t>Somme des écarts pondérés → écart global de rémunération</a:t>
            </a:r>
          </a:p>
          <a:p>
            <a:pPr lvl="1" indent="-190500" defTabSz="914400" eaLnBrk="0" fontAlgn="base" hangingPunct="0">
              <a:spcBef>
                <a:spcPct val="0"/>
              </a:spcBef>
              <a:spcAft>
                <a:spcPct val="0"/>
              </a:spcAft>
              <a:buFontTx/>
              <a:buAutoNum type="arabicPeriod"/>
            </a:pPr>
            <a:r>
              <a:rPr lang="fr-FR" altLang="fr-FR" sz="1400" dirty="0"/>
              <a:t>Valeur absolue, arrondie à 1 décimale</a:t>
            </a:r>
          </a:p>
          <a:p>
            <a:pPr marL="723900" lvl="2" defTabSz="914400" eaLnBrk="0" fontAlgn="base" hangingPunct="0">
              <a:spcBef>
                <a:spcPct val="0"/>
              </a:spcBef>
              <a:spcAft>
                <a:spcPct val="0"/>
              </a:spcAft>
            </a:pPr>
            <a:r>
              <a:rPr lang="fr-FR" altLang="fr-FR" sz="1400" dirty="0">
                <a:latin typeface="+mj-lt"/>
              </a:rPr>
              <a:t>➤ 3,8 % (en faveur des hommes)</a:t>
            </a:r>
          </a:p>
        </p:txBody>
      </p:sp>
      <p:sp>
        <p:nvSpPr>
          <p:cNvPr id="16" name="Espace réservé du numéro de diapositive 15">
            <a:extLst>
              <a:ext uri="{FF2B5EF4-FFF2-40B4-BE49-F238E27FC236}">
                <a16:creationId xmlns:a16="http://schemas.microsoft.com/office/drawing/2014/main" id="{875631C7-AC80-383B-3812-554AAA585EDC}"/>
              </a:ext>
            </a:extLst>
          </p:cNvPr>
          <p:cNvSpPr>
            <a:spLocks noGrp="1"/>
          </p:cNvSpPr>
          <p:nvPr>
            <p:ph type="sldNum" sz="quarter" idx="12"/>
          </p:nvPr>
        </p:nvSpPr>
        <p:spPr/>
        <p:txBody>
          <a:bodyPr/>
          <a:lstStyle/>
          <a:p>
            <a:fld id="{C1FF6DA9-008F-8B48-92A6-B652298478BF}" type="slidenum">
              <a:rPr lang="en-US"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 10">
            <a:extLst>
              <a:ext uri="{FF2B5EF4-FFF2-40B4-BE49-F238E27FC236}">
                <a16:creationId xmlns:a16="http://schemas.microsoft.com/office/drawing/2014/main" id="{17CD54C6-76FF-3000-1370-A5056CBC8675}"/>
              </a:ext>
            </a:extLst>
          </p:cNvPr>
          <p:cNvPicPr>
            <a:picLocks noChangeAspect="1"/>
          </p:cNvPicPr>
          <p:nvPr/>
        </p:nvPicPr>
        <p:blipFill>
          <a:blip r:embed="rId3"/>
          <a:stretch>
            <a:fillRect/>
          </a:stretch>
        </p:blipFill>
        <p:spPr>
          <a:xfrm>
            <a:off x="495300" y="4618927"/>
            <a:ext cx="8153400" cy="2041945"/>
          </a:xfrm>
          <a:prstGeom prst="rect">
            <a:avLst/>
          </a:prstGeom>
          <a:ln>
            <a:solidFill>
              <a:schemeClr val="accent6"/>
            </a:solidFill>
          </a:ln>
        </p:spPr>
      </p:pic>
      <p:sp>
        <p:nvSpPr>
          <p:cNvPr id="2" name="Rectangle 1"/>
          <p:cNvSpPr/>
          <p:nvPr/>
        </p:nvSpPr>
        <p:spPr>
          <a:xfrm>
            <a:off x="0" y="0"/>
            <a:ext cx="9144000" cy="914400"/>
          </a:xfrm>
          <a:prstGeom prst="rect">
            <a:avLst/>
          </a:prstGeom>
          <a:solidFill>
            <a:srgbClr val="1A2A44"/>
          </a:solidFill>
        </p:spPr>
        <p:style>
          <a:lnRef idx="1">
            <a:schemeClr val="accent1"/>
          </a:lnRef>
          <a:fillRef idx="3">
            <a:schemeClr val="accent1"/>
          </a:fillRef>
          <a:effectRef idx="2">
            <a:schemeClr val="accent1"/>
          </a:effectRef>
          <a:fontRef idx="minor">
            <a:schemeClr val="lt1"/>
          </a:fontRef>
        </p:style>
        <p:txBody>
          <a:bodyPr rtlCol="0" anchor="ctr"/>
          <a:lstStyle/>
          <a:p>
            <a:pPr>
              <a:defRPr sz="2400" b="1">
                <a:solidFill>
                  <a:srgbClr val="FFFFFF"/>
                </a:solidFill>
              </a:defRPr>
            </a:pPr>
            <a:r>
              <a:rPr dirty="0" err="1"/>
              <a:t>Indicateur</a:t>
            </a:r>
            <a:r>
              <a:rPr dirty="0"/>
              <a:t> 2 – </a:t>
            </a:r>
            <a:r>
              <a:rPr lang="fr-FR" dirty="0"/>
              <a:t>Écart de taux d’a</a:t>
            </a:r>
            <a:r>
              <a:rPr dirty="0" err="1"/>
              <a:t>ugmentations</a:t>
            </a:r>
            <a:r>
              <a:rPr dirty="0"/>
              <a:t> </a:t>
            </a:r>
            <a:r>
              <a:rPr dirty="0" err="1"/>
              <a:t>individuelles</a:t>
            </a:r>
            <a:endParaRPr dirty="0"/>
          </a:p>
        </p:txBody>
      </p:sp>
      <p:pic>
        <p:nvPicPr>
          <p:cNvPr id="4" name="Picture 3" descr="image.png"/>
          <p:cNvPicPr>
            <a:picLocks noChangeAspect="1"/>
          </p:cNvPicPr>
          <p:nvPr/>
        </p:nvPicPr>
        <p:blipFill>
          <a:blip r:embed="rId4"/>
          <a:stretch>
            <a:fillRect/>
          </a:stretch>
        </p:blipFill>
        <p:spPr>
          <a:xfrm>
            <a:off x="7772400" y="182880"/>
            <a:ext cx="914400" cy="914400"/>
          </a:xfrm>
          <a:prstGeom prst="rect">
            <a:avLst/>
          </a:prstGeom>
        </p:spPr>
      </p:pic>
      <p:sp>
        <p:nvSpPr>
          <p:cNvPr id="7" name="Rectangle 1">
            <a:extLst>
              <a:ext uri="{FF2B5EF4-FFF2-40B4-BE49-F238E27FC236}">
                <a16:creationId xmlns:a16="http://schemas.microsoft.com/office/drawing/2014/main" id="{9E953B59-93A4-D44A-3659-E080CD9A3739}"/>
              </a:ext>
            </a:extLst>
          </p:cNvPr>
          <p:cNvSpPr>
            <a:spLocks noChangeArrowheads="1"/>
          </p:cNvSpPr>
          <p:nvPr/>
        </p:nvSpPr>
        <p:spPr bwMode="auto">
          <a:xfrm>
            <a:off x="3632200" y="1504779"/>
            <a:ext cx="5295900" cy="252376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fr-FR" altLang="fr-FR" b="1" dirty="0">
                <a:latin typeface="+mj-lt"/>
              </a:rPr>
              <a:t>📐 Méthodologie :</a:t>
            </a:r>
          </a:p>
          <a:p>
            <a:pPr lvl="1" indent="-190500" defTabSz="914400" eaLnBrk="0" fontAlgn="base" hangingPunct="0">
              <a:spcBef>
                <a:spcPct val="0"/>
              </a:spcBef>
              <a:spcAft>
                <a:spcPct val="0"/>
              </a:spcAft>
              <a:buFontTx/>
              <a:buAutoNum type="arabicPeriod"/>
            </a:pPr>
            <a:r>
              <a:rPr lang="fr-FR" sz="1400" dirty="0"/>
              <a:t>Calcul du taux d’augmentation individuelle par CSP et sexe</a:t>
            </a:r>
          </a:p>
          <a:p>
            <a:pPr marL="723900" lvl="2" defTabSz="914400" eaLnBrk="0" fontAlgn="base" hangingPunct="0">
              <a:spcBef>
                <a:spcPct val="0"/>
              </a:spcBef>
              <a:spcAft>
                <a:spcPct val="0"/>
              </a:spcAft>
            </a:pPr>
            <a:r>
              <a:rPr lang="fr-FR" altLang="fr-FR" sz="1400" dirty="0">
                <a:latin typeface="+mj-lt"/>
              </a:rPr>
              <a:t>➤ </a:t>
            </a:r>
            <a:r>
              <a:rPr lang="fr-FR" sz="1400" dirty="0">
                <a:latin typeface="+mj-lt"/>
              </a:rPr>
              <a:t>% de salariés augmentés dans chaque groupe</a:t>
            </a:r>
          </a:p>
          <a:p>
            <a:pPr lvl="1" indent="-190500" defTabSz="914400" eaLnBrk="0" fontAlgn="base" hangingPunct="0">
              <a:spcBef>
                <a:spcPct val="0"/>
              </a:spcBef>
              <a:spcAft>
                <a:spcPct val="0"/>
              </a:spcAft>
              <a:buFontTx/>
              <a:buAutoNum type="arabicPeriod"/>
            </a:pPr>
            <a:r>
              <a:rPr lang="fr-FR" sz="1400" dirty="0"/>
              <a:t>Calcul de l’écart H/F par CSP :</a:t>
            </a:r>
          </a:p>
          <a:p>
            <a:pPr marL="723900" lvl="2" defTabSz="914400" eaLnBrk="0" fontAlgn="base" hangingPunct="0">
              <a:spcBef>
                <a:spcPct val="0"/>
              </a:spcBef>
              <a:spcAft>
                <a:spcPct val="0"/>
              </a:spcAft>
            </a:pPr>
            <a:r>
              <a:rPr lang="fr-FR" altLang="fr-FR" sz="1400" dirty="0">
                <a:latin typeface="+mj-lt"/>
              </a:rPr>
              <a:t>➤ </a:t>
            </a:r>
            <a:r>
              <a:rPr lang="fr-FR" sz="1400" dirty="0">
                <a:latin typeface="+mj-lt"/>
              </a:rPr>
              <a:t>Taux H - Taux F    (</a:t>
            </a:r>
            <a:r>
              <a:rPr lang="fr-FR" sz="1400" dirty="0"/>
              <a:t>exprimé en %)</a:t>
            </a:r>
            <a:endParaRPr lang="fr-FR" altLang="fr-FR" sz="1400" dirty="0">
              <a:latin typeface="+mj-lt"/>
            </a:endParaRPr>
          </a:p>
          <a:p>
            <a:pPr lvl="1" indent="-190500" defTabSz="914400" eaLnBrk="0" fontAlgn="base" hangingPunct="0">
              <a:spcBef>
                <a:spcPct val="0"/>
              </a:spcBef>
              <a:spcAft>
                <a:spcPct val="0"/>
              </a:spcAft>
              <a:buFontTx/>
              <a:buAutoNum type="arabicPeriod"/>
            </a:pPr>
            <a:r>
              <a:rPr lang="fr-FR" altLang="fr-FR" sz="1400" dirty="0"/>
              <a:t>Pondération </a:t>
            </a:r>
            <a:r>
              <a:rPr lang="fr-FR" sz="1400" dirty="0"/>
              <a:t>de chaque écart selon l’effectif du groupe CSP</a:t>
            </a:r>
            <a:endParaRPr lang="fr-FR" altLang="fr-FR" sz="1400" dirty="0"/>
          </a:p>
          <a:p>
            <a:pPr lvl="1" indent="-190500" defTabSz="914400" eaLnBrk="0" fontAlgn="base" hangingPunct="0">
              <a:spcBef>
                <a:spcPct val="0"/>
              </a:spcBef>
              <a:spcAft>
                <a:spcPct val="0"/>
              </a:spcAft>
              <a:buFontTx/>
              <a:buAutoNum type="arabicPeriod"/>
            </a:pPr>
            <a:r>
              <a:rPr lang="fr-FR" sz="1400" dirty="0"/>
              <a:t>Écart global pondéré exprimé en valeur absolue :</a:t>
            </a:r>
          </a:p>
          <a:p>
            <a:pPr marL="723900" lvl="2" defTabSz="914400" eaLnBrk="0" fontAlgn="base" hangingPunct="0">
              <a:spcBef>
                <a:spcPct val="0"/>
              </a:spcBef>
              <a:spcAft>
                <a:spcPct val="0"/>
              </a:spcAft>
            </a:pPr>
            <a:r>
              <a:rPr lang="fr-FR" altLang="fr-FR" sz="1400" dirty="0">
                <a:latin typeface="+mj-lt"/>
              </a:rPr>
              <a:t>➤ </a:t>
            </a:r>
            <a:r>
              <a:rPr lang="fr-FR" sz="1400" dirty="0">
                <a:latin typeface="+mj-lt"/>
              </a:rPr>
              <a:t>7,12 % (en faveur des femmes)</a:t>
            </a:r>
          </a:p>
          <a:p>
            <a:pPr lvl="1" indent="-190500" defTabSz="914400" eaLnBrk="0" fontAlgn="base" hangingPunct="0">
              <a:spcBef>
                <a:spcPct val="0"/>
              </a:spcBef>
              <a:spcAft>
                <a:spcPct val="0"/>
              </a:spcAft>
              <a:buFontTx/>
              <a:buAutoNum type="arabicPeriod"/>
            </a:pPr>
            <a:r>
              <a:rPr lang="fr-FR" sz="1400" dirty="0"/>
              <a:t>Application de la règle de neutralisation : </a:t>
            </a:r>
          </a:p>
          <a:p>
            <a:pPr marL="723900" lvl="2" defTabSz="914400" eaLnBrk="0" fontAlgn="base" hangingPunct="0">
              <a:spcBef>
                <a:spcPct val="0"/>
              </a:spcBef>
              <a:spcAft>
                <a:spcPct val="0"/>
              </a:spcAft>
            </a:pPr>
            <a:r>
              <a:rPr lang="fr-FR" altLang="fr-FR" sz="1400" dirty="0">
                <a:latin typeface="+mj-lt"/>
              </a:rPr>
              <a:t>➤ L</a:t>
            </a:r>
            <a:r>
              <a:rPr lang="fr-FR" sz="1400" dirty="0">
                <a:latin typeface="+mj-lt"/>
              </a:rPr>
              <a:t>’écart est en faveur du sexe le moins rémunéré (ici les femmes), note maximale appliquée</a:t>
            </a:r>
            <a:endParaRPr lang="fr-FR" altLang="fr-FR" sz="1400" dirty="0">
              <a:latin typeface="+mj-lt"/>
            </a:endParaRPr>
          </a:p>
        </p:txBody>
      </p:sp>
      <p:sp>
        <p:nvSpPr>
          <p:cNvPr id="8" name="ZoneTexte 7">
            <a:extLst>
              <a:ext uri="{FF2B5EF4-FFF2-40B4-BE49-F238E27FC236}">
                <a16:creationId xmlns:a16="http://schemas.microsoft.com/office/drawing/2014/main" id="{E1027E32-FD3B-7102-E037-EFDF0EA1B326}"/>
              </a:ext>
            </a:extLst>
          </p:cNvPr>
          <p:cNvSpPr txBox="1"/>
          <p:nvPr/>
        </p:nvSpPr>
        <p:spPr>
          <a:xfrm>
            <a:off x="215900" y="1567965"/>
            <a:ext cx="3009900" cy="646331"/>
          </a:xfrm>
          <a:prstGeom prst="rect">
            <a:avLst/>
          </a:prstGeom>
          <a:noFill/>
        </p:spPr>
        <p:txBody>
          <a:bodyPr wrap="square">
            <a:spAutoFit/>
          </a:bodyPr>
          <a:lstStyle/>
          <a:p>
            <a:pPr marL="0" lvl="2" algn="ctr" defTabSz="914400" eaLnBrk="0" fontAlgn="base" hangingPunct="0">
              <a:spcBef>
                <a:spcPct val="0"/>
              </a:spcBef>
              <a:spcAft>
                <a:spcPct val="0"/>
              </a:spcAft>
            </a:pPr>
            <a:r>
              <a:rPr kumimoji="0" lang="fr-FR" altLang="fr-FR" sz="1800" b="1" i="0" u="none" strike="noStrike" cap="none" normalizeH="0" baseline="0" dirty="0">
                <a:ln>
                  <a:noFill/>
                </a:ln>
                <a:solidFill>
                  <a:schemeClr val="tx1"/>
                </a:solidFill>
                <a:effectLst/>
                <a:latin typeface="+mj-lt"/>
              </a:rPr>
              <a:t>Note </a:t>
            </a:r>
            <a:r>
              <a:rPr lang="fr-FR" altLang="fr-FR" b="1" dirty="0">
                <a:latin typeface="+mj-lt"/>
              </a:rPr>
              <a:t>(</a:t>
            </a:r>
            <a:r>
              <a:rPr kumimoji="0" lang="fr-FR" altLang="fr-FR" sz="1800" b="1" i="0" u="none" strike="noStrike" cap="none" normalizeH="0" baseline="0" dirty="0">
                <a:ln>
                  <a:noFill/>
                </a:ln>
                <a:solidFill>
                  <a:schemeClr val="tx1"/>
                </a:solidFill>
                <a:effectLst/>
                <a:latin typeface="+mj-lt"/>
              </a:rPr>
              <a:t>barème officiel)</a:t>
            </a:r>
            <a:br>
              <a:rPr kumimoji="0" lang="fr-FR" altLang="fr-FR" sz="1800" b="0" i="0" u="none" strike="noStrike" cap="none" normalizeH="0" baseline="0" dirty="0">
                <a:ln>
                  <a:noFill/>
                </a:ln>
                <a:solidFill>
                  <a:schemeClr val="tx1"/>
                </a:solidFill>
                <a:effectLst/>
                <a:latin typeface="+mj-lt"/>
              </a:rPr>
            </a:br>
            <a:endParaRPr kumimoji="0" lang="fr-FR" altLang="fr-FR" sz="1800" b="0" i="0" u="none" strike="noStrike" cap="none" normalizeH="0" baseline="0" dirty="0">
              <a:ln>
                <a:noFill/>
              </a:ln>
              <a:solidFill>
                <a:schemeClr val="tx1"/>
              </a:solidFill>
              <a:effectLst/>
              <a:latin typeface="+mj-lt"/>
            </a:endParaRPr>
          </a:p>
        </p:txBody>
      </p:sp>
      <p:sp>
        <p:nvSpPr>
          <p:cNvPr id="9" name="ZoneTexte 8">
            <a:extLst>
              <a:ext uri="{FF2B5EF4-FFF2-40B4-BE49-F238E27FC236}">
                <a16:creationId xmlns:a16="http://schemas.microsoft.com/office/drawing/2014/main" id="{AB9C04D4-2A51-429E-EA46-CF28721532F2}"/>
              </a:ext>
            </a:extLst>
          </p:cNvPr>
          <p:cNvSpPr txBox="1"/>
          <p:nvPr/>
        </p:nvSpPr>
        <p:spPr>
          <a:xfrm>
            <a:off x="298450" y="1983463"/>
            <a:ext cx="2844800" cy="1107996"/>
          </a:xfrm>
          <a:prstGeom prst="rect">
            <a:avLst/>
          </a:prstGeom>
          <a:noFill/>
        </p:spPr>
        <p:txBody>
          <a:bodyPr wrap="square">
            <a:spAutoFit/>
          </a:bodyPr>
          <a:lstStyle/>
          <a:p>
            <a:pPr algn="ctr"/>
            <a:r>
              <a:rPr kumimoji="0" lang="fr-FR" altLang="fr-FR" sz="6600" b="1" i="0" u="none" strike="noStrike" cap="none" normalizeH="0" baseline="0" dirty="0">
                <a:ln>
                  <a:noFill/>
                </a:ln>
                <a:solidFill>
                  <a:srgbClr val="00B050"/>
                </a:solidFill>
                <a:effectLst/>
                <a:latin typeface="+mj-lt"/>
              </a:rPr>
              <a:t>20</a:t>
            </a:r>
            <a:r>
              <a:rPr kumimoji="0" lang="fr-FR" altLang="fr-FR" sz="6600" b="1" i="0" u="none" strike="noStrike" cap="none" normalizeH="0" baseline="0" dirty="0">
                <a:ln>
                  <a:noFill/>
                </a:ln>
                <a:solidFill>
                  <a:schemeClr val="accent6"/>
                </a:solidFill>
                <a:effectLst/>
                <a:latin typeface="+mj-lt"/>
              </a:rPr>
              <a:t> </a:t>
            </a:r>
            <a:r>
              <a:rPr kumimoji="0" lang="fr-FR" altLang="fr-FR" sz="6600" i="0" u="none" strike="noStrike" cap="none" normalizeH="0" baseline="0" dirty="0">
                <a:ln>
                  <a:noFill/>
                </a:ln>
                <a:effectLst/>
                <a:latin typeface="+mj-lt"/>
              </a:rPr>
              <a:t>/ 20</a:t>
            </a:r>
            <a:endParaRPr lang="fr-FR" sz="5400" dirty="0"/>
          </a:p>
        </p:txBody>
      </p:sp>
      <p:sp>
        <p:nvSpPr>
          <p:cNvPr id="12" name="Espace réservé du numéro de diapositive 11">
            <a:extLst>
              <a:ext uri="{FF2B5EF4-FFF2-40B4-BE49-F238E27FC236}">
                <a16:creationId xmlns:a16="http://schemas.microsoft.com/office/drawing/2014/main" id="{698CB977-EDC4-A563-D1C7-9498F334CB47}"/>
              </a:ext>
            </a:extLst>
          </p:cNvPr>
          <p:cNvSpPr>
            <a:spLocks noGrp="1"/>
          </p:cNvSpPr>
          <p:nvPr>
            <p:ph type="sldNum" sz="quarter" idx="12"/>
          </p:nvPr>
        </p:nvSpPr>
        <p:spPr/>
        <p:txBody>
          <a:bodyPr/>
          <a:lstStyle/>
          <a:p>
            <a:fld id="{C1FF6DA9-008F-8B48-92A6-B652298478BF}"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914400"/>
          </a:xfrm>
          <a:prstGeom prst="rect">
            <a:avLst/>
          </a:prstGeom>
          <a:solidFill>
            <a:srgbClr val="1A2A44"/>
          </a:solidFill>
        </p:spPr>
        <p:style>
          <a:lnRef idx="1">
            <a:schemeClr val="accent1"/>
          </a:lnRef>
          <a:fillRef idx="3">
            <a:schemeClr val="accent1"/>
          </a:fillRef>
          <a:effectRef idx="2">
            <a:schemeClr val="accent1"/>
          </a:effectRef>
          <a:fontRef idx="minor">
            <a:schemeClr val="lt1"/>
          </a:fontRef>
        </p:style>
        <p:txBody>
          <a:bodyPr rtlCol="0" anchor="ctr"/>
          <a:lstStyle/>
          <a:p>
            <a:pPr>
              <a:defRPr sz="2400" b="1">
                <a:solidFill>
                  <a:srgbClr val="FFFFFF"/>
                </a:solidFill>
              </a:defRPr>
            </a:pPr>
            <a:r>
              <a:rPr dirty="0" err="1"/>
              <a:t>Indicateur</a:t>
            </a:r>
            <a:r>
              <a:rPr dirty="0"/>
              <a:t> 3 – </a:t>
            </a:r>
            <a:r>
              <a:rPr lang="fr-FR" dirty="0"/>
              <a:t>Ecart du t</a:t>
            </a:r>
            <a:r>
              <a:rPr dirty="0"/>
              <a:t>aux de promotion</a:t>
            </a:r>
            <a:r>
              <a:rPr lang="fr-FR" dirty="0"/>
              <a:t> (F / H) </a:t>
            </a:r>
            <a:endParaRPr dirty="0"/>
          </a:p>
        </p:txBody>
      </p:sp>
      <p:pic>
        <p:nvPicPr>
          <p:cNvPr id="4" name="Picture 3" descr="image.png"/>
          <p:cNvPicPr>
            <a:picLocks noChangeAspect="1"/>
          </p:cNvPicPr>
          <p:nvPr/>
        </p:nvPicPr>
        <p:blipFill>
          <a:blip r:embed="rId3"/>
          <a:stretch>
            <a:fillRect/>
          </a:stretch>
        </p:blipFill>
        <p:spPr>
          <a:xfrm>
            <a:off x="7772400" y="182880"/>
            <a:ext cx="914400" cy="914400"/>
          </a:xfrm>
          <a:prstGeom prst="rect">
            <a:avLst/>
          </a:prstGeom>
        </p:spPr>
      </p:pic>
      <p:pic>
        <p:nvPicPr>
          <p:cNvPr id="6" name="Image 5">
            <a:extLst>
              <a:ext uri="{FF2B5EF4-FFF2-40B4-BE49-F238E27FC236}">
                <a16:creationId xmlns:a16="http://schemas.microsoft.com/office/drawing/2014/main" id="{F0574B27-408B-08A9-70B0-F2B1A21EE6F1}"/>
              </a:ext>
            </a:extLst>
          </p:cNvPr>
          <p:cNvPicPr>
            <a:picLocks noChangeAspect="1"/>
          </p:cNvPicPr>
          <p:nvPr/>
        </p:nvPicPr>
        <p:blipFill>
          <a:blip r:embed="rId4"/>
          <a:stretch>
            <a:fillRect/>
          </a:stretch>
        </p:blipFill>
        <p:spPr>
          <a:xfrm>
            <a:off x="317500" y="4605150"/>
            <a:ext cx="8509000" cy="2069970"/>
          </a:xfrm>
          <a:prstGeom prst="rect">
            <a:avLst/>
          </a:prstGeom>
          <a:solidFill>
            <a:schemeClr val="accent6"/>
          </a:solidFill>
          <a:ln>
            <a:solidFill>
              <a:schemeClr val="accent6"/>
            </a:solidFill>
          </a:ln>
        </p:spPr>
      </p:pic>
      <p:sp>
        <p:nvSpPr>
          <p:cNvPr id="7" name="Rectangle 1">
            <a:extLst>
              <a:ext uri="{FF2B5EF4-FFF2-40B4-BE49-F238E27FC236}">
                <a16:creationId xmlns:a16="http://schemas.microsoft.com/office/drawing/2014/main" id="{393E0BBB-55E1-C938-E24A-5CFDA33D5E2D}"/>
              </a:ext>
            </a:extLst>
          </p:cNvPr>
          <p:cNvSpPr>
            <a:spLocks noChangeArrowheads="1"/>
          </p:cNvSpPr>
          <p:nvPr/>
        </p:nvSpPr>
        <p:spPr bwMode="auto">
          <a:xfrm>
            <a:off x="3644902" y="1481609"/>
            <a:ext cx="5295900" cy="2739211"/>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b="1" i="0" u="none" strike="noStrike" cap="none" normalizeH="0" baseline="0" dirty="0">
                <a:ln>
                  <a:noFill/>
                </a:ln>
                <a:solidFill>
                  <a:schemeClr val="tx1"/>
                </a:solidFill>
                <a:effectLst/>
                <a:latin typeface="+mj-lt"/>
              </a:rPr>
              <a:t>📐 Méthodologie :</a:t>
            </a:r>
          </a:p>
          <a:p>
            <a:pPr lvl="1" indent="-190500" defTabSz="914400" eaLnBrk="0" fontAlgn="base" hangingPunct="0">
              <a:spcBef>
                <a:spcPct val="0"/>
              </a:spcBef>
              <a:spcAft>
                <a:spcPct val="0"/>
              </a:spcAft>
              <a:buFontTx/>
              <a:buAutoNum type="arabicPeriod"/>
            </a:pPr>
            <a:r>
              <a:rPr lang="fr-FR" sz="1400" dirty="0"/>
              <a:t>Calcul du</a:t>
            </a:r>
            <a:r>
              <a:rPr lang="fr-FR" sz="1400" b="1" dirty="0"/>
              <a:t> taux de promotion</a:t>
            </a:r>
            <a:r>
              <a:rPr lang="fr-FR" sz="1400" dirty="0"/>
              <a:t> par </a:t>
            </a:r>
            <a:r>
              <a:rPr lang="fr-FR" sz="1400" b="1" dirty="0"/>
              <a:t>CSP et sexe</a:t>
            </a:r>
            <a:endParaRPr lang="fr-FR" sz="1400" dirty="0">
              <a:latin typeface="+mj-lt"/>
            </a:endParaRPr>
          </a:p>
          <a:p>
            <a:pPr marL="723900" lvl="2" defTabSz="914400" eaLnBrk="0" fontAlgn="base" hangingPunct="0">
              <a:spcBef>
                <a:spcPct val="0"/>
              </a:spcBef>
              <a:spcAft>
                <a:spcPct val="0"/>
              </a:spcAft>
            </a:pPr>
            <a:r>
              <a:rPr kumimoji="0" lang="fr-FR" altLang="fr-FR" sz="1400" b="0" i="0" u="none" strike="noStrike" cap="none" normalizeH="0" baseline="0" dirty="0">
                <a:ln>
                  <a:noFill/>
                </a:ln>
                <a:solidFill>
                  <a:schemeClr val="tx1"/>
                </a:solidFill>
                <a:effectLst/>
                <a:latin typeface="+mj-lt"/>
              </a:rPr>
              <a:t>➤ </a:t>
            </a:r>
            <a:r>
              <a:rPr lang="fr-FR" sz="1400" dirty="0"/>
              <a:t>% de salariés promus au sein de chaque groupe</a:t>
            </a:r>
          </a:p>
          <a:p>
            <a:pPr lvl="1" indent="-190500" defTabSz="914400" eaLnBrk="0" fontAlgn="base" hangingPunct="0">
              <a:spcBef>
                <a:spcPct val="0"/>
              </a:spcBef>
              <a:spcAft>
                <a:spcPct val="0"/>
              </a:spcAft>
              <a:buFontTx/>
              <a:buAutoNum type="arabicPeriod"/>
            </a:pPr>
            <a:r>
              <a:rPr lang="fr-FR" sz="1400" dirty="0"/>
              <a:t>Calcul de l’</a:t>
            </a:r>
            <a:r>
              <a:rPr lang="fr-FR" sz="1400" b="1" dirty="0"/>
              <a:t>écart H/F par CSP</a:t>
            </a:r>
            <a:r>
              <a:rPr lang="fr-FR" sz="1400" dirty="0"/>
              <a:t> :</a:t>
            </a:r>
          </a:p>
          <a:p>
            <a:pPr marL="723900" lvl="2" defTabSz="914400" eaLnBrk="0" fontAlgn="base" hangingPunct="0">
              <a:spcBef>
                <a:spcPct val="0"/>
              </a:spcBef>
              <a:spcAft>
                <a:spcPct val="0"/>
              </a:spcAft>
            </a:pPr>
            <a:r>
              <a:rPr kumimoji="0" lang="fr-FR" altLang="fr-FR" sz="1400" b="0" i="0" u="none" strike="noStrike" cap="none" normalizeH="0" baseline="0" dirty="0">
                <a:ln>
                  <a:noFill/>
                </a:ln>
                <a:solidFill>
                  <a:schemeClr val="tx1"/>
                </a:solidFill>
                <a:effectLst/>
                <a:latin typeface="+mj-lt"/>
              </a:rPr>
              <a:t>➤ </a:t>
            </a:r>
            <a:r>
              <a:rPr lang="fr-FR" sz="1400" dirty="0"/>
              <a:t>Taux H - Taux F   (exprimé en %)</a:t>
            </a:r>
            <a:endParaRPr kumimoji="0" lang="fr-FR" altLang="fr-FR" sz="1400" b="0" i="0" u="none" strike="noStrike" cap="none" normalizeH="0" baseline="0" dirty="0">
              <a:ln>
                <a:noFill/>
              </a:ln>
              <a:solidFill>
                <a:schemeClr val="tx1"/>
              </a:solidFill>
              <a:effectLst/>
              <a:latin typeface="+mj-lt"/>
            </a:endParaRPr>
          </a:p>
          <a:p>
            <a:pPr lvl="1" indent="-190500" defTabSz="914400" eaLnBrk="0" fontAlgn="base" hangingPunct="0">
              <a:spcBef>
                <a:spcPct val="0"/>
              </a:spcBef>
              <a:spcAft>
                <a:spcPct val="0"/>
              </a:spcAft>
              <a:buFontTx/>
              <a:buAutoNum type="arabicPeriod" startAt="3"/>
            </a:pPr>
            <a:r>
              <a:rPr kumimoji="0" lang="fr-FR" altLang="fr-FR" sz="1400" b="1" i="0" u="none" strike="noStrike" cap="none" normalizeH="0" baseline="0" dirty="0">
                <a:ln>
                  <a:noFill/>
                </a:ln>
                <a:solidFill>
                  <a:schemeClr val="tx1"/>
                </a:solidFill>
                <a:effectLst/>
                <a:latin typeface="+mj-lt"/>
              </a:rPr>
              <a:t>Pondération</a:t>
            </a:r>
            <a:r>
              <a:rPr kumimoji="0" lang="fr-FR" altLang="fr-FR" sz="1400" b="0" i="0" u="none" strike="noStrike" cap="none" normalizeH="0" baseline="0" dirty="0">
                <a:ln>
                  <a:noFill/>
                </a:ln>
                <a:solidFill>
                  <a:schemeClr val="tx1"/>
                </a:solidFill>
                <a:effectLst/>
                <a:latin typeface="+mj-lt"/>
              </a:rPr>
              <a:t> </a:t>
            </a:r>
            <a:r>
              <a:rPr lang="fr-FR" sz="1400" dirty="0"/>
              <a:t>de chaque écart selon l’effectif du groupe CSP</a:t>
            </a:r>
            <a:endParaRPr kumimoji="0" lang="fr-FR" altLang="fr-FR" sz="1400" b="0" i="0" u="none" strike="noStrike" cap="none" normalizeH="0" baseline="0" dirty="0">
              <a:ln>
                <a:noFill/>
              </a:ln>
              <a:solidFill>
                <a:schemeClr val="tx1"/>
              </a:solidFill>
              <a:effectLst/>
              <a:latin typeface="+mj-lt"/>
            </a:endParaRPr>
          </a:p>
          <a:p>
            <a:pPr lvl="1" indent="-190500" defTabSz="914400" eaLnBrk="0" fontAlgn="base" hangingPunct="0">
              <a:spcBef>
                <a:spcPct val="0"/>
              </a:spcBef>
              <a:spcAft>
                <a:spcPct val="0"/>
              </a:spcAft>
              <a:buFontTx/>
              <a:buAutoNum type="arabicPeriod" startAt="4"/>
            </a:pPr>
            <a:r>
              <a:rPr lang="fr-FR" sz="1400" b="1" dirty="0"/>
              <a:t>Écart global pondéré</a:t>
            </a:r>
            <a:r>
              <a:rPr lang="fr-FR" sz="1400" dirty="0"/>
              <a:t> exprimé en valeur absolue</a:t>
            </a:r>
          </a:p>
          <a:p>
            <a:pPr marL="723900" lvl="2" defTabSz="914400" eaLnBrk="0" fontAlgn="base" hangingPunct="0">
              <a:spcBef>
                <a:spcPct val="0"/>
              </a:spcBef>
              <a:spcAft>
                <a:spcPct val="0"/>
              </a:spcAft>
            </a:pPr>
            <a:r>
              <a:rPr kumimoji="0" lang="fr-FR" altLang="fr-FR" sz="1400" b="0" i="0" u="none" strike="noStrike" cap="none" normalizeH="0" baseline="0" dirty="0">
                <a:ln>
                  <a:noFill/>
                </a:ln>
                <a:solidFill>
                  <a:schemeClr val="tx1"/>
                </a:solidFill>
                <a:effectLst/>
                <a:latin typeface="+mj-lt"/>
              </a:rPr>
              <a:t>➤ </a:t>
            </a:r>
            <a:r>
              <a:rPr lang="fr-FR" sz="1400" dirty="0">
                <a:latin typeface="+mj-lt"/>
              </a:rPr>
              <a:t>Exprimée</a:t>
            </a:r>
            <a:r>
              <a:rPr lang="fr-FR" sz="1400" dirty="0"/>
              <a:t> en </a:t>
            </a:r>
            <a:r>
              <a:rPr lang="fr-FR" sz="1400" b="1" dirty="0"/>
              <a:t>valeur absolue</a:t>
            </a:r>
            <a:r>
              <a:rPr lang="fr-FR" sz="1400" dirty="0"/>
              <a:t>, arrondie à 1 décimale </a:t>
            </a:r>
            <a:r>
              <a:rPr lang="fr-BE" sz="1400" dirty="0"/>
              <a:t>=</a:t>
            </a:r>
            <a:r>
              <a:rPr lang="fr-FR" sz="1400" dirty="0"/>
              <a:t> 1 % (en faveur des femmes)</a:t>
            </a:r>
          </a:p>
          <a:p>
            <a:pPr lvl="1" indent="-190500" defTabSz="914400" eaLnBrk="0" fontAlgn="base" hangingPunct="0">
              <a:spcBef>
                <a:spcPct val="0"/>
              </a:spcBef>
              <a:spcAft>
                <a:spcPct val="0"/>
              </a:spcAft>
              <a:buFontTx/>
              <a:buAutoNum type="arabicPeriod" startAt="4"/>
            </a:pPr>
            <a:r>
              <a:rPr lang="fr-FR" sz="1400" dirty="0"/>
              <a:t>Application de la règle de neutralisation : </a:t>
            </a:r>
          </a:p>
          <a:p>
            <a:pPr marL="723900" lvl="2" defTabSz="914400" eaLnBrk="0" fontAlgn="base" hangingPunct="0">
              <a:spcBef>
                <a:spcPct val="0"/>
              </a:spcBef>
              <a:spcAft>
                <a:spcPct val="0"/>
              </a:spcAft>
            </a:pPr>
            <a:r>
              <a:rPr kumimoji="0" lang="fr-FR" altLang="fr-FR" sz="1400" b="0" i="0" u="none" strike="noStrike" cap="none" normalizeH="0" baseline="0" dirty="0">
                <a:ln>
                  <a:noFill/>
                </a:ln>
                <a:solidFill>
                  <a:schemeClr val="tx1"/>
                </a:solidFill>
                <a:effectLst/>
                <a:latin typeface="+mj-lt"/>
              </a:rPr>
              <a:t>➤ </a:t>
            </a:r>
            <a:r>
              <a:rPr lang="fr-FR" sz="1400" dirty="0"/>
              <a:t>l’écart est en faveur du sexe le moins rémunéré (ici les femmes), </a:t>
            </a:r>
            <a:r>
              <a:rPr lang="fr-FR" sz="1400" b="1" dirty="0"/>
              <a:t>note maximale appliquée</a:t>
            </a:r>
            <a:endParaRPr kumimoji="0" lang="fr-FR" altLang="fr-FR" sz="1400" b="0" i="0" u="none" strike="noStrike" cap="none" normalizeH="0" baseline="0" dirty="0">
              <a:ln>
                <a:noFill/>
              </a:ln>
              <a:solidFill>
                <a:schemeClr val="tx1"/>
              </a:solidFill>
              <a:effectLst/>
              <a:latin typeface="+mj-lt"/>
            </a:endParaRPr>
          </a:p>
        </p:txBody>
      </p:sp>
      <p:sp>
        <p:nvSpPr>
          <p:cNvPr id="8" name="ZoneTexte 7">
            <a:extLst>
              <a:ext uri="{FF2B5EF4-FFF2-40B4-BE49-F238E27FC236}">
                <a16:creationId xmlns:a16="http://schemas.microsoft.com/office/drawing/2014/main" id="{A3746AD2-7369-D326-38C9-DC520067AC74}"/>
              </a:ext>
            </a:extLst>
          </p:cNvPr>
          <p:cNvSpPr txBox="1"/>
          <p:nvPr/>
        </p:nvSpPr>
        <p:spPr>
          <a:xfrm>
            <a:off x="215900" y="1567965"/>
            <a:ext cx="3009900" cy="646331"/>
          </a:xfrm>
          <a:prstGeom prst="rect">
            <a:avLst/>
          </a:prstGeom>
          <a:noFill/>
        </p:spPr>
        <p:txBody>
          <a:bodyPr wrap="square">
            <a:spAutoFit/>
          </a:bodyPr>
          <a:lstStyle/>
          <a:p>
            <a:pPr marL="0" lvl="2" algn="ctr" defTabSz="914400" eaLnBrk="0" fontAlgn="base" hangingPunct="0">
              <a:spcBef>
                <a:spcPct val="0"/>
              </a:spcBef>
              <a:spcAft>
                <a:spcPct val="0"/>
              </a:spcAft>
            </a:pPr>
            <a:r>
              <a:rPr kumimoji="0" lang="fr-FR" altLang="fr-FR" sz="1800" b="1" i="0" u="none" strike="noStrike" cap="none" normalizeH="0" baseline="0" dirty="0">
                <a:ln>
                  <a:noFill/>
                </a:ln>
                <a:solidFill>
                  <a:schemeClr val="tx1"/>
                </a:solidFill>
                <a:effectLst/>
                <a:latin typeface="+mj-lt"/>
              </a:rPr>
              <a:t>Note </a:t>
            </a:r>
            <a:r>
              <a:rPr lang="fr-FR" altLang="fr-FR" b="1" dirty="0">
                <a:latin typeface="+mj-lt"/>
              </a:rPr>
              <a:t>(</a:t>
            </a:r>
            <a:r>
              <a:rPr kumimoji="0" lang="fr-FR" altLang="fr-FR" sz="1800" b="1" i="0" u="none" strike="noStrike" cap="none" normalizeH="0" baseline="0" dirty="0">
                <a:ln>
                  <a:noFill/>
                </a:ln>
                <a:solidFill>
                  <a:schemeClr val="tx1"/>
                </a:solidFill>
                <a:effectLst/>
                <a:latin typeface="+mj-lt"/>
              </a:rPr>
              <a:t>barème officiel)</a:t>
            </a:r>
            <a:br>
              <a:rPr kumimoji="0" lang="fr-FR" altLang="fr-FR" sz="1800" b="0" i="0" u="none" strike="noStrike" cap="none" normalizeH="0" baseline="0" dirty="0">
                <a:ln>
                  <a:noFill/>
                </a:ln>
                <a:solidFill>
                  <a:schemeClr val="tx1"/>
                </a:solidFill>
                <a:effectLst/>
                <a:latin typeface="+mj-lt"/>
              </a:rPr>
            </a:br>
            <a:endParaRPr kumimoji="0" lang="fr-FR" altLang="fr-FR" sz="1800" b="0" i="0" u="none" strike="noStrike" cap="none" normalizeH="0" baseline="0" dirty="0">
              <a:ln>
                <a:noFill/>
              </a:ln>
              <a:solidFill>
                <a:schemeClr val="tx1"/>
              </a:solidFill>
              <a:effectLst/>
              <a:latin typeface="+mj-lt"/>
            </a:endParaRPr>
          </a:p>
        </p:txBody>
      </p:sp>
      <p:sp>
        <p:nvSpPr>
          <p:cNvPr id="9" name="ZoneTexte 8">
            <a:extLst>
              <a:ext uri="{FF2B5EF4-FFF2-40B4-BE49-F238E27FC236}">
                <a16:creationId xmlns:a16="http://schemas.microsoft.com/office/drawing/2014/main" id="{ED6CDFAD-4F71-ED1D-26BF-B5A1E098758E}"/>
              </a:ext>
            </a:extLst>
          </p:cNvPr>
          <p:cNvSpPr txBox="1"/>
          <p:nvPr/>
        </p:nvSpPr>
        <p:spPr>
          <a:xfrm>
            <a:off x="298450" y="1983463"/>
            <a:ext cx="2844800" cy="1107996"/>
          </a:xfrm>
          <a:prstGeom prst="rect">
            <a:avLst/>
          </a:prstGeom>
          <a:noFill/>
        </p:spPr>
        <p:txBody>
          <a:bodyPr wrap="square">
            <a:spAutoFit/>
          </a:bodyPr>
          <a:lstStyle/>
          <a:p>
            <a:pPr algn="ctr"/>
            <a:r>
              <a:rPr kumimoji="0" lang="fr-FR" altLang="fr-FR" sz="6600" b="1" i="0" u="none" strike="noStrike" cap="none" normalizeH="0" baseline="0" dirty="0">
                <a:ln>
                  <a:noFill/>
                </a:ln>
                <a:solidFill>
                  <a:srgbClr val="00B050"/>
                </a:solidFill>
                <a:effectLst/>
                <a:latin typeface="+mj-lt"/>
              </a:rPr>
              <a:t>15</a:t>
            </a:r>
            <a:r>
              <a:rPr kumimoji="0" lang="fr-FR" altLang="fr-FR" sz="6600" b="1" i="0" u="none" strike="noStrike" cap="none" normalizeH="0" baseline="0" dirty="0">
                <a:ln>
                  <a:noFill/>
                </a:ln>
                <a:solidFill>
                  <a:schemeClr val="accent6"/>
                </a:solidFill>
                <a:effectLst/>
                <a:latin typeface="+mj-lt"/>
              </a:rPr>
              <a:t> </a:t>
            </a:r>
            <a:r>
              <a:rPr kumimoji="0" lang="fr-FR" altLang="fr-FR" sz="6600" i="0" u="none" strike="noStrike" cap="none" normalizeH="0" baseline="0" dirty="0">
                <a:ln>
                  <a:noFill/>
                </a:ln>
                <a:effectLst/>
                <a:latin typeface="+mj-lt"/>
              </a:rPr>
              <a:t>/ 15</a:t>
            </a:r>
            <a:endParaRPr lang="fr-FR" sz="5400" dirty="0"/>
          </a:p>
        </p:txBody>
      </p:sp>
      <p:sp>
        <p:nvSpPr>
          <p:cNvPr id="10" name="Espace réservé du numéro de diapositive 9">
            <a:extLst>
              <a:ext uri="{FF2B5EF4-FFF2-40B4-BE49-F238E27FC236}">
                <a16:creationId xmlns:a16="http://schemas.microsoft.com/office/drawing/2014/main" id="{17E92687-A516-30BD-47A8-7B973F0C93CB}"/>
              </a:ext>
            </a:extLst>
          </p:cNvPr>
          <p:cNvSpPr>
            <a:spLocks noGrp="1"/>
          </p:cNvSpPr>
          <p:nvPr>
            <p:ph type="sldNum" sz="quarter" idx="12"/>
          </p:nvPr>
        </p:nvSpPr>
        <p:spPr/>
        <p:txBody>
          <a:bodyPr/>
          <a:lstStyle/>
          <a:p>
            <a:fld id="{C1FF6DA9-008F-8B48-92A6-B652298478BF}"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914400"/>
          </a:xfrm>
          <a:prstGeom prst="rect">
            <a:avLst/>
          </a:prstGeom>
          <a:solidFill>
            <a:srgbClr val="1A2A44"/>
          </a:solidFill>
        </p:spPr>
        <p:style>
          <a:lnRef idx="1">
            <a:schemeClr val="accent1"/>
          </a:lnRef>
          <a:fillRef idx="3">
            <a:schemeClr val="accent1"/>
          </a:fillRef>
          <a:effectRef idx="2">
            <a:schemeClr val="accent1"/>
          </a:effectRef>
          <a:fontRef idx="minor">
            <a:schemeClr val="lt1"/>
          </a:fontRef>
        </p:style>
        <p:txBody>
          <a:bodyPr rtlCol="0" anchor="ctr"/>
          <a:lstStyle/>
          <a:p>
            <a:pPr>
              <a:defRPr sz="2400" b="1">
                <a:solidFill>
                  <a:srgbClr val="FFFFFF"/>
                </a:solidFill>
              </a:defRPr>
            </a:pPr>
            <a:r>
              <a:rPr dirty="0" err="1"/>
              <a:t>Indicateur</a:t>
            </a:r>
            <a:r>
              <a:rPr dirty="0"/>
              <a:t> 4 – </a:t>
            </a:r>
            <a:r>
              <a:rPr lang="fr-BE" dirty="0"/>
              <a:t>Augmentations au r</a:t>
            </a:r>
            <a:r>
              <a:rPr dirty="0" err="1"/>
              <a:t>etour</a:t>
            </a:r>
            <a:r>
              <a:rPr dirty="0"/>
              <a:t> de congé </a:t>
            </a:r>
            <a:r>
              <a:rPr dirty="0" err="1"/>
              <a:t>maternit</a:t>
            </a:r>
            <a:r>
              <a:rPr lang="fr-FR" dirty="0"/>
              <a:t>é</a:t>
            </a:r>
            <a:endParaRPr dirty="0"/>
          </a:p>
        </p:txBody>
      </p:sp>
      <p:pic>
        <p:nvPicPr>
          <p:cNvPr id="4" name="Picture 3" descr="image.png"/>
          <p:cNvPicPr>
            <a:picLocks noChangeAspect="1"/>
          </p:cNvPicPr>
          <p:nvPr/>
        </p:nvPicPr>
        <p:blipFill>
          <a:blip r:embed="rId3"/>
          <a:stretch>
            <a:fillRect/>
          </a:stretch>
        </p:blipFill>
        <p:spPr>
          <a:xfrm>
            <a:off x="7772400" y="182880"/>
            <a:ext cx="914400" cy="914400"/>
          </a:xfrm>
          <a:prstGeom prst="rect">
            <a:avLst/>
          </a:prstGeom>
        </p:spPr>
      </p:pic>
      <p:sp>
        <p:nvSpPr>
          <p:cNvPr id="6" name="AutoShape 4" descr="Image chargée">
            <a:extLst>
              <a:ext uri="{FF2B5EF4-FFF2-40B4-BE49-F238E27FC236}">
                <a16:creationId xmlns:a16="http://schemas.microsoft.com/office/drawing/2014/main" id="{F98C3A4B-7D32-7D0B-4436-F1605E0E216C}"/>
              </a:ext>
            </a:extLst>
          </p:cNvPr>
          <p:cNvSpPr>
            <a:spLocks noChangeAspect="1" noChangeArrowheads="1"/>
          </p:cNvSpPr>
          <p:nvPr/>
        </p:nvSpPr>
        <p:spPr bwMode="auto">
          <a:xfrm>
            <a:off x="4419600" y="3276600"/>
            <a:ext cx="2120900" cy="21209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7" name="Rectangle 1">
            <a:extLst>
              <a:ext uri="{FF2B5EF4-FFF2-40B4-BE49-F238E27FC236}">
                <a16:creationId xmlns:a16="http://schemas.microsoft.com/office/drawing/2014/main" id="{BED812BD-091C-E388-8DF7-70A7953EF729}"/>
              </a:ext>
            </a:extLst>
          </p:cNvPr>
          <p:cNvSpPr>
            <a:spLocks noChangeArrowheads="1"/>
          </p:cNvSpPr>
          <p:nvPr/>
        </p:nvSpPr>
        <p:spPr bwMode="auto">
          <a:xfrm>
            <a:off x="3644902" y="1804774"/>
            <a:ext cx="5295900" cy="2092881"/>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b="1" i="0" u="none" strike="noStrike" cap="none" normalizeH="0" baseline="0" dirty="0">
                <a:ln>
                  <a:noFill/>
                </a:ln>
                <a:solidFill>
                  <a:schemeClr val="tx1"/>
                </a:solidFill>
                <a:effectLst/>
                <a:latin typeface="+mj-lt"/>
              </a:rPr>
              <a:t>📐 Méthodologie :</a:t>
            </a:r>
          </a:p>
          <a:p>
            <a:pPr lvl="1" indent="-190500" defTabSz="914400" eaLnBrk="0" fontAlgn="base" hangingPunct="0">
              <a:spcBef>
                <a:spcPct val="0"/>
              </a:spcBef>
              <a:spcAft>
                <a:spcPct val="0"/>
              </a:spcAft>
              <a:buFontTx/>
              <a:buAutoNum type="arabicPeriod"/>
            </a:pPr>
            <a:r>
              <a:rPr lang="fr-FR" altLang="fr-FR" sz="1400" dirty="0"/>
              <a:t>Identification des salariées ayant eu un congé maternité sur l’année N–1</a:t>
            </a:r>
          </a:p>
          <a:p>
            <a:pPr marL="723900" lvl="2" defTabSz="914400" eaLnBrk="0" fontAlgn="base" hangingPunct="0">
              <a:spcBef>
                <a:spcPct val="0"/>
              </a:spcBef>
              <a:spcAft>
                <a:spcPct val="0"/>
              </a:spcAft>
            </a:pPr>
            <a:r>
              <a:rPr kumimoji="0" lang="fr-FR" altLang="fr-FR" sz="1400" b="0" i="0" u="none" strike="noStrike" cap="none" normalizeH="0" baseline="0" dirty="0">
                <a:ln>
                  <a:noFill/>
                </a:ln>
                <a:solidFill>
                  <a:schemeClr val="tx1"/>
                </a:solidFill>
                <a:effectLst/>
                <a:latin typeface="+mj-lt"/>
              </a:rPr>
              <a:t>➤ </a:t>
            </a:r>
            <a:r>
              <a:rPr lang="fr-FR" altLang="fr-FR" sz="1400" dirty="0"/>
              <a:t>Champ utilisé : Congé maternité A-1 = oui</a:t>
            </a:r>
            <a:endParaRPr lang="fr-FR" sz="1400" dirty="0"/>
          </a:p>
          <a:p>
            <a:pPr lvl="1" indent="-190500" defTabSz="914400" eaLnBrk="0" fontAlgn="base" hangingPunct="0">
              <a:spcBef>
                <a:spcPct val="0"/>
              </a:spcBef>
              <a:spcAft>
                <a:spcPct val="0"/>
              </a:spcAft>
              <a:buFontTx/>
              <a:buAutoNum type="arabicPeriod"/>
            </a:pPr>
            <a:r>
              <a:rPr lang="fr-FR" altLang="fr-FR" sz="1400" dirty="0"/>
              <a:t>V</a:t>
            </a:r>
            <a:r>
              <a:rPr lang="fr-FR" sz="1400" b="1" dirty="0"/>
              <a:t>érification des augmentations individuelles</a:t>
            </a:r>
            <a:r>
              <a:rPr lang="fr-FR" sz="1400" dirty="0"/>
              <a:t> après retour</a:t>
            </a:r>
          </a:p>
          <a:p>
            <a:pPr marL="723900" lvl="2" defTabSz="914400" eaLnBrk="0" fontAlgn="base" hangingPunct="0">
              <a:spcBef>
                <a:spcPct val="0"/>
              </a:spcBef>
              <a:spcAft>
                <a:spcPct val="0"/>
              </a:spcAft>
            </a:pPr>
            <a:r>
              <a:rPr lang="fr-FR" altLang="fr-FR" sz="1400" dirty="0"/>
              <a:t>➤ Présence d’une hausse de rémunération individuelle</a:t>
            </a:r>
          </a:p>
          <a:p>
            <a:pPr lvl="1" indent="-190500" defTabSz="914400" eaLnBrk="0" fontAlgn="base" hangingPunct="0">
              <a:spcBef>
                <a:spcPct val="0"/>
              </a:spcBef>
              <a:spcAft>
                <a:spcPct val="0"/>
              </a:spcAft>
              <a:buFontTx/>
              <a:buAutoNum type="arabicPeriod"/>
            </a:pPr>
            <a:r>
              <a:rPr lang="fr-FR" altLang="fr-FR" sz="1400" dirty="0"/>
              <a:t>Application de la règle :</a:t>
            </a:r>
          </a:p>
          <a:p>
            <a:pPr marL="723900" lvl="2" indent="-285750" defTabSz="914400" eaLnBrk="0" fontAlgn="base" hangingPunct="0">
              <a:spcBef>
                <a:spcPct val="0"/>
              </a:spcBef>
              <a:spcAft>
                <a:spcPct val="0"/>
              </a:spcAft>
              <a:buFont typeface="Arial" panose="020B0604020202020204" pitchFamily="34" charset="0"/>
              <a:buChar char="•"/>
            </a:pPr>
            <a:r>
              <a:rPr lang="fr-FR" altLang="fr-FR" sz="1400" dirty="0"/>
              <a:t>Si au moins une femme n’a pas été augmentée → note = 0</a:t>
            </a:r>
          </a:p>
          <a:p>
            <a:pPr marL="723900" lvl="2" indent="-285750" defTabSz="914400" eaLnBrk="0" fontAlgn="base" hangingPunct="0">
              <a:spcBef>
                <a:spcPct val="0"/>
              </a:spcBef>
              <a:spcAft>
                <a:spcPct val="0"/>
              </a:spcAft>
              <a:buFont typeface="Arial" panose="020B0604020202020204" pitchFamily="34" charset="0"/>
              <a:buChar char="•"/>
            </a:pPr>
            <a:r>
              <a:rPr lang="fr-FR" altLang="fr-FR" sz="1400" dirty="0"/>
              <a:t>Sinon → note maximale = 15</a:t>
            </a:r>
            <a:r>
              <a:rPr lang="fr-BE" altLang="fr-FR" sz="1400" dirty="0"/>
              <a:t> (c’est le cas en l’espèce)</a:t>
            </a:r>
            <a:endParaRPr lang="fr-FR" altLang="fr-FR" sz="1400" dirty="0"/>
          </a:p>
        </p:txBody>
      </p:sp>
      <p:sp>
        <p:nvSpPr>
          <p:cNvPr id="8" name="ZoneTexte 7">
            <a:extLst>
              <a:ext uri="{FF2B5EF4-FFF2-40B4-BE49-F238E27FC236}">
                <a16:creationId xmlns:a16="http://schemas.microsoft.com/office/drawing/2014/main" id="{CBEC9775-978A-AD46-9CE7-1DADE23CEA62}"/>
              </a:ext>
            </a:extLst>
          </p:cNvPr>
          <p:cNvSpPr txBox="1"/>
          <p:nvPr/>
        </p:nvSpPr>
        <p:spPr>
          <a:xfrm>
            <a:off x="215900" y="1567965"/>
            <a:ext cx="3009900" cy="646331"/>
          </a:xfrm>
          <a:prstGeom prst="rect">
            <a:avLst/>
          </a:prstGeom>
          <a:noFill/>
        </p:spPr>
        <p:txBody>
          <a:bodyPr wrap="square">
            <a:spAutoFit/>
          </a:bodyPr>
          <a:lstStyle/>
          <a:p>
            <a:pPr marL="0" lvl="2" algn="ctr" defTabSz="914400" eaLnBrk="0" fontAlgn="base" hangingPunct="0">
              <a:spcBef>
                <a:spcPct val="0"/>
              </a:spcBef>
              <a:spcAft>
                <a:spcPct val="0"/>
              </a:spcAft>
            </a:pPr>
            <a:r>
              <a:rPr kumimoji="0" lang="fr-FR" altLang="fr-FR" sz="1800" b="1" i="0" u="none" strike="noStrike" cap="none" normalizeH="0" baseline="0" dirty="0">
                <a:ln>
                  <a:noFill/>
                </a:ln>
                <a:solidFill>
                  <a:schemeClr val="tx1"/>
                </a:solidFill>
                <a:effectLst/>
                <a:latin typeface="+mj-lt"/>
              </a:rPr>
              <a:t>Note </a:t>
            </a:r>
            <a:r>
              <a:rPr lang="fr-FR" altLang="fr-FR" b="1" dirty="0">
                <a:latin typeface="+mj-lt"/>
              </a:rPr>
              <a:t>(</a:t>
            </a:r>
            <a:r>
              <a:rPr kumimoji="0" lang="fr-FR" altLang="fr-FR" sz="1800" b="1" i="0" u="none" strike="noStrike" cap="none" normalizeH="0" baseline="0" dirty="0">
                <a:ln>
                  <a:noFill/>
                </a:ln>
                <a:solidFill>
                  <a:schemeClr val="tx1"/>
                </a:solidFill>
                <a:effectLst/>
                <a:latin typeface="+mj-lt"/>
              </a:rPr>
              <a:t>barème officiel)</a:t>
            </a:r>
            <a:br>
              <a:rPr kumimoji="0" lang="fr-FR" altLang="fr-FR" sz="1800" b="0" i="0" u="none" strike="noStrike" cap="none" normalizeH="0" baseline="0" dirty="0">
                <a:ln>
                  <a:noFill/>
                </a:ln>
                <a:solidFill>
                  <a:schemeClr val="tx1"/>
                </a:solidFill>
                <a:effectLst/>
                <a:latin typeface="+mj-lt"/>
              </a:rPr>
            </a:br>
            <a:endParaRPr kumimoji="0" lang="fr-FR" altLang="fr-FR" sz="1800" b="0" i="0" u="none" strike="noStrike" cap="none" normalizeH="0" baseline="0" dirty="0">
              <a:ln>
                <a:noFill/>
              </a:ln>
              <a:solidFill>
                <a:schemeClr val="tx1"/>
              </a:solidFill>
              <a:effectLst/>
              <a:latin typeface="+mj-lt"/>
            </a:endParaRPr>
          </a:p>
        </p:txBody>
      </p:sp>
      <p:sp>
        <p:nvSpPr>
          <p:cNvPr id="9" name="ZoneTexte 8">
            <a:extLst>
              <a:ext uri="{FF2B5EF4-FFF2-40B4-BE49-F238E27FC236}">
                <a16:creationId xmlns:a16="http://schemas.microsoft.com/office/drawing/2014/main" id="{E4A32662-D712-AC34-4812-8291D83F0960}"/>
              </a:ext>
            </a:extLst>
          </p:cNvPr>
          <p:cNvSpPr txBox="1"/>
          <p:nvPr/>
        </p:nvSpPr>
        <p:spPr>
          <a:xfrm>
            <a:off x="298450" y="1983463"/>
            <a:ext cx="2844800" cy="1107996"/>
          </a:xfrm>
          <a:prstGeom prst="rect">
            <a:avLst/>
          </a:prstGeom>
          <a:noFill/>
        </p:spPr>
        <p:txBody>
          <a:bodyPr wrap="square">
            <a:spAutoFit/>
          </a:bodyPr>
          <a:lstStyle/>
          <a:p>
            <a:pPr algn="ctr"/>
            <a:r>
              <a:rPr kumimoji="0" lang="fr-FR" altLang="fr-FR" sz="6600" b="1" i="0" u="none" strike="noStrike" cap="none" normalizeH="0" baseline="0" dirty="0">
                <a:ln>
                  <a:noFill/>
                </a:ln>
                <a:solidFill>
                  <a:srgbClr val="00B050"/>
                </a:solidFill>
                <a:effectLst/>
                <a:latin typeface="+mj-lt"/>
              </a:rPr>
              <a:t>15</a:t>
            </a:r>
            <a:r>
              <a:rPr kumimoji="0" lang="fr-FR" altLang="fr-FR" sz="6600" b="1" i="0" u="none" strike="noStrike" cap="none" normalizeH="0" baseline="0" dirty="0">
                <a:ln>
                  <a:noFill/>
                </a:ln>
                <a:solidFill>
                  <a:schemeClr val="accent6"/>
                </a:solidFill>
                <a:effectLst/>
                <a:latin typeface="+mj-lt"/>
              </a:rPr>
              <a:t> </a:t>
            </a:r>
            <a:r>
              <a:rPr kumimoji="0" lang="fr-FR" altLang="fr-FR" sz="6600" i="0" u="none" strike="noStrike" cap="none" normalizeH="0" baseline="0" dirty="0">
                <a:ln>
                  <a:noFill/>
                </a:ln>
                <a:effectLst/>
                <a:latin typeface="+mj-lt"/>
              </a:rPr>
              <a:t>/ 15</a:t>
            </a:r>
            <a:endParaRPr lang="fr-FR" sz="5400" dirty="0"/>
          </a:p>
        </p:txBody>
      </p:sp>
      <p:pic>
        <p:nvPicPr>
          <p:cNvPr id="12" name="Image 11">
            <a:extLst>
              <a:ext uri="{FF2B5EF4-FFF2-40B4-BE49-F238E27FC236}">
                <a16:creationId xmlns:a16="http://schemas.microsoft.com/office/drawing/2014/main" id="{619C8D52-6A28-CE16-8D72-28DDC6A40031}"/>
              </a:ext>
            </a:extLst>
          </p:cNvPr>
          <p:cNvPicPr>
            <a:picLocks noChangeAspect="1"/>
          </p:cNvPicPr>
          <p:nvPr/>
        </p:nvPicPr>
        <p:blipFill>
          <a:blip r:embed="rId4"/>
          <a:stretch>
            <a:fillRect/>
          </a:stretch>
        </p:blipFill>
        <p:spPr>
          <a:xfrm>
            <a:off x="526545" y="4195050"/>
            <a:ext cx="4953505" cy="2189970"/>
          </a:xfrm>
          <a:prstGeom prst="rect">
            <a:avLst/>
          </a:prstGeom>
          <a:solidFill>
            <a:schemeClr val="accent6"/>
          </a:solidFill>
          <a:ln>
            <a:solidFill>
              <a:schemeClr val="accent6"/>
            </a:solidFill>
          </a:ln>
        </p:spPr>
      </p:pic>
      <p:sp>
        <p:nvSpPr>
          <p:cNvPr id="14" name="ZoneTexte 13">
            <a:extLst>
              <a:ext uri="{FF2B5EF4-FFF2-40B4-BE49-F238E27FC236}">
                <a16:creationId xmlns:a16="http://schemas.microsoft.com/office/drawing/2014/main" id="{AD2BBF5B-51AF-6400-0D46-43E811199640}"/>
              </a:ext>
            </a:extLst>
          </p:cNvPr>
          <p:cNvSpPr txBox="1"/>
          <p:nvPr/>
        </p:nvSpPr>
        <p:spPr>
          <a:xfrm>
            <a:off x="6452103" y="5369481"/>
            <a:ext cx="2488699" cy="646331"/>
          </a:xfrm>
          <a:prstGeom prst="rect">
            <a:avLst/>
          </a:prstGeom>
          <a:noFill/>
        </p:spPr>
        <p:txBody>
          <a:bodyPr wrap="square">
            <a:spAutoFit/>
          </a:bodyPr>
          <a:lstStyle/>
          <a:p>
            <a:r>
              <a:rPr lang="fr-FR" dirty="0"/>
              <a:t>Résultat :</a:t>
            </a:r>
          </a:p>
          <a:p>
            <a:r>
              <a:rPr lang="fr-FR" b="1" dirty="0"/>
              <a:t>aucune ligne retournée</a:t>
            </a:r>
            <a:endParaRPr lang="fr-FR" dirty="0"/>
          </a:p>
        </p:txBody>
      </p:sp>
      <p:cxnSp>
        <p:nvCxnSpPr>
          <p:cNvPr id="16" name="Connecteur droit avec flèche 15">
            <a:extLst>
              <a:ext uri="{FF2B5EF4-FFF2-40B4-BE49-F238E27FC236}">
                <a16:creationId xmlns:a16="http://schemas.microsoft.com/office/drawing/2014/main" id="{CFC07E9C-8C07-9F02-63F3-6DEE2CF2D559}"/>
              </a:ext>
            </a:extLst>
          </p:cNvPr>
          <p:cNvCxnSpPr>
            <a:cxnSpLocks/>
          </p:cNvCxnSpPr>
          <p:nvPr/>
        </p:nvCxnSpPr>
        <p:spPr>
          <a:xfrm>
            <a:off x="5054603" y="5720665"/>
            <a:ext cx="123824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Espace réservé du numéro de diapositive 18">
            <a:extLst>
              <a:ext uri="{FF2B5EF4-FFF2-40B4-BE49-F238E27FC236}">
                <a16:creationId xmlns:a16="http://schemas.microsoft.com/office/drawing/2014/main" id="{53A9B950-F4B7-6464-DEDC-12C0C968EB81}"/>
              </a:ext>
            </a:extLst>
          </p:cNvPr>
          <p:cNvSpPr>
            <a:spLocks noGrp="1"/>
          </p:cNvSpPr>
          <p:nvPr>
            <p:ph type="sldNum" sz="quarter" idx="12"/>
          </p:nvPr>
        </p:nvSpPr>
        <p:spPr/>
        <p:txBody>
          <a:bodyPr/>
          <a:lstStyle/>
          <a:p>
            <a:fld id="{C1FF6DA9-008F-8B48-92A6-B652298478BF}" type="slidenum">
              <a:rPr lang="en-US" smtClean="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914400"/>
          </a:xfrm>
          <a:prstGeom prst="rect">
            <a:avLst/>
          </a:prstGeom>
          <a:solidFill>
            <a:srgbClr val="1A2A44"/>
          </a:solidFill>
        </p:spPr>
        <p:style>
          <a:lnRef idx="1">
            <a:schemeClr val="accent1"/>
          </a:lnRef>
          <a:fillRef idx="3">
            <a:schemeClr val="accent1"/>
          </a:fillRef>
          <a:effectRef idx="2">
            <a:schemeClr val="accent1"/>
          </a:effectRef>
          <a:fontRef idx="minor">
            <a:schemeClr val="lt1"/>
          </a:fontRef>
        </p:style>
        <p:txBody>
          <a:bodyPr rtlCol="0" anchor="ctr"/>
          <a:lstStyle/>
          <a:p>
            <a:pPr>
              <a:defRPr sz="2400" b="1">
                <a:solidFill>
                  <a:srgbClr val="FFFFFF"/>
                </a:solidFill>
              </a:defRPr>
            </a:pPr>
            <a:r>
              <a:t>Indicateur 5 – Top 10 rémunérations</a:t>
            </a:r>
          </a:p>
        </p:txBody>
      </p:sp>
      <p:pic>
        <p:nvPicPr>
          <p:cNvPr id="4" name="Picture 3" descr="image.png"/>
          <p:cNvPicPr>
            <a:picLocks noChangeAspect="1"/>
          </p:cNvPicPr>
          <p:nvPr/>
        </p:nvPicPr>
        <p:blipFill>
          <a:blip r:embed="rId3"/>
          <a:stretch>
            <a:fillRect/>
          </a:stretch>
        </p:blipFill>
        <p:spPr>
          <a:xfrm>
            <a:off x="7772400" y="182880"/>
            <a:ext cx="914400" cy="914400"/>
          </a:xfrm>
          <a:prstGeom prst="rect">
            <a:avLst/>
          </a:prstGeom>
        </p:spPr>
      </p:pic>
      <p:pic>
        <p:nvPicPr>
          <p:cNvPr id="6" name="Image 5">
            <a:extLst>
              <a:ext uri="{FF2B5EF4-FFF2-40B4-BE49-F238E27FC236}">
                <a16:creationId xmlns:a16="http://schemas.microsoft.com/office/drawing/2014/main" id="{B773355A-4D01-D0F3-3580-9C1165FEB65B}"/>
              </a:ext>
            </a:extLst>
          </p:cNvPr>
          <p:cNvPicPr>
            <a:picLocks noChangeAspect="1"/>
          </p:cNvPicPr>
          <p:nvPr/>
        </p:nvPicPr>
        <p:blipFill>
          <a:blip r:embed="rId4"/>
          <a:stretch>
            <a:fillRect/>
          </a:stretch>
        </p:blipFill>
        <p:spPr>
          <a:xfrm>
            <a:off x="488138" y="4179013"/>
            <a:ext cx="5475324" cy="2046753"/>
          </a:xfrm>
          <a:prstGeom prst="rect">
            <a:avLst/>
          </a:prstGeom>
          <a:solidFill>
            <a:schemeClr val="accent6"/>
          </a:solidFill>
          <a:ln>
            <a:solidFill>
              <a:schemeClr val="accent6"/>
            </a:solidFill>
          </a:ln>
        </p:spPr>
      </p:pic>
      <p:sp>
        <p:nvSpPr>
          <p:cNvPr id="7" name="Rectangle 1">
            <a:extLst>
              <a:ext uri="{FF2B5EF4-FFF2-40B4-BE49-F238E27FC236}">
                <a16:creationId xmlns:a16="http://schemas.microsoft.com/office/drawing/2014/main" id="{F5C84549-075F-44A6-B900-0FFC863A52E4}"/>
              </a:ext>
            </a:extLst>
          </p:cNvPr>
          <p:cNvSpPr>
            <a:spLocks noChangeArrowheads="1"/>
          </p:cNvSpPr>
          <p:nvPr/>
        </p:nvSpPr>
        <p:spPr bwMode="auto">
          <a:xfrm>
            <a:off x="3662615" y="1536606"/>
            <a:ext cx="5295900" cy="166199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b="1" i="0" u="none" strike="noStrike" cap="none" normalizeH="0" baseline="0" dirty="0">
                <a:ln>
                  <a:noFill/>
                </a:ln>
                <a:solidFill>
                  <a:schemeClr val="tx1"/>
                </a:solidFill>
                <a:effectLst/>
                <a:latin typeface="+mj-lt"/>
              </a:rPr>
              <a:t>📐 Méthodologie :</a:t>
            </a:r>
          </a:p>
          <a:p>
            <a:pPr lvl="1" indent="-190500" defTabSz="914400" eaLnBrk="0" fontAlgn="base" hangingPunct="0">
              <a:spcBef>
                <a:spcPct val="0"/>
              </a:spcBef>
              <a:spcAft>
                <a:spcPct val="0"/>
              </a:spcAft>
              <a:buFontTx/>
              <a:buAutoNum type="arabicPeriod"/>
            </a:pPr>
            <a:r>
              <a:rPr lang="fr-FR" sz="1400" b="1" dirty="0"/>
              <a:t>Tri des </a:t>
            </a:r>
            <a:r>
              <a:rPr lang="fr-FR" sz="1400" b="1" dirty="0" err="1"/>
              <a:t>salarié·e·s</a:t>
            </a:r>
            <a:r>
              <a:rPr lang="fr-FR" sz="1400" dirty="0"/>
              <a:t> par </a:t>
            </a:r>
            <a:r>
              <a:rPr lang="fr-FR" sz="1400" b="1" dirty="0"/>
              <a:t>rémunération annuelle totale (ETP)</a:t>
            </a:r>
            <a:endParaRPr lang="fr-FR" altLang="fr-FR" sz="1400" dirty="0"/>
          </a:p>
          <a:p>
            <a:pPr lvl="1" indent="-190500" defTabSz="914400" eaLnBrk="0" fontAlgn="base" hangingPunct="0">
              <a:spcBef>
                <a:spcPct val="0"/>
              </a:spcBef>
              <a:spcAft>
                <a:spcPct val="0"/>
              </a:spcAft>
              <a:buFontTx/>
              <a:buAutoNum type="arabicPeriod"/>
            </a:pPr>
            <a:r>
              <a:rPr lang="fr-FR" sz="1400" b="1" dirty="0"/>
              <a:t>Sélection</a:t>
            </a:r>
            <a:r>
              <a:rPr lang="fr-FR" sz="1400" dirty="0"/>
              <a:t> des </a:t>
            </a:r>
            <a:r>
              <a:rPr lang="fr-FR" sz="1400" b="1" dirty="0"/>
              <a:t>10 plus hauts salaires</a:t>
            </a:r>
            <a:r>
              <a:rPr lang="fr-FR" sz="1400" dirty="0"/>
              <a:t> de l’entreprise</a:t>
            </a:r>
          </a:p>
          <a:p>
            <a:pPr lvl="1" indent="-190500" defTabSz="914400" eaLnBrk="0" fontAlgn="base" hangingPunct="0">
              <a:spcBef>
                <a:spcPct val="0"/>
              </a:spcBef>
              <a:spcAft>
                <a:spcPct val="0"/>
              </a:spcAft>
              <a:buFontTx/>
              <a:buAutoNum type="arabicPeriod"/>
            </a:pPr>
            <a:r>
              <a:rPr lang="fr-FR" altLang="fr-FR" sz="1400" b="1" dirty="0"/>
              <a:t>Comptage du nombre de femmes et d’hommes parmi ces 10</a:t>
            </a:r>
          </a:p>
          <a:p>
            <a:pPr marL="723900" lvl="2" indent="-285750" defTabSz="914400" eaLnBrk="0" fontAlgn="base" hangingPunct="0">
              <a:spcBef>
                <a:spcPct val="0"/>
              </a:spcBef>
              <a:spcAft>
                <a:spcPct val="0"/>
              </a:spcAft>
              <a:buFont typeface="Arial" panose="020B0604020202020204" pitchFamily="34" charset="0"/>
              <a:buChar char="•"/>
            </a:pPr>
            <a:r>
              <a:rPr lang="fr-FR" sz="1400" dirty="0"/>
              <a:t>1 femme sur les 10 plus hauts salaires</a:t>
            </a:r>
            <a:endParaRPr lang="fr-FR" altLang="fr-FR" sz="1400" b="1" dirty="0"/>
          </a:p>
          <a:p>
            <a:pPr lvl="1" indent="-190500" defTabSz="914400" eaLnBrk="0" fontAlgn="base" hangingPunct="0">
              <a:spcBef>
                <a:spcPct val="0"/>
              </a:spcBef>
              <a:spcAft>
                <a:spcPct val="0"/>
              </a:spcAft>
              <a:buFontTx/>
              <a:buAutoNum type="arabicPeriod"/>
            </a:pPr>
            <a:r>
              <a:rPr lang="fr-FR" sz="1400" b="1" dirty="0"/>
              <a:t>Attribution de la note</a:t>
            </a:r>
            <a:r>
              <a:rPr lang="fr-FR" sz="1400" dirty="0"/>
              <a:t> selon le barème officiel</a:t>
            </a:r>
          </a:p>
          <a:p>
            <a:pPr marL="723900" lvl="2" indent="-285750" defTabSz="914400" eaLnBrk="0" fontAlgn="base" hangingPunct="0">
              <a:spcBef>
                <a:spcPct val="0"/>
              </a:spcBef>
              <a:spcAft>
                <a:spcPct val="0"/>
              </a:spcAft>
              <a:buFont typeface="Arial" panose="020B0604020202020204" pitchFamily="34" charset="0"/>
              <a:buChar char="•"/>
            </a:pPr>
            <a:r>
              <a:rPr lang="fr-FR" altLang="fr-FR" sz="1400" dirty="0"/>
              <a:t>note = 0 / 10</a:t>
            </a:r>
          </a:p>
        </p:txBody>
      </p:sp>
      <p:sp>
        <p:nvSpPr>
          <p:cNvPr id="8" name="ZoneTexte 7">
            <a:extLst>
              <a:ext uri="{FF2B5EF4-FFF2-40B4-BE49-F238E27FC236}">
                <a16:creationId xmlns:a16="http://schemas.microsoft.com/office/drawing/2014/main" id="{00EC686D-6D76-9D79-7570-1BC4A885A042}"/>
              </a:ext>
            </a:extLst>
          </p:cNvPr>
          <p:cNvSpPr txBox="1"/>
          <p:nvPr/>
        </p:nvSpPr>
        <p:spPr>
          <a:xfrm>
            <a:off x="215900" y="1567965"/>
            <a:ext cx="3009900" cy="646331"/>
          </a:xfrm>
          <a:prstGeom prst="rect">
            <a:avLst/>
          </a:prstGeom>
          <a:noFill/>
        </p:spPr>
        <p:txBody>
          <a:bodyPr wrap="square">
            <a:spAutoFit/>
          </a:bodyPr>
          <a:lstStyle/>
          <a:p>
            <a:pPr marL="0" lvl="2" algn="ctr" defTabSz="914400" eaLnBrk="0" fontAlgn="base" hangingPunct="0">
              <a:spcBef>
                <a:spcPct val="0"/>
              </a:spcBef>
              <a:spcAft>
                <a:spcPct val="0"/>
              </a:spcAft>
            </a:pPr>
            <a:r>
              <a:rPr kumimoji="0" lang="fr-FR" altLang="fr-FR" sz="1800" b="1" i="0" u="none" strike="noStrike" cap="none" normalizeH="0" baseline="0" dirty="0">
                <a:ln>
                  <a:noFill/>
                </a:ln>
                <a:solidFill>
                  <a:schemeClr val="tx1"/>
                </a:solidFill>
                <a:effectLst/>
                <a:latin typeface="+mj-lt"/>
              </a:rPr>
              <a:t>Note </a:t>
            </a:r>
            <a:r>
              <a:rPr lang="fr-FR" altLang="fr-FR" b="1" dirty="0">
                <a:latin typeface="+mj-lt"/>
              </a:rPr>
              <a:t>(</a:t>
            </a:r>
            <a:r>
              <a:rPr kumimoji="0" lang="fr-FR" altLang="fr-FR" sz="1800" b="1" i="0" u="none" strike="noStrike" cap="none" normalizeH="0" baseline="0" dirty="0">
                <a:ln>
                  <a:noFill/>
                </a:ln>
                <a:solidFill>
                  <a:schemeClr val="tx1"/>
                </a:solidFill>
                <a:effectLst/>
                <a:latin typeface="+mj-lt"/>
              </a:rPr>
              <a:t>barème officiel)</a:t>
            </a:r>
            <a:br>
              <a:rPr kumimoji="0" lang="fr-FR" altLang="fr-FR" sz="1800" b="0" i="0" u="none" strike="noStrike" cap="none" normalizeH="0" baseline="0" dirty="0">
                <a:ln>
                  <a:noFill/>
                </a:ln>
                <a:solidFill>
                  <a:schemeClr val="tx1"/>
                </a:solidFill>
                <a:effectLst/>
                <a:latin typeface="+mj-lt"/>
              </a:rPr>
            </a:br>
            <a:endParaRPr kumimoji="0" lang="fr-FR" altLang="fr-FR" sz="1800" b="0" i="0" u="none" strike="noStrike" cap="none" normalizeH="0" baseline="0" dirty="0">
              <a:ln>
                <a:noFill/>
              </a:ln>
              <a:solidFill>
                <a:schemeClr val="tx1"/>
              </a:solidFill>
              <a:effectLst/>
              <a:latin typeface="+mj-lt"/>
            </a:endParaRPr>
          </a:p>
        </p:txBody>
      </p:sp>
      <p:sp>
        <p:nvSpPr>
          <p:cNvPr id="9" name="ZoneTexte 8">
            <a:extLst>
              <a:ext uri="{FF2B5EF4-FFF2-40B4-BE49-F238E27FC236}">
                <a16:creationId xmlns:a16="http://schemas.microsoft.com/office/drawing/2014/main" id="{160CB23C-7386-DE51-2527-05C012F1E7A7}"/>
              </a:ext>
            </a:extLst>
          </p:cNvPr>
          <p:cNvSpPr txBox="1"/>
          <p:nvPr/>
        </p:nvSpPr>
        <p:spPr>
          <a:xfrm>
            <a:off x="298450" y="1983463"/>
            <a:ext cx="2844800" cy="1107996"/>
          </a:xfrm>
          <a:prstGeom prst="rect">
            <a:avLst/>
          </a:prstGeom>
          <a:noFill/>
        </p:spPr>
        <p:txBody>
          <a:bodyPr wrap="square">
            <a:spAutoFit/>
          </a:bodyPr>
          <a:lstStyle/>
          <a:p>
            <a:pPr algn="ctr"/>
            <a:r>
              <a:rPr kumimoji="0" lang="fr-FR" altLang="fr-FR" sz="6600" b="1" i="0" u="none" strike="noStrike" cap="none" normalizeH="0" baseline="0" dirty="0">
                <a:ln>
                  <a:noFill/>
                </a:ln>
                <a:solidFill>
                  <a:srgbClr val="FF0000"/>
                </a:solidFill>
                <a:effectLst/>
                <a:latin typeface="+mj-lt"/>
              </a:rPr>
              <a:t>0</a:t>
            </a:r>
            <a:r>
              <a:rPr kumimoji="0" lang="fr-FR" altLang="fr-FR" sz="6600" b="1" i="0" u="none" strike="noStrike" cap="none" normalizeH="0" baseline="0" dirty="0">
                <a:ln>
                  <a:noFill/>
                </a:ln>
                <a:solidFill>
                  <a:schemeClr val="accent6"/>
                </a:solidFill>
                <a:effectLst/>
                <a:latin typeface="+mj-lt"/>
              </a:rPr>
              <a:t> </a:t>
            </a:r>
            <a:r>
              <a:rPr kumimoji="0" lang="fr-FR" altLang="fr-FR" sz="6600" i="0" u="none" strike="noStrike" cap="none" normalizeH="0" baseline="0" dirty="0">
                <a:ln>
                  <a:noFill/>
                </a:ln>
                <a:effectLst/>
                <a:latin typeface="+mj-lt"/>
              </a:rPr>
              <a:t>/ 10</a:t>
            </a:r>
            <a:endParaRPr lang="fr-FR" sz="5400" dirty="0"/>
          </a:p>
        </p:txBody>
      </p:sp>
      <p:sp>
        <p:nvSpPr>
          <p:cNvPr id="18" name="Espace réservé du numéro de diapositive 17">
            <a:extLst>
              <a:ext uri="{FF2B5EF4-FFF2-40B4-BE49-F238E27FC236}">
                <a16:creationId xmlns:a16="http://schemas.microsoft.com/office/drawing/2014/main" id="{158175D3-A5D7-97EA-C730-D98316D14CDA}"/>
              </a:ext>
            </a:extLst>
          </p:cNvPr>
          <p:cNvSpPr>
            <a:spLocks noGrp="1"/>
          </p:cNvSpPr>
          <p:nvPr>
            <p:ph type="sldNum" sz="quarter" idx="12"/>
          </p:nvPr>
        </p:nvSpPr>
        <p:spPr/>
        <p:txBody>
          <a:bodyPr/>
          <a:lstStyle/>
          <a:p>
            <a:fld id="{C1FF6DA9-008F-8B48-92A6-B652298478BF}" type="slidenum">
              <a:rPr lang="en-US" smtClean="0"/>
              <a:t>12</a:t>
            </a:fld>
            <a:endParaRPr lang="en-US"/>
          </a:p>
        </p:txBody>
      </p:sp>
      <p:pic>
        <p:nvPicPr>
          <p:cNvPr id="5" name="Image 4" descr="Une image contenant capture d’écran, diagramme, cercle, Graphique&#10;&#10;Le contenu généré par l’IA peut être incorrect.">
            <a:extLst>
              <a:ext uri="{FF2B5EF4-FFF2-40B4-BE49-F238E27FC236}">
                <a16:creationId xmlns:a16="http://schemas.microsoft.com/office/drawing/2014/main" id="{04DAA19E-1BC1-6222-0B47-69EC52331A31}"/>
              </a:ext>
            </a:extLst>
          </p:cNvPr>
          <p:cNvPicPr>
            <a:picLocks noChangeAspect="1"/>
          </p:cNvPicPr>
          <p:nvPr/>
        </p:nvPicPr>
        <p:blipFill>
          <a:blip r:embed="rId5"/>
          <a:srcRect l="31002" t="21811" r="31386" b="22295"/>
          <a:stretch/>
        </p:blipFill>
        <p:spPr>
          <a:xfrm>
            <a:off x="6229349" y="3429000"/>
            <a:ext cx="2729165" cy="296247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914400"/>
          </a:xfrm>
          <a:prstGeom prst="rect">
            <a:avLst/>
          </a:prstGeom>
          <a:solidFill>
            <a:srgbClr val="1A2A44"/>
          </a:solidFill>
        </p:spPr>
        <p:style>
          <a:lnRef idx="1">
            <a:schemeClr val="accent1"/>
          </a:lnRef>
          <a:fillRef idx="3">
            <a:schemeClr val="accent1"/>
          </a:fillRef>
          <a:effectRef idx="2">
            <a:schemeClr val="accent1"/>
          </a:effectRef>
          <a:fontRef idx="minor">
            <a:schemeClr val="lt1"/>
          </a:fontRef>
        </p:style>
        <p:txBody>
          <a:bodyPr rtlCol="0" anchor="ctr"/>
          <a:lstStyle/>
          <a:p>
            <a:pPr>
              <a:defRPr sz="2400" b="1">
                <a:solidFill>
                  <a:srgbClr val="FFFFFF"/>
                </a:solidFill>
              </a:defRPr>
            </a:pPr>
            <a:r>
              <a:rPr dirty="0" err="1"/>
              <a:t>Synthèse</a:t>
            </a:r>
            <a:r>
              <a:rPr dirty="0"/>
              <a:t> des </a:t>
            </a:r>
            <a:r>
              <a:rPr dirty="0" err="1"/>
              <a:t>résultats</a:t>
            </a:r>
            <a:r>
              <a:rPr lang="fr-BE" dirty="0"/>
              <a:t> </a:t>
            </a:r>
            <a:r>
              <a:rPr lang="fr-FR" dirty="0"/>
              <a:t>&amp; score global de l’entreprise</a:t>
            </a:r>
            <a:endParaRPr dirty="0"/>
          </a:p>
        </p:txBody>
      </p:sp>
      <p:pic>
        <p:nvPicPr>
          <p:cNvPr id="4" name="Picture 3" descr="image.png"/>
          <p:cNvPicPr>
            <a:picLocks noChangeAspect="1"/>
          </p:cNvPicPr>
          <p:nvPr/>
        </p:nvPicPr>
        <p:blipFill>
          <a:blip r:embed="rId3"/>
          <a:stretch>
            <a:fillRect/>
          </a:stretch>
        </p:blipFill>
        <p:spPr>
          <a:xfrm>
            <a:off x="7772400" y="182880"/>
            <a:ext cx="914400" cy="914400"/>
          </a:xfrm>
          <a:prstGeom prst="rect">
            <a:avLst/>
          </a:prstGeom>
        </p:spPr>
      </p:pic>
      <p:graphicFrame>
        <p:nvGraphicFramePr>
          <p:cNvPr id="5" name="Tableau 4">
            <a:extLst>
              <a:ext uri="{FF2B5EF4-FFF2-40B4-BE49-F238E27FC236}">
                <a16:creationId xmlns:a16="http://schemas.microsoft.com/office/drawing/2014/main" id="{E9DB2173-1157-5E81-9C10-78D3DA8507B8}"/>
              </a:ext>
            </a:extLst>
          </p:cNvPr>
          <p:cNvGraphicFramePr>
            <a:graphicFrameLocks noGrp="1"/>
          </p:cNvGraphicFramePr>
          <p:nvPr>
            <p:extLst>
              <p:ext uri="{D42A27DB-BD31-4B8C-83A1-F6EECF244321}">
                <p14:modId xmlns:p14="http://schemas.microsoft.com/office/powerpoint/2010/main" val="1303532313"/>
              </p:ext>
            </p:extLst>
          </p:nvPr>
        </p:nvGraphicFramePr>
        <p:xfrm>
          <a:off x="457200" y="1638300"/>
          <a:ext cx="8229600" cy="2595880"/>
        </p:xfrm>
        <a:graphic>
          <a:graphicData uri="http://schemas.openxmlformats.org/drawingml/2006/table">
            <a:tbl>
              <a:tblPr firstRow="1" bandRow="1">
                <a:tableStyleId>{5C22544A-7EE6-4342-B048-85BDC9FD1C3A}</a:tableStyleId>
              </a:tblPr>
              <a:tblGrid>
                <a:gridCol w="4635500">
                  <a:extLst>
                    <a:ext uri="{9D8B030D-6E8A-4147-A177-3AD203B41FA5}">
                      <a16:colId xmlns:a16="http://schemas.microsoft.com/office/drawing/2014/main" val="1326094418"/>
                    </a:ext>
                  </a:extLst>
                </a:gridCol>
                <a:gridCol w="1701800">
                  <a:extLst>
                    <a:ext uri="{9D8B030D-6E8A-4147-A177-3AD203B41FA5}">
                      <a16:colId xmlns:a16="http://schemas.microsoft.com/office/drawing/2014/main" val="3738389342"/>
                    </a:ext>
                  </a:extLst>
                </a:gridCol>
                <a:gridCol w="1892300">
                  <a:extLst>
                    <a:ext uri="{9D8B030D-6E8A-4147-A177-3AD203B41FA5}">
                      <a16:colId xmlns:a16="http://schemas.microsoft.com/office/drawing/2014/main" val="141126309"/>
                    </a:ext>
                  </a:extLst>
                </a:gridCol>
              </a:tblGrid>
              <a:tr h="370840">
                <a:tc>
                  <a:txBody>
                    <a:bodyPr/>
                    <a:lstStyle/>
                    <a:p>
                      <a:r>
                        <a:rPr lang="fr-FR" dirty="0"/>
                        <a:t>INDICATEURS</a:t>
                      </a:r>
                    </a:p>
                  </a:txBody>
                  <a:tcPr anchor="ctr"/>
                </a:tc>
                <a:tc>
                  <a:txBody>
                    <a:bodyPr/>
                    <a:lstStyle/>
                    <a:p>
                      <a:pPr algn="ctr"/>
                      <a:r>
                        <a:rPr lang="fr-FR" dirty="0"/>
                        <a:t>Note obtenue</a:t>
                      </a:r>
                    </a:p>
                  </a:txBody>
                  <a:tcPr anchor="ctr"/>
                </a:tc>
                <a:tc>
                  <a:txBody>
                    <a:bodyPr/>
                    <a:lstStyle/>
                    <a:p>
                      <a:pPr algn="ctr"/>
                      <a:r>
                        <a:rPr lang="fr-FR" dirty="0"/>
                        <a:t>Note maximale</a:t>
                      </a:r>
                    </a:p>
                  </a:txBody>
                  <a:tcPr anchor="ctr"/>
                </a:tc>
                <a:extLst>
                  <a:ext uri="{0D108BD9-81ED-4DB2-BD59-A6C34878D82A}">
                    <a16:rowId xmlns:a16="http://schemas.microsoft.com/office/drawing/2014/main" val="2363097021"/>
                  </a:ext>
                </a:extLst>
              </a:tr>
              <a:tr h="370840">
                <a:tc>
                  <a:txBody>
                    <a:bodyPr/>
                    <a:lstStyle/>
                    <a:p>
                      <a:r>
                        <a:rPr lang="fr-FR" sz="1400" dirty="0"/>
                        <a:t>1. Écart de rémunération</a:t>
                      </a:r>
                    </a:p>
                  </a:txBody>
                  <a:tcPr anchor="ctr"/>
                </a:tc>
                <a:tc>
                  <a:txBody>
                    <a:bodyPr/>
                    <a:lstStyle/>
                    <a:p>
                      <a:pPr algn="ctr"/>
                      <a:r>
                        <a:rPr lang="fr-BE" sz="1400" b="1" dirty="0">
                          <a:solidFill>
                            <a:schemeClr val="accent6"/>
                          </a:solidFill>
                        </a:rPr>
                        <a:t>36</a:t>
                      </a:r>
                      <a:endParaRPr lang="fr-FR" sz="1400" b="1" dirty="0">
                        <a:solidFill>
                          <a:schemeClr val="accent6"/>
                        </a:solidFill>
                      </a:endParaRPr>
                    </a:p>
                  </a:txBody>
                  <a:tcPr/>
                </a:tc>
                <a:tc>
                  <a:txBody>
                    <a:bodyPr/>
                    <a:lstStyle/>
                    <a:p>
                      <a:pPr algn="ctr"/>
                      <a:r>
                        <a:rPr lang="fr-BE" sz="1400" i="1" dirty="0"/>
                        <a:t>40</a:t>
                      </a:r>
                      <a:endParaRPr lang="fr-FR" sz="1400" i="1" dirty="0"/>
                    </a:p>
                  </a:txBody>
                  <a:tcPr/>
                </a:tc>
                <a:extLst>
                  <a:ext uri="{0D108BD9-81ED-4DB2-BD59-A6C34878D82A}">
                    <a16:rowId xmlns:a16="http://schemas.microsoft.com/office/drawing/2014/main" val="2967314551"/>
                  </a:ext>
                </a:extLst>
              </a:tr>
              <a:tr h="370840">
                <a:tc>
                  <a:txBody>
                    <a:bodyPr/>
                    <a:lstStyle/>
                    <a:p>
                      <a:r>
                        <a:rPr lang="fr-FR" sz="1400" dirty="0"/>
                        <a:t>2. Écart d’augmentation individuelle (hors promotions)</a:t>
                      </a:r>
                    </a:p>
                  </a:txBody>
                  <a:tcPr anchor="ctr"/>
                </a:tc>
                <a:tc>
                  <a:txBody>
                    <a:bodyPr/>
                    <a:lstStyle/>
                    <a:p>
                      <a:pPr algn="ctr"/>
                      <a:r>
                        <a:rPr lang="fr-BE" sz="1400" b="1" dirty="0">
                          <a:solidFill>
                            <a:srgbClr val="00B050"/>
                          </a:solidFill>
                        </a:rPr>
                        <a:t>20</a:t>
                      </a:r>
                      <a:endParaRPr lang="fr-FR" sz="1400" b="1" dirty="0">
                        <a:solidFill>
                          <a:srgbClr val="00B050"/>
                        </a:solidFill>
                      </a:endParaRPr>
                    </a:p>
                  </a:txBody>
                  <a:tcPr/>
                </a:tc>
                <a:tc>
                  <a:txBody>
                    <a:bodyPr/>
                    <a:lstStyle/>
                    <a:p>
                      <a:pPr algn="ctr"/>
                      <a:r>
                        <a:rPr lang="fr-BE" sz="1400" i="1" dirty="0"/>
                        <a:t>20</a:t>
                      </a:r>
                      <a:endParaRPr lang="fr-FR" sz="1400" i="1" dirty="0"/>
                    </a:p>
                  </a:txBody>
                  <a:tcPr/>
                </a:tc>
                <a:extLst>
                  <a:ext uri="{0D108BD9-81ED-4DB2-BD59-A6C34878D82A}">
                    <a16:rowId xmlns:a16="http://schemas.microsoft.com/office/drawing/2014/main" val="3420042081"/>
                  </a:ext>
                </a:extLst>
              </a:tr>
              <a:tr h="370840">
                <a:tc>
                  <a:txBody>
                    <a:bodyPr/>
                    <a:lstStyle/>
                    <a:p>
                      <a:r>
                        <a:rPr lang="fr-FR" sz="1400" dirty="0"/>
                        <a:t>3. Écart de taux de promotion</a:t>
                      </a:r>
                    </a:p>
                  </a:txBody>
                  <a:tcPr anchor="ctr"/>
                </a:tc>
                <a:tc>
                  <a:txBody>
                    <a:bodyPr/>
                    <a:lstStyle/>
                    <a:p>
                      <a:pPr algn="ctr"/>
                      <a:r>
                        <a:rPr lang="fr-BE" sz="1400" b="1" dirty="0">
                          <a:solidFill>
                            <a:srgbClr val="00B050"/>
                          </a:solidFill>
                        </a:rPr>
                        <a:t>15</a:t>
                      </a:r>
                      <a:endParaRPr lang="fr-FR" sz="1400" b="1" dirty="0">
                        <a:solidFill>
                          <a:srgbClr val="00B050"/>
                        </a:solidFill>
                      </a:endParaRPr>
                    </a:p>
                  </a:txBody>
                  <a:tcPr/>
                </a:tc>
                <a:tc>
                  <a:txBody>
                    <a:bodyPr/>
                    <a:lstStyle/>
                    <a:p>
                      <a:pPr algn="ctr"/>
                      <a:r>
                        <a:rPr lang="fr-BE" sz="1400" i="1" dirty="0"/>
                        <a:t>15</a:t>
                      </a:r>
                      <a:endParaRPr lang="fr-FR" sz="1400" i="1" dirty="0"/>
                    </a:p>
                  </a:txBody>
                  <a:tcPr/>
                </a:tc>
                <a:extLst>
                  <a:ext uri="{0D108BD9-81ED-4DB2-BD59-A6C34878D82A}">
                    <a16:rowId xmlns:a16="http://schemas.microsoft.com/office/drawing/2014/main" val="2274777371"/>
                  </a:ext>
                </a:extLst>
              </a:tr>
              <a:tr h="370840">
                <a:tc>
                  <a:txBody>
                    <a:bodyPr/>
                    <a:lstStyle/>
                    <a:p>
                      <a:r>
                        <a:rPr lang="fr-FR" sz="1400" dirty="0"/>
                        <a:t>4. Augmentation au retour de congé maternité</a:t>
                      </a:r>
                    </a:p>
                  </a:txBody>
                  <a:tcPr anchor="ctr"/>
                </a:tc>
                <a:tc>
                  <a:txBody>
                    <a:bodyPr/>
                    <a:lstStyle/>
                    <a:p>
                      <a:pPr algn="ctr"/>
                      <a:r>
                        <a:rPr lang="fr-BE" sz="1400" b="1" dirty="0">
                          <a:solidFill>
                            <a:srgbClr val="00B050"/>
                          </a:solidFill>
                        </a:rPr>
                        <a:t>15</a:t>
                      </a:r>
                      <a:endParaRPr lang="fr-FR" sz="1400" b="1" dirty="0">
                        <a:solidFill>
                          <a:srgbClr val="00B050"/>
                        </a:solidFill>
                      </a:endParaRPr>
                    </a:p>
                  </a:txBody>
                  <a:tcPr/>
                </a:tc>
                <a:tc>
                  <a:txBody>
                    <a:bodyPr/>
                    <a:lstStyle/>
                    <a:p>
                      <a:pPr algn="ctr"/>
                      <a:r>
                        <a:rPr lang="fr-BE" sz="1400" i="1" dirty="0"/>
                        <a:t>15</a:t>
                      </a:r>
                      <a:endParaRPr lang="fr-FR" sz="1400" i="1" dirty="0"/>
                    </a:p>
                  </a:txBody>
                  <a:tcPr/>
                </a:tc>
                <a:extLst>
                  <a:ext uri="{0D108BD9-81ED-4DB2-BD59-A6C34878D82A}">
                    <a16:rowId xmlns:a16="http://schemas.microsoft.com/office/drawing/2014/main" val="340599515"/>
                  </a:ext>
                </a:extLst>
              </a:tr>
              <a:tr h="370840">
                <a:tc>
                  <a:txBody>
                    <a:bodyPr/>
                    <a:lstStyle/>
                    <a:p>
                      <a:r>
                        <a:rPr lang="fr-FR" sz="1400" dirty="0"/>
                        <a:t>5. Parité parmi les 10 plus hautes rémunérations</a:t>
                      </a:r>
                    </a:p>
                  </a:txBody>
                  <a:tcPr anchor="ctr"/>
                </a:tc>
                <a:tc>
                  <a:txBody>
                    <a:bodyPr/>
                    <a:lstStyle/>
                    <a:p>
                      <a:pPr algn="ctr"/>
                      <a:r>
                        <a:rPr lang="fr-BE" sz="1400" b="1" dirty="0">
                          <a:solidFill>
                            <a:srgbClr val="FF0000"/>
                          </a:solidFill>
                        </a:rPr>
                        <a:t>0</a:t>
                      </a:r>
                      <a:endParaRPr lang="fr-FR" sz="1400" b="1" dirty="0">
                        <a:solidFill>
                          <a:srgbClr val="FF0000"/>
                        </a:solidFill>
                      </a:endParaRPr>
                    </a:p>
                  </a:txBody>
                  <a:tcPr>
                    <a:lnB w="12700" cap="flat" cmpd="sng" algn="ctr">
                      <a:solidFill>
                        <a:schemeClr val="tx1"/>
                      </a:solidFill>
                      <a:prstDash val="solid"/>
                      <a:round/>
                      <a:headEnd type="none" w="med" len="med"/>
                      <a:tailEnd type="none" w="med" len="med"/>
                    </a:lnB>
                  </a:tcPr>
                </a:tc>
                <a:tc>
                  <a:txBody>
                    <a:bodyPr/>
                    <a:lstStyle/>
                    <a:p>
                      <a:pPr algn="ctr"/>
                      <a:r>
                        <a:rPr lang="fr-BE" sz="1400" i="1" dirty="0"/>
                        <a:t>10</a:t>
                      </a:r>
                      <a:endParaRPr lang="fr-FR" sz="1400" i="1" dirty="0"/>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72340753"/>
                  </a:ext>
                </a:extLst>
              </a:tr>
              <a:tr h="370840">
                <a:tc>
                  <a:txBody>
                    <a:bodyPr/>
                    <a:lstStyle/>
                    <a:p>
                      <a:pPr algn="r"/>
                      <a:r>
                        <a:rPr lang="fr-FR" sz="1600" b="1" dirty="0"/>
                        <a:t>TOTAL :</a:t>
                      </a:r>
                    </a:p>
                  </a:txBody>
                  <a:tcPr>
                    <a:solidFill>
                      <a:schemeClr val="bg1"/>
                    </a:solidFill>
                  </a:tcPr>
                </a:tc>
                <a:tc>
                  <a:txBody>
                    <a:bodyPr/>
                    <a:lstStyle/>
                    <a:p>
                      <a:pPr algn="ctr"/>
                      <a:r>
                        <a:rPr lang="fr-BE" sz="1600" b="1" dirty="0"/>
                        <a:t>86</a:t>
                      </a:r>
                      <a:endParaRPr lang="fr-FR" sz="1600" b="1" dirty="0"/>
                    </a:p>
                  </a:txBody>
                  <a:tcPr>
                    <a:lnT w="12700" cap="flat" cmpd="sng" algn="ctr">
                      <a:solidFill>
                        <a:schemeClr val="tx1"/>
                      </a:solidFill>
                      <a:prstDash val="solid"/>
                      <a:round/>
                      <a:headEnd type="none" w="med" len="med"/>
                      <a:tailEnd type="none" w="med" len="med"/>
                    </a:lnT>
                  </a:tcPr>
                </a:tc>
                <a:tc>
                  <a:txBody>
                    <a:bodyPr/>
                    <a:lstStyle/>
                    <a:p>
                      <a:pPr algn="ctr"/>
                      <a:r>
                        <a:rPr lang="fr-BE" sz="1600" i="1" dirty="0"/>
                        <a:t>100</a:t>
                      </a:r>
                      <a:endParaRPr lang="fr-FR" sz="1600" i="1" dirty="0"/>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649053198"/>
                  </a:ext>
                </a:extLst>
              </a:tr>
            </a:tbl>
          </a:graphicData>
        </a:graphic>
      </p:graphicFrame>
      <p:sp>
        <p:nvSpPr>
          <p:cNvPr id="8" name="ZoneTexte 7">
            <a:extLst>
              <a:ext uri="{FF2B5EF4-FFF2-40B4-BE49-F238E27FC236}">
                <a16:creationId xmlns:a16="http://schemas.microsoft.com/office/drawing/2014/main" id="{5FEAFE9E-6807-753E-6551-78E16112373C}"/>
              </a:ext>
            </a:extLst>
          </p:cNvPr>
          <p:cNvSpPr txBox="1"/>
          <p:nvPr/>
        </p:nvSpPr>
        <p:spPr>
          <a:xfrm>
            <a:off x="4025900" y="4958080"/>
            <a:ext cx="4826000" cy="984885"/>
          </a:xfrm>
          <a:prstGeom prst="rect">
            <a:avLst/>
          </a:prstGeom>
          <a:noFill/>
        </p:spPr>
        <p:txBody>
          <a:bodyPr wrap="square">
            <a:spAutoFit/>
          </a:bodyPr>
          <a:lstStyle/>
          <a:p>
            <a:pPr>
              <a:buNone/>
            </a:pPr>
            <a:r>
              <a:rPr lang="fr-FR" sz="1600" b="1" u="sng" dirty="0"/>
              <a:t>Légende des couleurs :</a:t>
            </a:r>
          </a:p>
          <a:p>
            <a:r>
              <a:rPr lang="fr-FR" sz="1400" dirty="0"/>
              <a:t>	🟢 Vert = note maximale obtenue</a:t>
            </a:r>
          </a:p>
          <a:p>
            <a:pPr lvl="1"/>
            <a:r>
              <a:rPr lang="fr-FR" sz="1400" dirty="0"/>
              <a:t>🟠 Orange = écart léger, note correcte mais améliorable</a:t>
            </a:r>
          </a:p>
          <a:p>
            <a:r>
              <a:rPr lang="fr-FR" sz="1400" dirty="0"/>
              <a:t>	🔴 Rouge = point faible (ici, 0/10)</a:t>
            </a:r>
          </a:p>
        </p:txBody>
      </p:sp>
      <p:sp>
        <p:nvSpPr>
          <p:cNvPr id="9" name="Espace réservé du numéro de diapositive 8">
            <a:extLst>
              <a:ext uri="{FF2B5EF4-FFF2-40B4-BE49-F238E27FC236}">
                <a16:creationId xmlns:a16="http://schemas.microsoft.com/office/drawing/2014/main" id="{897B1CFF-0D3D-E4BA-3A67-3163845EE5AC}"/>
              </a:ext>
            </a:extLst>
          </p:cNvPr>
          <p:cNvSpPr>
            <a:spLocks noGrp="1"/>
          </p:cNvSpPr>
          <p:nvPr>
            <p:ph type="sldNum" sz="quarter" idx="12"/>
          </p:nvPr>
        </p:nvSpPr>
        <p:spPr/>
        <p:txBody>
          <a:bodyPr/>
          <a:lstStyle/>
          <a:p>
            <a:fld id="{C1FF6DA9-008F-8B48-92A6-B652298478BF}" type="slidenum">
              <a:rPr lang="en-US" smtClean="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914400"/>
          </a:xfrm>
          <a:prstGeom prst="rect">
            <a:avLst/>
          </a:prstGeom>
          <a:solidFill>
            <a:srgbClr val="1A2A44"/>
          </a:solidFill>
        </p:spPr>
        <p:style>
          <a:lnRef idx="1">
            <a:schemeClr val="accent1"/>
          </a:lnRef>
          <a:fillRef idx="3">
            <a:schemeClr val="accent1"/>
          </a:fillRef>
          <a:effectRef idx="2">
            <a:schemeClr val="accent1"/>
          </a:effectRef>
          <a:fontRef idx="minor">
            <a:schemeClr val="lt1"/>
          </a:fontRef>
        </p:style>
        <p:txBody>
          <a:bodyPr rtlCol="0" anchor="ctr"/>
          <a:lstStyle/>
          <a:p>
            <a:pPr>
              <a:defRPr sz="2400" b="1">
                <a:solidFill>
                  <a:srgbClr val="FFFFFF"/>
                </a:solidFill>
              </a:defRPr>
            </a:pPr>
            <a:r>
              <a:t>Recommandations &amp; axes d’amélioration</a:t>
            </a:r>
          </a:p>
        </p:txBody>
      </p:sp>
      <p:pic>
        <p:nvPicPr>
          <p:cNvPr id="4" name="Picture 3" descr="image.png"/>
          <p:cNvPicPr>
            <a:picLocks noChangeAspect="1"/>
          </p:cNvPicPr>
          <p:nvPr/>
        </p:nvPicPr>
        <p:blipFill>
          <a:blip r:embed="rId3"/>
          <a:stretch>
            <a:fillRect/>
          </a:stretch>
        </p:blipFill>
        <p:spPr>
          <a:xfrm>
            <a:off x="7772400" y="182880"/>
            <a:ext cx="914400" cy="914400"/>
          </a:xfrm>
          <a:prstGeom prst="rect">
            <a:avLst/>
          </a:prstGeom>
        </p:spPr>
      </p:pic>
      <p:sp>
        <p:nvSpPr>
          <p:cNvPr id="6" name="ZoneTexte 5">
            <a:extLst>
              <a:ext uri="{FF2B5EF4-FFF2-40B4-BE49-F238E27FC236}">
                <a16:creationId xmlns:a16="http://schemas.microsoft.com/office/drawing/2014/main" id="{A277B815-8300-52CE-B4A7-74DBE9884B8D}"/>
              </a:ext>
            </a:extLst>
          </p:cNvPr>
          <p:cNvSpPr txBox="1"/>
          <p:nvPr/>
        </p:nvSpPr>
        <p:spPr>
          <a:xfrm>
            <a:off x="215900" y="1310643"/>
            <a:ext cx="4225925" cy="2523768"/>
          </a:xfrm>
          <a:prstGeom prst="rect">
            <a:avLst/>
          </a:prstGeom>
          <a:noFill/>
        </p:spPr>
        <p:txBody>
          <a:bodyPr wrap="square">
            <a:spAutoFit/>
          </a:bodyPr>
          <a:lstStyle/>
          <a:p>
            <a:pPr>
              <a:buNone/>
            </a:pPr>
            <a:r>
              <a:rPr lang="fr-FR" b="1" dirty="0"/>
              <a:t>✅ Forces identifiées dans l’entreprise :</a:t>
            </a:r>
          </a:p>
          <a:p>
            <a:pPr marL="723900" lvl="1" indent="-368300">
              <a:tabLst>
                <a:tab pos="723900" algn="l"/>
              </a:tabLst>
            </a:pPr>
            <a:endParaRPr lang="fr-FR" sz="1400" dirty="0"/>
          </a:p>
          <a:p>
            <a:pPr marL="723900" lvl="1" indent="-368300">
              <a:tabLst>
                <a:tab pos="723900" algn="l"/>
              </a:tabLst>
            </a:pPr>
            <a:r>
              <a:rPr lang="fr-FR" sz="1400" dirty="0"/>
              <a:t>📈 	Aucune inégalité constatée sur les augmentations individuelles ou promotions</a:t>
            </a:r>
          </a:p>
          <a:p>
            <a:pPr marL="723900" lvl="1" indent="-368300">
              <a:tabLst>
                <a:tab pos="723900" algn="l"/>
              </a:tabLst>
            </a:pPr>
            <a:endParaRPr lang="fr-FR" sz="1400" dirty="0"/>
          </a:p>
          <a:p>
            <a:pPr marL="723900" lvl="1" indent="-368300">
              <a:tabLst>
                <a:tab pos="723900" algn="l"/>
              </a:tabLst>
            </a:pPr>
            <a:r>
              <a:rPr lang="fr-FR" sz="1400" dirty="0"/>
              <a:t>🤝 	Retour de congé maternité systématiquement accompagné d’une augmentation</a:t>
            </a:r>
          </a:p>
          <a:p>
            <a:pPr marL="723900" lvl="1" indent="-368300">
              <a:tabLst>
                <a:tab pos="723900" algn="l"/>
              </a:tabLst>
            </a:pPr>
            <a:endParaRPr lang="fr-FR" sz="1400" dirty="0"/>
          </a:p>
          <a:p>
            <a:pPr marL="723900" lvl="1" indent="-368300">
              <a:tabLst>
                <a:tab pos="723900" algn="l"/>
              </a:tabLst>
            </a:pPr>
            <a:r>
              <a:rPr lang="fr-FR" sz="1400" dirty="0"/>
              <a:t>🧰 	</a:t>
            </a:r>
            <a:r>
              <a:rPr lang="fr-FR" sz="1400" i="1" dirty="0"/>
              <a:t>Workflow</a:t>
            </a:r>
            <a:r>
              <a:rPr lang="fr-FR" sz="1400" dirty="0"/>
              <a:t> automatisé et conforme RGPD, reproductible chaque année</a:t>
            </a:r>
          </a:p>
        </p:txBody>
      </p:sp>
      <p:sp>
        <p:nvSpPr>
          <p:cNvPr id="7" name="Rectangle 1">
            <a:extLst>
              <a:ext uri="{FF2B5EF4-FFF2-40B4-BE49-F238E27FC236}">
                <a16:creationId xmlns:a16="http://schemas.microsoft.com/office/drawing/2014/main" id="{BD2E3488-C7F2-12BC-F523-B905EBBF3FC0}"/>
              </a:ext>
            </a:extLst>
          </p:cNvPr>
          <p:cNvSpPr>
            <a:spLocks noChangeArrowheads="1"/>
          </p:cNvSpPr>
          <p:nvPr/>
        </p:nvSpPr>
        <p:spPr bwMode="auto">
          <a:xfrm>
            <a:off x="4572000" y="1310643"/>
            <a:ext cx="4225925"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b="1" i="0" u="none" strike="noStrike" cap="none" normalizeH="0" baseline="0" dirty="0">
                <a:ln>
                  <a:noFill/>
                </a:ln>
                <a:solidFill>
                  <a:schemeClr val="tx1"/>
                </a:solidFill>
                <a:effectLst/>
                <a:latin typeface="+mj-lt"/>
              </a:rPr>
              <a:t>⚠️ Points d’attention / d’amélioration :</a:t>
            </a:r>
          </a:p>
          <a:p>
            <a:pPr lvl="1" defTabSz="914400" eaLnBrk="0" fontAlgn="base" hangingPunct="0">
              <a:spcBef>
                <a:spcPct val="0"/>
              </a:spcBef>
              <a:spcAft>
                <a:spcPct val="0"/>
              </a:spcAft>
            </a:pPr>
            <a:endParaRPr kumimoji="0" lang="fr-FR" altLang="fr-FR" sz="1400" b="0" i="0" u="none" strike="noStrike" cap="none" normalizeH="0" baseline="0" dirty="0">
              <a:ln>
                <a:noFill/>
              </a:ln>
              <a:solidFill>
                <a:schemeClr val="tx1"/>
              </a:solidFill>
              <a:effectLst/>
              <a:latin typeface="+mj-lt"/>
            </a:endParaRPr>
          </a:p>
          <a:p>
            <a:pPr lvl="1" defTabSz="914400" eaLnBrk="0" fontAlgn="base" hangingPunct="0">
              <a:spcBef>
                <a:spcPct val="0"/>
              </a:spcBef>
              <a:spcAft>
                <a:spcPct val="0"/>
              </a:spcAft>
            </a:pPr>
            <a:r>
              <a:rPr kumimoji="0" lang="fr-FR" altLang="fr-FR" sz="1400" b="0" i="0" u="none" strike="noStrike" cap="none" normalizeH="0" baseline="0" dirty="0">
                <a:ln>
                  <a:noFill/>
                </a:ln>
                <a:solidFill>
                  <a:schemeClr val="tx1"/>
                </a:solidFill>
                <a:effectLst/>
                <a:latin typeface="+mj-lt"/>
              </a:rPr>
              <a:t>🔴 </a:t>
            </a:r>
            <a:r>
              <a:rPr kumimoji="0" lang="fr-FR" altLang="fr-FR" sz="1400" b="1" i="0" u="none" strike="noStrike" cap="none" normalizeH="0" baseline="0" dirty="0">
                <a:ln>
                  <a:noFill/>
                </a:ln>
                <a:solidFill>
                  <a:schemeClr val="tx1"/>
                </a:solidFill>
                <a:effectLst/>
                <a:latin typeface="+mj-lt"/>
              </a:rPr>
              <a:t>Parité parmi les plus hautes rémunérations</a:t>
            </a:r>
            <a:endParaRPr kumimoji="0" lang="fr-FR" altLang="fr-FR" sz="1400" b="0" i="0" u="none" strike="noStrike" cap="none" normalizeH="0" baseline="0" dirty="0">
              <a:ln>
                <a:noFill/>
              </a:ln>
              <a:solidFill>
                <a:schemeClr val="tx1"/>
              </a:solidFill>
              <a:effectLst/>
              <a:latin typeface="+mj-lt"/>
            </a:endParaRPr>
          </a:p>
          <a:p>
            <a:pPr marL="901700" marR="0" lvl="0" indent="-1778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fr-FR" altLang="fr-FR" sz="1400" b="0" i="0" u="none" strike="noStrike" cap="none" normalizeH="0" baseline="0" dirty="0">
                <a:ln>
                  <a:noFill/>
                </a:ln>
                <a:solidFill>
                  <a:schemeClr val="tx1"/>
                </a:solidFill>
                <a:effectLst/>
                <a:latin typeface="+mj-lt"/>
              </a:rPr>
              <a:t>1 seule femme sur 10 → 0/10</a:t>
            </a:r>
            <a:endParaRPr lang="fr-FR" altLang="fr-FR" sz="1400" dirty="0">
              <a:latin typeface="+mj-lt"/>
            </a:endParaRPr>
          </a:p>
          <a:p>
            <a:pPr marL="901700" marR="0" lvl="0" indent="-1778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fr-FR" altLang="fr-FR" sz="1400" b="1" i="0" u="none" strike="noStrike" cap="none" normalizeH="0" baseline="0" dirty="0">
                <a:ln>
                  <a:noFill/>
                </a:ln>
                <a:solidFill>
                  <a:schemeClr val="tx1"/>
                </a:solidFill>
                <a:effectLst/>
                <a:latin typeface="+mj-lt"/>
              </a:rPr>
              <a:t>Recommandation :</a:t>
            </a:r>
            <a:r>
              <a:rPr kumimoji="0" lang="fr-FR" altLang="fr-FR" sz="1400" b="0" i="0" u="none" strike="noStrike" cap="none" normalizeH="0" baseline="0" dirty="0">
                <a:ln>
                  <a:noFill/>
                </a:ln>
                <a:solidFill>
                  <a:schemeClr val="tx1"/>
                </a:solidFill>
                <a:effectLst/>
                <a:latin typeface="+mj-lt"/>
              </a:rPr>
              <a:t> Fixer un objectif de représentation féminine dans les fonctions les mieux rémunérées (recrutement, mobilité interne, mentoring…)</a:t>
            </a:r>
          </a:p>
          <a:p>
            <a:pPr lvl="1" defTabSz="914400" eaLnBrk="0" fontAlgn="base" hangingPunct="0">
              <a:spcBef>
                <a:spcPct val="0"/>
              </a:spcBef>
              <a:spcAft>
                <a:spcPct val="0"/>
              </a:spcAft>
            </a:pPr>
            <a:endParaRPr kumimoji="0" lang="fr-FR" altLang="fr-FR" sz="1400" b="0" i="0" u="none" strike="noStrike" cap="none" normalizeH="0" baseline="0" dirty="0">
              <a:ln>
                <a:noFill/>
              </a:ln>
              <a:solidFill>
                <a:schemeClr val="tx1"/>
              </a:solidFill>
              <a:effectLst/>
              <a:latin typeface="+mj-lt"/>
            </a:endParaRPr>
          </a:p>
          <a:p>
            <a:pPr lvl="1" defTabSz="914400" eaLnBrk="0" fontAlgn="base" hangingPunct="0">
              <a:spcBef>
                <a:spcPct val="0"/>
              </a:spcBef>
              <a:spcAft>
                <a:spcPct val="0"/>
              </a:spcAft>
            </a:pPr>
            <a:r>
              <a:rPr kumimoji="0" lang="fr-FR" altLang="fr-FR" sz="1400" b="0" i="0" u="none" strike="noStrike" cap="none" normalizeH="0" baseline="0" dirty="0">
                <a:ln>
                  <a:noFill/>
                </a:ln>
                <a:solidFill>
                  <a:schemeClr val="tx1"/>
                </a:solidFill>
                <a:effectLst/>
                <a:latin typeface="+mj-lt"/>
              </a:rPr>
              <a:t>🟠 </a:t>
            </a:r>
            <a:r>
              <a:rPr kumimoji="0" lang="fr-FR" altLang="fr-FR" sz="1400" b="1" i="0" u="none" strike="noStrike" cap="none" normalizeH="0" baseline="0" dirty="0">
                <a:ln>
                  <a:noFill/>
                </a:ln>
                <a:solidFill>
                  <a:schemeClr val="tx1"/>
                </a:solidFill>
                <a:effectLst/>
                <a:latin typeface="+mj-lt"/>
              </a:rPr>
              <a:t>Écart de rémunération global (3,8 %)</a:t>
            </a:r>
            <a:endParaRPr kumimoji="0" lang="fr-FR" altLang="fr-FR" sz="1400" b="0" i="0" u="none" strike="noStrike" cap="none" normalizeH="0" baseline="0" dirty="0">
              <a:ln>
                <a:noFill/>
              </a:ln>
              <a:solidFill>
                <a:schemeClr val="tx1"/>
              </a:solidFill>
              <a:effectLst/>
              <a:latin typeface="+mj-lt"/>
            </a:endParaRPr>
          </a:p>
          <a:p>
            <a:pPr marL="901700" marR="0" lvl="0" indent="-1778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fr-FR" altLang="fr-FR" sz="1400" dirty="0">
                <a:latin typeface="+mj-lt"/>
              </a:rPr>
              <a:t>Bien</a:t>
            </a:r>
            <a:r>
              <a:rPr kumimoji="0" lang="fr-FR" altLang="fr-FR" sz="1400" b="0" i="0" u="none" strike="noStrike" cap="none" normalizeH="0" baseline="0" dirty="0">
                <a:ln>
                  <a:noFill/>
                </a:ln>
                <a:solidFill>
                  <a:schemeClr val="tx1"/>
                </a:solidFill>
                <a:effectLst/>
                <a:latin typeface="+mj-lt"/>
              </a:rPr>
              <a:t> en dessous du seuil critique (5 %), mais non nul</a:t>
            </a:r>
          </a:p>
          <a:p>
            <a:pPr marL="901700" marR="0" lvl="0" indent="-1778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fr-FR" altLang="fr-FR" sz="1400" b="1" i="0" u="none" strike="noStrike" cap="none" normalizeH="0" baseline="0" dirty="0">
                <a:ln>
                  <a:noFill/>
                </a:ln>
                <a:solidFill>
                  <a:schemeClr val="tx1"/>
                </a:solidFill>
                <a:effectLst/>
                <a:latin typeface="+mj-lt"/>
              </a:rPr>
              <a:t>Recommandation :</a:t>
            </a:r>
            <a:r>
              <a:rPr kumimoji="0" lang="fr-FR" altLang="fr-FR" sz="1400" b="0" i="0" u="none" strike="noStrike" cap="none" normalizeH="0" baseline="0" dirty="0">
                <a:ln>
                  <a:noFill/>
                </a:ln>
                <a:solidFill>
                  <a:schemeClr val="tx1"/>
                </a:solidFill>
                <a:effectLst/>
                <a:latin typeface="+mj-lt"/>
              </a:rPr>
              <a:t> Poursuivre l’analyse fine des écarts CSP/âge</a:t>
            </a:r>
          </a:p>
          <a:p>
            <a:pPr marL="901700" marR="0" lvl="0" indent="-1778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fr-FR" altLang="fr-FR" sz="1400" b="0" i="0" u="none" strike="noStrike" cap="none" normalizeH="0" baseline="0" dirty="0">
                <a:ln>
                  <a:noFill/>
                </a:ln>
                <a:solidFill>
                  <a:schemeClr val="tx1"/>
                </a:solidFill>
                <a:effectLst/>
                <a:latin typeface="+mj-lt"/>
              </a:rPr>
              <a:t>Intégrer la CSP réelle (dès qu’elle sera transmise par la DRH)</a:t>
            </a:r>
          </a:p>
        </p:txBody>
      </p:sp>
      <p:sp>
        <p:nvSpPr>
          <p:cNvPr id="9" name="ZoneTexte 8">
            <a:extLst>
              <a:ext uri="{FF2B5EF4-FFF2-40B4-BE49-F238E27FC236}">
                <a16:creationId xmlns:a16="http://schemas.microsoft.com/office/drawing/2014/main" id="{AD6C0C40-7AAF-EF67-C9B9-A57B0D8FF4D9}"/>
              </a:ext>
            </a:extLst>
          </p:cNvPr>
          <p:cNvSpPr txBox="1"/>
          <p:nvPr/>
        </p:nvSpPr>
        <p:spPr>
          <a:xfrm>
            <a:off x="527050" y="4962737"/>
            <a:ext cx="8089900" cy="1754326"/>
          </a:xfrm>
          <a:prstGeom prst="rect">
            <a:avLst/>
          </a:prstGeom>
          <a:noFill/>
        </p:spPr>
        <p:txBody>
          <a:bodyPr wrap="square">
            <a:spAutoFit/>
          </a:bodyPr>
          <a:lstStyle/>
          <a:p>
            <a:pPr>
              <a:buNone/>
            </a:pPr>
            <a:r>
              <a:rPr lang="fr-FR" b="1" dirty="0"/>
              <a:t>🔄 Perspectives pour la suite :</a:t>
            </a:r>
          </a:p>
          <a:p>
            <a:pPr marL="901700" lvl="1" indent="-444500">
              <a:tabLst>
                <a:tab pos="901700" algn="l"/>
              </a:tabLst>
            </a:pPr>
            <a:r>
              <a:rPr lang="fr-FR" dirty="0"/>
              <a:t>📅 	Intégration annuelle du </a:t>
            </a:r>
            <a:r>
              <a:rPr lang="fr-FR" i="1" dirty="0"/>
              <a:t>workflow</a:t>
            </a:r>
            <a:r>
              <a:rPr lang="fr-FR" dirty="0"/>
              <a:t> dans les campagnes RH</a:t>
            </a:r>
          </a:p>
          <a:p>
            <a:pPr marL="901700" lvl="1" indent="-444500">
              <a:tabLst>
                <a:tab pos="901700" algn="l"/>
              </a:tabLst>
            </a:pPr>
            <a:r>
              <a:rPr lang="fr-FR" dirty="0"/>
              <a:t>📊 	Création de </a:t>
            </a:r>
            <a:r>
              <a:rPr lang="fr-FR" i="1" dirty="0" err="1"/>
              <a:t>dashboards</a:t>
            </a:r>
            <a:r>
              <a:rPr lang="fr-FR" dirty="0"/>
              <a:t> Tableau à partir du .csv final</a:t>
            </a:r>
          </a:p>
          <a:p>
            <a:pPr marL="901700" lvl="1" indent="-444500">
              <a:tabLst>
                <a:tab pos="901700" algn="l"/>
              </a:tabLst>
            </a:pPr>
            <a:r>
              <a:rPr lang="fr-FR" dirty="0"/>
              <a:t>📝 	Révision de la CSP lorsque les données seront disponibles</a:t>
            </a:r>
          </a:p>
          <a:p>
            <a:pPr marL="901700" lvl="1" indent="-444500">
              <a:tabLst>
                <a:tab pos="901700" algn="l"/>
              </a:tabLst>
            </a:pPr>
            <a:r>
              <a:rPr lang="fr-FR" dirty="0"/>
              <a:t>🗣️ 	Communication transparente du score au ministère du travail et à l’ensemble des équipes</a:t>
            </a:r>
          </a:p>
        </p:txBody>
      </p:sp>
      <p:sp>
        <p:nvSpPr>
          <p:cNvPr id="10" name="Espace réservé du numéro de diapositive 9">
            <a:extLst>
              <a:ext uri="{FF2B5EF4-FFF2-40B4-BE49-F238E27FC236}">
                <a16:creationId xmlns:a16="http://schemas.microsoft.com/office/drawing/2014/main" id="{66618B5C-1CF7-5936-8EB6-25658A4C2EDF}"/>
              </a:ext>
            </a:extLst>
          </p:cNvPr>
          <p:cNvSpPr>
            <a:spLocks noGrp="1"/>
          </p:cNvSpPr>
          <p:nvPr>
            <p:ph type="sldNum" sz="quarter" idx="12"/>
          </p:nvPr>
        </p:nvSpPr>
        <p:spPr/>
        <p:txBody>
          <a:bodyPr/>
          <a:lstStyle/>
          <a:p>
            <a:fld id="{C1FF6DA9-008F-8B48-92A6-B652298478BF}" type="slidenum">
              <a:rPr lang="en-US" smtClean="0"/>
              <a:t>14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385</TotalTime>
  <Words>2600</Words>
  <Application>Microsoft Office PowerPoint</Application>
  <PresentationFormat>Affichage à l'écran (4:3)</PresentationFormat>
  <Paragraphs>281</Paragraphs>
  <Slides>14</Slides>
  <Notes>14</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14</vt:i4>
      </vt:variant>
    </vt:vector>
  </HeadingPairs>
  <TitlesOfParts>
    <vt:vector size="20" baseType="lpstr">
      <vt:lpstr>Arial</vt:lpstr>
      <vt:lpstr>Calibri</vt:lpstr>
      <vt:lpstr>Google Sans</vt:lpstr>
      <vt:lpstr>Marianne</vt:lpstr>
      <vt:lpstr>Wingdings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Laurent Maganto</cp:lastModifiedBy>
  <cp:revision>1</cp:revision>
  <dcterms:created xsi:type="dcterms:W3CDTF">2013-01-27T09:14:16Z</dcterms:created>
  <dcterms:modified xsi:type="dcterms:W3CDTF">2025-04-17T07:10:15Z</dcterms:modified>
  <cp:category/>
</cp:coreProperties>
</file>